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4"/>
  </p:sldMasterIdLst>
  <p:notesMasterIdLst>
    <p:notesMasterId r:id="rId50"/>
  </p:notesMasterIdLst>
  <p:sldIdLst>
    <p:sldId id="256" r:id="rId5"/>
    <p:sldId id="277" r:id="rId6"/>
    <p:sldId id="278" r:id="rId7"/>
    <p:sldId id="265" r:id="rId8"/>
    <p:sldId id="288" r:id="rId9"/>
    <p:sldId id="294" r:id="rId10"/>
    <p:sldId id="286" r:id="rId11"/>
    <p:sldId id="287" r:id="rId12"/>
    <p:sldId id="273" r:id="rId13"/>
    <p:sldId id="274" r:id="rId14"/>
    <p:sldId id="270" r:id="rId15"/>
    <p:sldId id="297" r:id="rId16"/>
    <p:sldId id="298" r:id="rId17"/>
    <p:sldId id="299" r:id="rId18"/>
    <p:sldId id="279" r:id="rId19"/>
    <p:sldId id="280" r:id="rId20"/>
    <p:sldId id="284" r:id="rId21"/>
    <p:sldId id="281" r:id="rId22"/>
    <p:sldId id="271" r:id="rId23"/>
    <p:sldId id="275" r:id="rId24"/>
    <p:sldId id="282" r:id="rId25"/>
    <p:sldId id="301" r:id="rId26"/>
    <p:sldId id="302" r:id="rId27"/>
    <p:sldId id="303" r:id="rId28"/>
    <p:sldId id="307" r:id="rId29"/>
    <p:sldId id="304" r:id="rId30"/>
    <p:sldId id="305" r:id="rId31"/>
    <p:sldId id="306" r:id="rId32"/>
    <p:sldId id="308" r:id="rId33"/>
    <p:sldId id="309" r:id="rId34"/>
    <p:sldId id="310" r:id="rId35"/>
    <p:sldId id="311" r:id="rId36"/>
    <p:sldId id="314" r:id="rId37"/>
    <p:sldId id="312" r:id="rId38"/>
    <p:sldId id="317" r:id="rId39"/>
    <p:sldId id="313" r:id="rId40"/>
    <p:sldId id="315" r:id="rId41"/>
    <p:sldId id="316" r:id="rId42"/>
    <p:sldId id="290" r:id="rId43"/>
    <p:sldId id="295" r:id="rId44"/>
    <p:sldId id="296" r:id="rId45"/>
    <p:sldId id="300" r:id="rId46"/>
    <p:sldId id="283" r:id="rId47"/>
    <p:sldId id="285" r:id="rId48"/>
    <p:sldId id="374" r:id="rId4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63" autoAdjust="0"/>
    <p:restoredTop sz="89748" autoAdjust="0"/>
  </p:normalViewPr>
  <p:slideViewPr>
    <p:cSldViewPr>
      <p:cViewPr varScale="1">
        <p:scale>
          <a:sx n="68" d="100"/>
          <a:sy n="68" d="100"/>
        </p:scale>
        <p:origin x="720" y="26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Zou" userId="260b9726081dae15" providerId="LiveId" clId="{9D297BCE-98D2-4025-9670-F2ABFDE5436C}"/>
    <pc:docChg chg="modSld">
      <pc:chgData name="Xin Zou" userId="260b9726081dae15" providerId="LiveId" clId="{9D297BCE-98D2-4025-9670-F2ABFDE5436C}" dt="2025-10-15T11:35:36.260" v="7" actId="20577"/>
      <pc:docMkLst>
        <pc:docMk/>
      </pc:docMkLst>
      <pc:sldChg chg="modSp mod">
        <pc:chgData name="Xin Zou" userId="260b9726081dae15" providerId="LiveId" clId="{9D297BCE-98D2-4025-9670-F2ABFDE5436C}" dt="2025-10-15T11:34:58.298" v="0" actId="20577"/>
        <pc:sldMkLst>
          <pc:docMk/>
          <pc:sldMk cId="0" sldId="282"/>
        </pc:sldMkLst>
        <pc:spChg chg="mod">
          <ac:chgData name="Xin Zou" userId="260b9726081dae15" providerId="LiveId" clId="{9D297BCE-98D2-4025-9670-F2ABFDE5436C}" dt="2025-10-15T11:34:58.298" v="0" actId="20577"/>
          <ac:spMkLst>
            <pc:docMk/>
            <pc:sldMk cId="0" sldId="282"/>
            <ac:spMk id="2" creationId="{00000000-0000-0000-0000-000000000000}"/>
          </ac:spMkLst>
        </pc:spChg>
      </pc:sldChg>
      <pc:sldChg chg="modSp mod">
        <pc:chgData name="Xin Zou" userId="260b9726081dae15" providerId="LiveId" clId="{9D297BCE-98D2-4025-9670-F2ABFDE5436C}" dt="2025-10-15T11:35:36.260" v="7" actId="20577"/>
        <pc:sldMkLst>
          <pc:docMk/>
          <pc:sldMk cId="852070667" sldId="312"/>
        </pc:sldMkLst>
        <pc:spChg chg="mod">
          <ac:chgData name="Xin Zou" userId="260b9726081dae15" providerId="LiveId" clId="{9D297BCE-98D2-4025-9670-F2ABFDE5436C}" dt="2025-10-15T11:35:36.260" v="7" actId="20577"/>
          <ac:spMkLst>
            <pc:docMk/>
            <pc:sldMk cId="852070667" sldId="312"/>
            <ac:spMk id="2" creationId="{3CAD3260-D3B2-467A-9605-1567B03BC767}"/>
          </ac:spMkLst>
        </pc:spChg>
      </pc:sldChg>
    </pc:docChg>
  </pc:docChgLst>
  <pc:docChgLst>
    <pc:chgData name="Xin Zou" userId="260b9726081dae15" providerId="LiveId" clId="{FE08A991-EB5C-498E-983D-97A2BE0F5BFB}"/>
    <pc:docChg chg="undo custSel addSld delSld modSld modMainMaster">
      <pc:chgData name="Xin Zou" userId="260b9726081dae15" providerId="LiveId" clId="{FE08A991-EB5C-498E-983D-97A2BE0F5BFB}" dt="2018-10-08T05:56:17.663" v="9126" actId="27636"/>
      <pc:docMkLst>
        <pc:docMk/>
      </pc:docMkLst>
      <pc:sldChg chg="modSp">
        <pc:chgData name="Xin Zou" userId="260b9726081dae15" providerId="LiveId" clId="{FE08A991-EB5C-498E-983D-97A2BE0F5BFB}" dt="2018-10-08T05:56:17.663" v="9126" actId="27636"/>
        <pc:sldMkLst>
          <pc:docMk/>
          <pc:sldMk cId="0" sldId="256"/>
        </pc:sldMkLst>
      </pc:sldChg>
      <pc:sldChg chg="modSp">
        <pc:chgData name="Xin Zou" userId="260b9726081dae15" providerId="LiveId" clId="{FE08A991-EB5C-498E-983D-97A2BE0F5BFB}" dt="2018-10-03T05:04:11.756" v="1999" actId="113"/>
        <pc:sldMkLst>
          <pc:docMk/>
          <pc:sldMk cId="0" sldId="265"/>
        </pc:sldMkLst>
      </pc:sldChg>
      <pc:sldChg chg="modSp modAnim">
        <pc:chgData name="Xin Zou" userId="260b9726081dae15" providerId="LiveId" clId="{FE08A991-EB5C-498E-983D-97A2BE0F5BFB}" dt="2018-10-03T05:20:17.647" v="4910"/>
        <pc:sldMkLst>
          <pc:docMk/>
          <pc:sldMk cId="0" sldId="270"/>
        </pc:sldMkLst>
      </pc:sldChg>
      <pc:sldChg chg="modSp">
        <pc:chgData name="Xin Zou" userId="260b9726081dae15" providerId="LiveId" clId="{FE08A991-EB5C-498E-983D-97A2BE0F5BFB}" dt="2018-10-04T00:10:21.628" v="7051"/>
        <pc:sldMkLst>
          <pc:docMk/>
          <pc:sldMk cId="0" sldId="271"/>
        </pc:sldMkLst>
      </pc:sldChg>
      <pc:sldChg chg="modSp modAnim">
        <pc:chgData name="Xin Zou" userId="260b9726081dae15" providerId="LiveId" clId="{FE08A991-EB5C-498E-983D-97A2BE0F5BFB}" dt="2018-10-04T00:10:21.628" v="7051"/>
        <pc:sldMkLst>
          <pc:docMk/>
          <pc:sldMk cId="0" sldId="273"/>
        </pc:sldMkLst>
      </pc:sldChg>
      <pc:sldChg chg="modSp">
        <pc:chgData name="Xin Zou" userId="260b9726081dae15" providerId="LiveId" clId="{FE08A991-EB5C-498E-983D-97A2BE0F5BFB}" dt="2018-10-03T05:12:08.246" v="3018" actId="14"/>
        <pc:sldMkLst>
          <pc:docMk/>
          <pc:sldMk cId="0" sldId="274"/>
        </pc:sldMkLst>
      </pc:sldChg>
      <pc:sldChg chg="modSp modAnim">
        <pc:chgData name="Xin Zou" userId="260b9726081dae15" providerId="LiveId" clId="{FE08A991-EB5C-498E-983D-97A2BE0F5BFB}" dt="2018-10-04T00:10:21.628" v="7051"/>
        <pc:sldMkLst>
          <pc:docMk/>
          <pc:sldMk cId="0" sldId="275"/>
        </pc:sldMkLst>
      </pc:sldChg>
      <pc:sldChg chg="modSp modAnim">
        <pc:chgData name="Xin Zou" userId="260b9726081dae15" providerId="LiveId" clId="{FE08A991-EB5C-498E-983D-97A2BE0F5BFB}" dt="2018-10-04T00:10:21.628" v="7051"/>
        <pc:sldMkLst>
          <pc:docMk/>
          <pc:sldMk cId="0" sldId="277"/>
        </pc:sldMkLst>
      </pc:sldChg>
      <pc:sldChg chg="modSp modAnim">
        <pc:chgData name="Xin Zou" userId="260b9726081dae15" providerId="LiveId" clId="{FE08A991-EB5C-498E-983D-97A2BE0F5BFB}" dt="2018-10-08T05:43:24.126" v="9113" actId="27636"/>
        <pc:sldMkLst>
          <pc:docMk/>
          <pc:sldMk cId="0" sldId="278"/>
        </pc:sldMkLst>
      </pc:sldChg>
      <pc:sldChg chg="modSp">
        <pc:chgData name="Xin Zou" userId="260b9726081dae15" providerId="LiveId" clId="{FE08A991-EB5C-498E-983D-97A2BE0F5BFB}" dt="2018-10-03T05:20:44.858" v="4966" actId="6549"/>
        <pc:sldMkLst>
          <pc:docMk/>
          <pc:sldMk cId="0" sldId="279"/>
        </pc:sldMkLst>
      </pc:sldChg>
      <pc:sldChg chg="modSp">
        <pc:chgData name="Xin Zou" userId="260b9726081dae15" providerId="LiveId" clId="{FE08A991-EB5C-498E-983D-97A2BE0F5BFB}" dt="2018-10-08T05:43:24.244" v="9114" actId="27636"/>
        <pc:sldMkLst>
          <pc:docMk/>
          <pc:sldMk cId="0" sldId="281"/>
        </pc:sldMkLst>
      </pc:sldChg>
      <pc:sldChg chg="modSp">
        <pc:chgData name="Xin Zou" userId="260b9726081dae15" providerId="LiveId" clId="{FE08A991-EB5C-498E-983D-97A2BE0F5BFB}" dt="2018-10-03T23:21:33.392" v="5617"/>
        <pc:sldMkLst>
          <pc:docMk/>
          <pc:sldMk cId="0" sldId="282"/>
        </pc:sldMkLst>
      </pc:sldChg>
      <pc:sldChg chg="modSp del">
        <pc:chgData name="Xin Zou" userId="260b9726081dae15" providerId="LiveId" clId="{FE08A991-EB5C-498E-983D-97A2BE0F5BFB}" dt="2018-10-08T05:43:24.496" v="9122" actId="27636"/>
        <pc:sldMkLst>
          <pc:docMk/>
          <pc:sldMk cId="3555601642" sldId="283"/>
        </pc:sldMkLst>
      </pc:sldChg>
      <pc:sldChg chg="modSp">
        <pc:chgData name="Xin Zou" userId="260b9726081dae15" providerId="LiveId" clId="{FE08A991-EB5C-498E-983D-97A2BE0F5BFB}" dt="2018-10-04T00:10:21.628" v="7051"/>
        <pc:sldMkLst>
          <pc:docMk/>
          <pc:sldMk cId="3264438971" sldId="286"/>
        </pc:sldMkLst>
      </pc:sldChg>
      <pc:sldChg chg="modSp">
        <pc:chgData name="Xin Zou" userId="260b9726081dae15" providerId="LiveId" clId="{FE08A991-EB5C-498E-983D-97A2BE0F5BFB}" dt="2018-10-04T00:10:21.628" v="7051"/>
        <pc:sldMkLst>
          <pc:docMk/>
          <pc:sldMk cId="601280872" sldId="287"/>
        </pc:sldMkLst>
      </pc:sldChg>
      <pc:sldChg chg="modSp">
        <pc:chgData name="Xin Zou" userId="260b9726081dae15" providerId="LiveId" clId="{FE08A991-EB5C-498E-983D-97A2BE0F5BFB}" dt="2018-10-03T05:04:06.331" v="1998" actId="113"/>
        <pc:sldMkLst>
          <pc:docMk/>
          <pc:sldMk cId="2010243271" sldId="288"/>
        </pc:sldMkLst>
      </pc:sldChg>
      <pc:sldChg chg="modSp add">
        <pc:chgData name="Xin Zou" userId="260b9726081dae15" providerId="LiveId" clId="{FE08A991-EB5C-498E-983D-97A2BE0F5BFB}" dt="2018-10-08T05:43:24.471" v="9121" actId="27636"/>
        <pc:sldMkLst>
          <pc:docMk/>
          <pc:sldMk cId="3413591577" sldId="290"/>
        </pc:sldMkLst>
      </pc:sldChg>
      <pc:sldChg chg="del">
        <pc:chgData name="Xin Zou" userId="260b9726081dae15" providerId="LiveId" clId="{FE08A991-EB5C-498E-983D-97A2BE0F5BFB}" dt="2018-10-08T05:43:05.055" v="9110" actId="2696"/>
        <pc:sldMkLst>
          <pc:docMk/>
          <pc:sldMk cId="3276572003" sldId="291"/>
        </pc:sldMkLst>
      </pc:sldChg>
      <pc:sldChg chg="modSp">
        <pc:chgData name="Xin Zou" userId="260b9726081dae15" providerId="LiveId" clId="{FE08A991-EB5C-498E-983D-97A2BE0F5BFB}" dt="2018-10-03T05:03:59.821" v="1997" actId="113"/>
        <pc:sldMkLst>
          <pc:docMk/>
          <pc:sldMk cId="45561062" sldId="294"/>
        </pc:sldMkLst>
      </pc:sldChg>
      <pc:sldChg chg="modSp add">
        <pc:chgData name="Xin Zou" userId="260b9726081dae15" providerId="LiveId" clId="{FE08A991-EB5C-498E-983D-97A2BE0F5BFB}" dt="2018-10-04T05:07:56.041" v="9040" actId="1036"/>
        <pc:sldMkLst>
          <pc:docMk/>
          <pc:sldMk cId="2788818676" sldId="295"/>
        </pc:sldMkLst>
      </pc:sldChg>
      <pc:sldChg chg="add">
        <pc:chgData name="Xin Zou" userId="260b9726081dae15" providerId="LiveId" clId="{FE08A991-EB5C-498E-983D-97A2BE0F5BFB}" dt="2018-10-04T05:06:48.406" v="9035"/>
        <pc:sldMkLst>
          <pc:docMk/>
          <pc:sldMk cId="2540468610" sldId="296"/>
        </pc:sldMkLst>
      </pc:sldChg>
      <pc:sldChg chg="modSp">
        <pc:chgData name="Xin Zou" userId="260b9726081dae15" providerId="LiveId" clId="{FE08A991-EB5C-498E-983D-97A2BE0F5BFB}" dt="2018-10-04T00:10:21.628" v="7051"/>
        <pc:sldMkLst>
          <pc:docMk/>
          <pc:sldMk cId="2230343479" sldId="297"/>
        </pc:sldMkLst>
      </pc:sldChg>
      <pc:sldChg chg="modSp">
        <pc:chgData name="Xin Zou" userId="260b9726081dae15" providerId="LiveId" clId="{FE08A991-EB5C-498E-983D-97A2BE0F5BFB}" dt="2018-10-04T00:10:21.628" v="7051"/>
        <pc:sldMkLst>
          <pc:docMk/>
          <pc:sldMk cId="1640774756" sldId="298"/>
        </pc:sldMkLst>
      </pc:sldChg>
      <pc:sldChg chg="modSp">
        <pc:chgData name="Xin Zou" userId="260b9726081dae15" providerId="LiveId" clId="{FE08A991-EB5C-498E-983D-97A2BE0F5BFB}" dt="2018-10-03T06:33:33.729" v="5388" actId="113"/>
        <pc:sldMkLst>
          <pc:docMk/>
          <pc:sldMk cId="303877150" sldId="299"/>
        </pc:sldMkLst>
      </pc:sldChg>
      <pc:sldChg chg="add">
        <pc:chgData name="Xin Zou" userId="260b9726081dae15" providerId="LiveId" clId="{FE08A991-EB5C-498E-983D-97A2BE0F5BFB}" dt="2018-10-04T05:06:48.406" v="9035"/>
        <pc:sldMkLst>
          <pc:docMk/>
          <pc:sldMk cId="4135875331" sldId="300"/>
        </pc:sldMkLst>
      </pc:sldChg>
      <pc:sldChg chg="addSp delSp modSp add">
        <pc:chgData name="Xin Zou" userId="260b9726081dae15" providerId="LiveId" clId="{FE08A991-EB5C-498E-983D-97A2BE0F5BFB}" dt="2018-10-04T00:10:21.628" v="7051"/>
        <pc:sldMkLst>
          <pc:docMk/>
          <pc:sldMk cId="961310438" sldId="301"/>
        </pc:sldMkLst>
      </pc:sldChg>
      <pc:sldChg chg="modSp add">
        <pc:chgData name="Xin Zou" userId="260b9726081dae15" providerId="LiveId" clId="{FE08A991-EB5C-498E-983D-97A2BE0F5BFB}" dt="2018-10-04T00:10:22.450" v="7055" actId="27636"/>
        <pc:sldMkLst>
          <pc:docMk/>
          <pc:sldMk cId="3142170630" sldId="302"/>
        </pc:sldMkLst>
      </pc:sldChg>
      <pc:sldChg chg="modSp add">
        <pc:chgData name="Xin Zou" userId="260b9726081dae15" providerId="LiveId" clId="{FE08A991-EB5C-498E-983D-97A2BE0F5BFB}" dt="2018-10-04T00:10:22.519" v="7057" actId="27636"/>
        <pc:sldMkLst>
          <pc:docMk/>
          <pc:sldMk cId="37366169" sldId="303"/>
        </pc:sldMkLst>
      </pc:sldChg>
      <pc:sldChg chg="modSp add">
        <pc:chgData name="Xin Zou" userId="260b9726081dae15" providerId="LiveId" clId="{FE08A991-EB5C-498E-983D-97A2BE0F5BFB}" dt="2018-10-04T00:10:22.633" v="7058" actId="27636"/>
        <pc:sldMkLst>
          <pc:docMk/>
          <pc:sldMk cId="1469810937" sldId="304"/>
        </pc:sldMkLst>
      </pc:sldChg>
      <pc:sldChg chg="addSp modSp add">
        <pc:chgData name="Xin Zou" userId="260b9726081dae15" providerId="LiveId" clId="{FE08A991-EB5C-498E-983D-97A2BE0F5BFB}" dt="2018-10-08T05:43:24.312" v="9115" actId="27636"/>
        <pc:sldMkLst>
          <pc:docMk/>
          <pc:sldMk cId="3059523748" sldId="305"/>
        </pc:sldMkLst>
      </pc:sldChg>
      <pc:sldChg chg="addSp modSp add">
        <pc:chgData name="Xin Zou" userId="260b9726081dae15" providerId="LiveId" clId="{FE08A991-EB5C-498E-983D-97A2BE0F5BFB}" dt="2018-10-08T05:43:24.352" v="9116" actId="27636"/>
        <pc:sldMkLst>
          <pc:docMk/>
          <pc:sldMk cId="1735068261" sldId="306"/>
        </pc:sldMkLst>
      </pc:sldChg>
      <pc:sldChg chg="modSp add">
        <pc:chgData name="Xin Zou" userId="260b9726081dae15" providerId="LiveId" clId="{FE08A991-EB5C-498E-983D-97A2BE0F5BFB}" dt="2018-10-03T23:37:59.534" v="6436" actId="20577"/>
        <pc:sldMkLst>
          <pc:docMk/>
          <pc:sldMk cId="224053405" sldId="307"/>
        </pc:sldMkLst>
      </pc:sldChg>
      <pc:sldChg chg="modSp add modAnim">
        <pc:chgData name="Xin Zou" userId="260b9726081dae15" providerId="LiveId" clId="{FE08A991-EB5C-498E-983D-97A2BE0F5BFB}" dt="2018-10-08T05:43:24.381" v="9117" actId="27636"/>
        <pc:sldMkLst>
          <pc:docMk/>
          <pc:sldMk cId="1647869658" sldId="308"/>
        </pc:sldMkLst>
      </pc:sldChg>
      <pc:sldChg chg="addSp modSp add">
        <pc:chgData name="Xin Zou" userId="260b9726081dae15" providerId="LiveId" clId="{FE08A991-EB5C-498E-983D-97A2BE0F5BFB}" dt="2018-10-08T05:43:57.607" v="9125" actId="1076"/>
        <pc:sldMkLst>
          <pc:docMk/>
          <pc:sldMk cId="3479106841" sldId="309"/>
        </pc:sldMkLst>
      </pc:sldChg>
      <pc:sldChg chg="addSp modSp add">
        <pc:chgData name="Xin Zou" userId="260b9726081dae15" providerId="LiveId" clId="{FE08A991-EB5C-498E-983D-97A2BE0F5BFB}" dt="2018-10-04T00:19:43.506" v="7248" actId="6549"/>
        <pc:sldMkLst>
          <pc:docMk/>
          <pc:sldMk cId="2111016971" sldId="310"/>
        </pc:sldMkLst>
      </pc:sldChg>
      <pc:sldChg chg="modSp add">
        <pc:chgData name="Xin Zou" userId="260b9726081dae15" providerId="LiveId" clId="{FE08A991-EB5C-498E-983D-97A2BE0F5BFB}" dt="2018-10-08T05:43:24.430" v="9119" actId="27636"/>
        <pc:sldMkLst>
          <pc:docMk/>
          <pc:sldMk cId="2300063515" sldId="311"/>
        </pc:sldMkLst>
      </pc:sldChg>
      <pc:sldChg chg="addSp delSp modSp add modAnim">
        <pc:chgData name="Xin Zou" userId="260b9726081dae15" providerId="LiveId" clId="{FE08A991-EB5C-498E-983D-97A2BE0F5BFB}" dt="2018-10-04T04:45:45.322" v="8301"/>
        <pc:sldMkLst>
          <pc:docMk/>
          <pc:sldMk cId="852070667" sldId="312"/>
        </pc:sldMkLst>
      </pc:sldChg>
      <pc:sldChg chg="addSp modSp add">
        <pc:chgData name="Xin Zou" userId="260b9726081dae15" providerId="LiveId" clId="{FE08A991-EB5C-498E-983D-97A2BE0F5BFB}" dt="2018-10-08T05:43:24.447" v="9120" actId="27636"/>
        <pc:sldMkLst>
          <pc:docMk/>
          <pc:sldMk cId="4114594668" sldId="313"/>
        </pc:sldMkLst>
      </pc:sldChg>
      <pc:sldChg chg="addSp delSp modSp add">
        <pc:chgData name="Xin Zou" userId="260b9726081dae15" providerId="LiveId" clId="{FE08A991-EB5C-498E-983D-97A2BE0F5BFB}" dt="2018-10-04T04:56:03.728" v="8437"/>
        <pc:sldMkLst>
          <pc:docMk/>
          <pc:sldMk cId="2324583193" sldId="314"/>
        </pc:sldMkLst>
      </pc:sldChg>
      <pc:sldChg chg="addSp modSp add">
        <pc:chgData name="Xin Zou" userId="260b9726081dae15" providerId="LiveId" clId="{FE08A991-EB5C-498E-983D-97A2BE0F5BFB}" dt="2018-10-04T05:04:28.129" v="8915" actId="1076"/>
        <pc:sldMkLst>
          <pc:docMk/>
          <pc:sldMk cId="4083450557" sldId="315"/>
        </pc:sldMkLst>
      </pc:sldChg>
      <pc:sldChg chg="modSp add">
        <pc:chgData name="Xin Zou" userId="260b9726081dae15" providerId="LiveId" clId="{FE08A991-EB5C-498E-983D-97A2BE0F5BFB}" dt="2018-10-04T05:05:49.282" v="9029" actId="15"/>
        <pc:sldMkLst>
          <pc:docMk/>
          <pc:sldMk cId="2827362311" sldId="316"/>
        </pc:sldMkLst>
      </pc:sldChg>
      <pc:sldChg chg="addSp delSp modSp add">
        <pc:chgData name="Xin Zou" userId="260b9726081dae15" providerId="LiveId" clId="{FE08A991-EB5C-498E-983D-97A2BE0F5BFB}" dt="2018-10-04T05:09:40.372" v="9109" actId="1035"/>
        <pc:sldMkLst>
          <pc:docMk/>
          <pc:sldMk cId="1015395711" sldId="317"/>
        </pc:sldMkLst>
      </pc:sldChg>
      <pc:sldChg chg="add">
        <pc:chgData name="Xin Zou" userId="260b9726081dae15" providerId="LiveId" clId="{FE08A991-EB5C-498E-983D-97A2BE0F5BFB}" dt="2018-10-08T05:43:19.592" v="9111"/>
        <pc:sldMkLst>
          <pc:docMk/>
          <pc:sldMk cId="161325156" sldId="374"/>
        </pc:sldMkLst>
      </pc:sldChg>
    </pc:docChg>
  </pc:docChgLst>
  <pc:docChgLst>
    <pc:chgData name="Xin Zou" userId="260b9726081dae15" providerId="LiveId" clId="{B2671A2C-B444-47B6-830B-E020D46D4C77}"/>
    <pc:docChg chg="custSel modSld">
      <pc:chgData name="Xin Zou" userId="260b9726081dae15" providerId="LiveId" clId="{B2671A2C-B444-47B6-830B-E020D46D4C77}" dt="2019-09-04T03:53:25.103" v="18" actId="13926"/>
      <pc:docMkLst>
        <pc:docMk/>
      </pc:docMkLst>
      <pc:sldChg chg="modSp">
        <pc:chgData name="Xin Zou" userId="260b9726081dae15" providerId="LiveId" clId="{B2671A2C-B444-47B6-830B-E020D46D4C77}" dt="2019-09-04T03:50:57.702" v="1" actId="27636"/>
        <pc:sldMkLst>
          <pc:docMk/>
          <pc:sldMk cId="0" sldId="284"/>
        </pc:sldMkLst>
      </pc:sldChg>
      <pc:sldChg chg="modSp">
        <pc:chgData name="Xin Zou" userId="260b9726081dae15" providerId="LiveId" clId="{B2671A2C-B444-47B6-830B-E020D46D4C77}" dt="2019-09-04T03:51:24.661" v="3" actId="27636"/>
        <pc:sldMkLst>
          <pc:docMk/>
          <pc:sldMk cId="1469810937" sldId="304"/>
        </pc:sldMkLst>
      </pc:sldChg>
      <pc:sldChg chg="modSp">
        <pc:chgData name="Xin Zou" userId="260b9726081dae15" providerId="LiveId" clId="{B2671A2C-B444-47B6-830B-E020D46D4C77}" dt="2019-09-04T03:51:56.988" v="5" actId="14100"/>
        <pc:sldMkLst>
          <pc:docMk/>
          <pc:sldMk cId="3059523748" sldId="305"/>
        </pc:sldMkLst>
      </pc:sldChg>
      <pc:sldChg chg="modSp">
        <pc:chgData name="Xin Zou" userId="260b9726081dae15" providerId="LiveId" clId="{B2671A2C-B444-47B6-830B-E020D46D4C77}" dt="2019-09-04T03:52:05.887" v="6" actId="1076"/>
        <pc:sldMkLst>
          <pc:docMk/>
          <pc:sldMk cId="1735068261" sldId="306"/>
        </pc:sldMkLst>
      </pc:sldChg>
      <pc:sldChg chg="modSp">
        <pc:chgData name="Xin Zou" userId="260b9726081dae15" providerId="LiveId" clId="{B2671A2C-B444-47B6-830B-E020D46D4C77}" dt="2019-09-04T03:53:25.103" v="18" actId="13926"/>
        <pc:sldMkLst>
          <pc:docMk/>
          <pc:sldMk cId="1647869658"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1B442-110D-40F1-A0D3-D0D26DD945CA}" type="datetimeFigureOut">
              <a:rPr lang="en-US" smtClean="0"/>
              <a:pPr/>
              <a:t>10/15/2025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FBE8F3-E457-4E14-8249-6B01859045C3}" type="slidenum">
              <a:rPr lang="en-US" smtClean="0"/>
              <a:pPr/>
              <a:t>‹#›</a:t>
            </a:fld>
            <a:endParaRPr lang="en-US"/>
          </a:p>
        </p:txBody>
      </p:sp>
    </p:spTree>
    <p:extLst>
      <p:ext uri="{BB962C8B-B14F-4D97-AF65-F5344CB8AC3E}">
        <p14:creationId xmlns:p14="http://schemas.microsoft.com/office/powerpoint/2010/main" val="645970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200" dirty="0"/>
              <a:t>it</a:t>
            </a:r>
            <a:r>
              <a:rPr lang="en-US" sz="1200" dirty="0"/>
              <a:t> encompasses techniques and procedures, often regulated by a </a:t>
            </a:r>
            <a:r>
              <a:rPr lang="en-US" sz="1200" b="1" dirty="0"/>
              <a:t>software development process</a:t>
            </a:r>
            <a:r>
              <a:rPr lang="en-US" sz="1200" dirty="0"/>
              <a:t>, with the purpose of improving the effectiveness, reliability, and maintainability of software systems.</a:t>
            </a:r>
            <a:endParaRPr lang="en-US" dirty="0"/>
          </a:p>
        </p:txBody>
      </p:sp>
      <p:sp>
        <p:nvSpPr>
          <p:cNvPr id="4" name="Slide Number Placeholder 3"/>
          <p:cNvSpPr>
            <a:spLocks noGrp="1"/>
          </p:cNvSpPr>
          <p:nvPr>
            <p:ph type="sldNum" sz="quarter" idx="5"/>
          </p:nvPr>
        </p:nvSpPr>
        <p:spPr/>
        <p:txBody>
          <a:bodyPr/>
          <a:lstStyle/>
          <a:p>
            <a:fld id="{5DFBE8F3-E457-4E14-8249-6B01859045C3}" type="slidenum">
              <a:rPr lang="en-US" smtClean="0"/>
              <a:pPr/>
              <a:t>2</a:t>
            </a:fld>
            <a:endParaRPr lang="en-US"/>
          </a:p>
        </p:txBody>
      </p:sp>
    </p:spTree>
    <p:extLst>
      <p:ext uri="{BB962C8B-B14F-4D97-AF65-F5344CB8AC3E}">
        <p14:creationId xmlns:p14="http://schemas.microsoft.com/office/powerpoint/2010/main" val="338289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Without personal skills,  team work is impossible,</a:t>
            </a:r>
            <a:r>
              <a:rPr lang="en-US" altLang="zh-CN" baseline="0" dirty="0"/>
              <a:t> even when we have healthy, upright, PhD degree team members.   </a:t>
            </a:r>
            <a:r>
              <a:rPr lang="en-US" altLang="zh-CN" dirty="0"/>
              <a:t>This</a:t>
            </a:r>
            <a:r>
              <a:rPr lang="en-US" altLang="zh-CN" baseline="0" dirty="0"/>
              <a:t> is why we want everyone to focus on individual skills,  the right set of skills,  which are the foundation of our team work. </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3</a:t>
            </a:fld>
            <a:endParaRPr lang="en-US"/>
          </a:p>
        </p:txBody>
      </p:sp>
    </p:spTree>
    <p:extLst>
      <p:ext uri="{BB962C8B-B14F-4D97-AF65-F5344CB8AC3E}">
        <p14:creationId xmlns:p14="http://schemas.microsoft.com/office/powerpoint/2010/main" val="165569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dirty="0"/>
              <a:t>Work is carried out by each individual</a:t>
            </a:r>
          </a:p>
          <a:p>
            <a:pPr eaLnBrk="1" hangingPunct="1"/>
            <a:r>
              <a:rPr lang="en-US" dirty="0"/>
              <a:t>Skills as an “Individual Contributor” is important</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4</a:t>
            </a:fld>
            <a:endParaRPr lang="en-US"/>
          </a:p>
        </p:txBody>
      </p:sp>
    </p:spTree>
    <p:extLst>
      <p:ext uri="{BB962C8B-B14F-4D97-AF65-F5344CB8AC3E}">
        <p14:creationId xmlns:p14="http://schemas.microsoft.com/office/powerpoint/2010/main" val="2634694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dirty="0"/>
              <a:t>The key data collected in the PSP tool are time, defect, and size data – the time spent in each phase; when and where defects were injected, found, and fixed; and the size of the product parts. Software developers use many other measures that are derived from these three basic measures to understand and improve their performance. Derived measures include:</a:t>
            </a:r>
          </a:p>
          <a:p>
            <a:r>
              <a:rPr lang="en-US" dirty="0"/>
              <a:t>estimation accuracy (size/time)</a:t>
            </a:r>
          </a:p>
          <a:p>
            <a:r>
              <a:rPr lang="en-US" dirty="0"/>
              <a:t>prediction intervals (size/time)</a:t>
            </a:r>
          </a:p>
          <a:p>
            <a:r>
              <a:rPr lang="en-US" dirty="0"/>
              <a:t>time in phase distribution</a:t>
            </a:r>
          </a:p>
          <a:p>
            <a:r>
              <a:rPr lang="en-US" dirty="0"/>
              <a:t>defect injection distribution</a:t>
            </a:r>
          </a:p>
          <a:p>
            <a:r>
              <a:rPr lang="en-US" dirty="0"/>
              <a:t>defect removal distribution</a:t>
            </a:r>
          </a:p>
          <a:p>
            <a:r>
              <a:rPr lang="en-US" dirty="0"/>
              <a:t>productivity</a:t>
            </a:r>
          </a:p>
          <a:p>
            <a:r>
              <a:rPr lang="en-US" dirty="0"/>
              <a:t>reuse percentage</a:t>
            </a:r>
          </a:p>
          <a:p>
            <a:r>
              <a:rPr lang="en-US" dirty="0"/>
              <a:t>cost performance index</a:t>
            </a:r>
          </a:p>
          <a:p>
            <a:r>
              <a:rPr lang="en-US" dirty="0"/>
              <a:t>planned value</a:t>
            </a:r>
          </a:p>
          <a:p>
            <a:r>
              <a:rPr lang="en-US" dirty="0"/>
              <a:t>earned value</a:t>
            </a:r>
          </a:p>
          <a:p>
            <a:r>
              <a:rPr lang="en-US" dirty="0"/>
              <a:t>predicted earned value</a:t>
            </a:r>
          </a:p>
          <a:p>
            <a:r>
              <a:rPr lang="en-US" dirty="0"/>
              <a:t>defect density</a:t>
            </a:r>
          </a:p>
          <a:p>
            <a:r>
              <a:rPr lang="en-US" dirty="0"/>
              <a:t>defect density by phase</a:t>
            </a:r>
          </a:p>
          <a:p>
            <a:r>
              <a:rPr lang="en-US" dirty="0"/>
              <a:t>defect removal rate by phase</a:t>
            </a:r>
          </a:p>
          <a:p>
            <a:r>
              <a:rPr lang="en-US" dirty="0"/>
              <a:t>defect removal leverage</a:t>
            </a:r>
          </a:p>
          <a:p>
            <a:r>
              <a:rPr lang="en-US" dirty="0"/>
              <a:t>review rates</a:t>
            </a:r>
          </a:p>
          <a:p>
            <a:r>
              <a:rPr lang="en-US" dirty="0"/>
              <a:t>process yield</a:t>
            </a:r>
          </a:p>
          <a:p>
            <a:r>
              <a:rPr lang="en-US" dirty="0"/>
              <a:t>phase yield</a:t>
            </a:r>
          </a:p>
          <a:p>
            <a:r>
              <a:rPr lang="en-US" dirty="0"/>
              <a:t>failure cost of quality (COQ)</a:t>
            </a:r>
          </a:p>
          <a:p>
            <a:r>
              <a:rPr lang="en-US" dirty="0"/>
              <a:t>appraisal COQ</a:t>
            </a:r>
          </a:p>
          <a:p>
            <a:r>
              <a:rPr lang="en-US" dirty="0"/>
              <a:t>appraisal/failure COQ ratio</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10</a:t>
            </a:fld>
            <a:endParaRPr lang="en-US"/>
          </a:p>
        </p:txBody>
      </p:sp>
    </p:spTree>
    <p:extLst>
      <p:ext uri="{BB962C8B-B14F-4D97-AF65-F5344CB8AC3E}">
        <p14:creationId xmlns:p14="http://schemas.microsoft.com/office/powerpoint/2010/main" val="1597704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11</a:t>
            </a:fld>
            <a:endParaRPr lang="en-US"/>
          </a:p>
        </p:txBody>
      </p:sp>
    </p:spTree>
    <p:extLst>
      <p:ext uri="{BB962C8B-B14F-4D97-AF65-F5344CB8AC3E}">
        <p14:creationId xmlns:p14="http://schemas.microsoft.com/office/powerpoint/2010/main" val="2954737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15</a:t>
            </a:fld>
            <a:endParaRPr lang="en-US"/>
          </a:p>
        </p:txBody>
      </p:sp>
    </p:spTree>
    <p:extLst>
      <p:ext uri="{BB962C8B-B14F-4D97-AF65-F5344CB8AC3E}">
        <p14:creationId xmlns:p14="http://schemas.microsoft.com/office/powerpoint/2010/main" val="305332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16</a:t>
            </a:fld>
            <a:endParaRPr lang="en-US"/>
          </a:p>
        </p:txBody>
      </p:sp>
    </p:spTree>
    <p:extLst>
      <p:ext uri="{BB962C8B-B14F-4D97-AF65-F5344CB8AC3E}">
        <p14:creationId xmlns:p14="http://schemas.microsoft.com/office/powerpoint/2010/main" val="1007651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3:</a:t>
            </a:r>
            <a:r>
              <a:rPr lang="en-US" altLang="zh-CN" baseline="0" dirty="0"/>
              <a:t>  </a:t>
            </a:r>
            <a:r>
              <a:rPr lang="zh-CN" altLang="en-US" dirty="0"/>
              <a:t>江， 人，</a:t>
            </a:r>
            <a:endParaRPr lang="en-US" altLang="zh-CN" dirty="0"/>
          </a:p>
          <a:p>
            <a:r>
              <a:rPr lang="en-US" altLang="zh-CN" dirty="0"/>
              <a:t>2:  </a:t>
            </a:r>
            <a:r>
              <a:rPr lang="zh-CN" altLang="en-US" dirty="0"/>
              <a:t>国，生， 千，故，如</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17</a:t>
            </a:fld>
            <a:endParaRPr lang="en-US"/>
          </a:p>
        </p:txBody>
      </p:sp>
    </p:spTree>
    <p:extLst>
      <p:ext uri="{BB962C8B-B14F-4D97-AF65-F5344CB8AC3E}">
        <p14:creationId xmlns:p14="http://schemas.microsoft.com/office/powerpoint/2010/main" val="71157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Standard deviation</a:t>
            </a:r>
            <a:r>
              <a:rPr lang="en-US" baseline="0" dirty="0"/>
              <a:t> is key to the quality of service, and key to build trust.   </a:t>
            </a:r>
            <a:r>
              <a:rPr lang="en-US" altLang="zh-CN" baseline="0" dirty="0"/>
              <a:t>&lt;Jack Welch&gt;</a:t>
            </a:r>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pPr/>
              <a:t>20</a:t>
            </a:fld>
            <a:endParaRPr lang="en-US"/>
          </a:p>
        </p:txBody>
      </p:sp>
    </p:spTree>
    <p:extLst>
      <p:ext uri="{BB962C8B-B14F-4D97-AF65-F5344CB8AC3E}">
        <p14:creationId xmlns:p14="http://schemas.microsoft.com/office/powerpoint/2010/main" val="951088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3222" indent="-514350">
              <a:lnSpc>
                <a:spcPct val="120000"/>
              </a:lnSpc>
              <a:buAutoNum type="arabicPeriod"/>
            </a:pPr>
            <a:r>
              <a:rPr lang="zh-CN" altLang="en-US" dirty="0"/>
              <a:t>临时的寄托或工作 </a:t>
            </a:r>
            <a:r>
              <a:rPr lang="en-US" altLang="zh-CN" dirty="0"/>
              <a:t>( Temporary Work) </a:t>
            </a:r>
            <a:r>
              <a:rPr lang="zh-CN" altLang="en-US" dirty="0"/>
              <a:t>在大学里你会看到很多人选</a:t>
            </a:r>
            <a:r>
              <a:rPr lang="en-US" altLang="zh-CN" dirty="0"/>
              <a:t>IT</a:t>
            </a:r>
            <a:r>
              <a:rPr lang="zh-CN" altLang="en-US" dirty="0"/>
              <a:t>专业的原因和“热爱”没有什么关系，有些人是因为专 业调剂来到这里，有些人是因为要拿一个文凭作为敲门砖（例如，跨专业考上软件专 业的研究生，然后计划以硕士的资格去考公务员），有些人是临时找到这样一份工作， 并不打算做长久。 他们处于低动力、 低技能的状态。 </a:t>
            </a:r>
            <a:endParaRPr lang="en-US" altLang="zh-CN" dirty="0"/>
          </a:p>
          <a:p>
            <a:pPr marL="633222" indent="-514350">
              <a:lnSpc>
                <a:spcPct val="120000"/>
              </a:lnSpc>
              <a:buAutoNum type="arabicPeriod"/>
            </a:pPr>
            <a:r>
              <a:rPr lang="en-US" altLang="zh-CN" dirty="0"/>
              <a:t>2. </a:t>
            </a:r>
            <a:r>
              <a:rPr lang="zh-CN" altLang="en-US" dirty="0"/>
              <a:t>工作 （</a:t>
            </a:r>
            <a:r>
              <a:rPr lang="en-US" altLang="zh-CN" dirty="0"/>
              <a:t>Job</a:t>
            </a:r>
            <a:r>
              <a:rPr lang="zh-CN" altLang="en-US" dirty="0"/>
              <a:t>） 这就是一个能挣钱养家的营生，如果别的营生更赚钱，那就会跳到别的地方去。一些 人留在这个职业里，只不过是因为他不会做别的。这些人会经常问“软件开发做到</a:t>
            </a:r>
            <a:r>
              <a:rPr lang="en-US" altLang="zh-CN" dirty="0"/>
              <a:t>35</a:t>
            </a:r>
            <a:r>
              <a:rPr lang="zh-CN" altLang="en-US" dirty="0"/>
              <a:t>岁以后怎么办”这样的问题。当然，如果了解和体会了软件开发的投入和回报的关系， 这些人的心态会进步到下一个阶段。 </a:t>
            </a:r>
            <a:endParaRPr lang="en-US" altLang="zh-CN" dirty="0"/>
          </a:p>
          <a:p>
            <a:pPr marL="633222" indent="-514350">
              <a:lnSpc>
                <a:spcPct val="120000"/>
              </a:lnSpc>
              <a:buAutoNum type="arabicPeriod"/>
            </a:pPr>
            <a:r>
              <a:rPr lang="en-US" altLang="zh-CN" dirty="0"/>
              <a:t>3. </a:t>
            </a:r>
            <a:r>
              <a:rPr lang="zh-CN" altLang="en-US" dirty="0"/>
              <a:t>职业 （</a:t>
            </a:r>
            <a:r>
              <a:rPr lang="en-US" altLang="zh-CN" dirty="0"/>
              <a:t>Profession</a:t>
            </a:r>
            <a:r>
              <a:rPr lang="zh-CN" altLang="en-US" dirty="0"/>
              <a:t>） 在工作的基础上，如果有足够的职业道德和职业规划，那么工作就是一个“职业”。只 有在这个层次上可以开始谈有意义的“职业发展”。职业人士对“</a:t>
            </a:r>
            <a:r>
              <a:rPr lang="en-US" altLang="zh-CN" dirty="0"/>
              <a:t>30</a:t>
            </a:r>
            <a:r>
              <a:rPr lang="zh-CN" altLang="en-US" dirty="0"/>
              <a:t>岁以后”、“</a:t>
            </a:r>
            <a:r>
              <a:rPr lang="en-US" altLang="zh-CN" dirty="0"/>
              <a:t>35</a:t>
            </a:r>
            <a:r>
              <a:rPr lang="zh-CN" altLang="en-US" dirty="0"/>
              <a:t>岁 以后”都有一定的打算。 </a:t>
            </a:r>
            <a:endParaRPr lang="en-US" altLang="zh-CN" dirty="0"/>
          </a:p>
          <a:p>
            <a:pPr marL="633222" indent="-514350">
              <a:lnSpc>
                <a:spcPct val="120000"/>
              </a:lnSpc>
              <a:buAutoNum type="arabicPeriod"/>
            </a:pPr>
            <a:r>
              <a:rPr lang="en-US" altLang="zh-CN" dirty="0"/>
              <a:t>4. </a:t>
            </a:r>
            <a:r>
              <a:rPr lang="zh-CN" altLang="en-US" dirty="0"/>
              <a:t>投身的事业 （</a:t>
            </a:r>
            <a:r>
              <a:rPr lang="en-US" altLang="zh-CN" dirty="0"/>
              <a:t>Commitment / vocation</a:t>
            </a:r>
            <a:r>
              <a:rPr lang="zh-CN" altLang="en-US" dirty="0"/>
              <a:t>） 把软件项目相关的目标作为长期的承诺，碰到困难也不退缩，一直坚持到完成任务。 </a:t>
            </a:r>
            <a:endParaRPr lang="en-US" altLang="zh-CN" dirty="0"/>
          </a:p>
          <a:p>
            <a:pPr marL="633222" indent="-514350">
              <a:lnSpc>
                <a:spcPct val="120000"/>
              </a:lnSpc>
              <a:buAutoNum type="arabicPeriod"/>
            </a:pPr>
            <a:r>
              <a:rPr lang="en-US" altLang="zh-CN" dirty="0"/>
              <a:t>5. </a:t>
            </a:r>
            <a:r>
              <a:rPr lang="zh-CN" altLang="en-US" dirty="0"/>
              <a:t>理想的呼唤（</a:t>
            </a:r>
            <a:r>
              <a:rPr lang="en-US" altLang="zh-CN" dirty="0"/>
              <a:t>Calling</a:t>
            </a:r>
            <a:r>
              <a:rPr lang="zh-CN" altLang="en-US" dirty="0"/>
              <a:t>） 一些人觉得这是理想的呼唤，通过软件可以改变世界，他们主动寻找机会，实现自己 的理想。</a:t>
            </a:r>
          </a:p>
          <a:p>
            <a:endParaRPr lang="en-US" dirty="0"/>
          </a:p>
        </p:txBody>
      </p:sp>
      <p:sp>
        <p:nvSpPr>
          <p:cNvPr id="4" name="Slide Number Placeholder 3"/>
          <p:cNvSpPr>
            <a:spLocks noGrp="1"/>
          </p:cNvSpPr>
          <p:nvPr>
            <p:ph type="sldNum" sz="quarter" idx="5"/>
          </p:nvPr>
        </p:nvSpPr>
        <p:spPr/>
        <p:txBody>
          <a:bodyPr/>
          <a:lstStyle/>
          <a:p>
            <a:fld id="{5DFBE8F3-E457-4E14-8249-6B01859045C3}" type="slidenum">
              <a:rPr lang="en-US" smtClean="0"/>
              <a:pPr/>
              <a:t>32</a:t>
            </a:fld>
            <a:endParaRPr lang="en-US"/>
          </a:p>
        </p:txBody>
      </p:sp>
    </p:spTree>
    <p:extLst>
      <p:ext uri="{BB962C8B-B14F-4D97-AF65-F5344CB8AC3E}">
        <p14:creationId xmlns:p14="http://schemas.microsoft.com/office/powerpoint/2010/main" val="4067119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21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07953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2855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97318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24868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40162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2320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15870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74148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05652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65418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26440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10892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10/15/2025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95111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10/15/2025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65913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0602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7467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pPr/>
              <a:t>10/15/2025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68103270"/>
      </p:ext>
    </p:extLst>
  </p:cSld>
  <p:clrMap bg1="dk1" tx1="lt1" bg2="dk2" tx2="lt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hyperlink" Target="http://images.google.com/imgres?imgurl=http://s3.amazonaws.com/pixmac-preview/soccer-player-silhouettes-1.jpg&amp;imgrefurl=http://www.pixmac.com/picture/soccer-player-silhouettes/000000184984&amp;usg=__epvvuoGk6nCHCzVigrG4u7iwwzM=&amp;h=306&amp;w=400&amp;sz=19&amp;hl=en&amp;start=22&amp;tbnid=Ervd0cBao52trM:&amp;tbnh=95&amp;tbnw=124&amp;prev=/images?q=soccer+player&amp;gbv=2&amp;ndsp=20&amp;hl=en&amp;sa=N&amp;start=20&amp;newwindow=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Margaret_Mitchel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zYY6Q4nRTS4"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hatis.techtarget.com/definition/yak-shaving" TargetMode="External"/><Relationship Id="rId2" Type="http://schemas.openxmlformats.org/officeDocument/2006/relationships/hyperlink" Target="https://seths.blog/2005/03/dont_shave_that/" TargetMode="External"/><Relationship Id="rId1" Type="http://schemas.openxmlformats.org/officeDocument/2006/relationships/slideLayout" Target="../slideLayouts/slideLayout2.xml"/><Relationship Id="rId5" Type="http://schemas.openxmlformats.org/officeDocument/2006/relationships/hyperlink" Target="https://hackaday.com/2016/08/09/yak-shaving-hacker-mode-vs-maker-mode/" TargetMode="External"/><Relationship Id="rId4" Type="http://schemas.openxmlformats.org/officeDocument/2006/relationships/hyperlink" Target="https://www.youtube.com/watch?v=LdPhXT9saSY"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cnblogs.com/xinz/archive/2011/03/13/1982585.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pat.zju.edu.cn/" TargetMode="External"/><Relationship Id="rId2" Type="http://schemas.openxmlformats.org/officeDocument/2006/relationships/hyperlink" Target="http://cspro.ccf.org.cn/"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www.cnblogs.com/codingcrazy/archive/2011/02/28/1967503.html" TargetMode="External"/><Relationship Id="rId2" Type="http://schemas.openxmlformats.org/officeDocument/2006/relationships/hyperlink" Target="http://www.billbuxton.com/xc.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www.cnblogs.com/xinz/p/3852177.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www.cnblogs.com/xinz/p/3803109.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zh-CN" altLang="en-US" dirty="0"/>
              <a:t>个人软件流程和工程师的成长</a:t>
            </a:r>
            <a:endParaRPr lang="en-US" dirty="0"/>
          </a:p>
        </p:txBody>
      </p:sp>
      <p:sp>
        <p:nvSpPr>
          <p:cNvPr id="9219" name="Subtitle 2"/>
          <p:cNvSpPr>
            <a:spLocks noGrp="1"/>
          </p:cNvSpPr>
          <p:nvPr>
            <p:ph type="body" sz="half" idx="2"/>
          </p:nvPr>
        </p:nvSpPr>
        <p:spPr/>
        <p:txBody>
          <a:bodyPr>
            <a:normAutofit fontScale="92500" lnSpcReduction="10000"/>
          </a:bodyPr>
          <a:lstStyle/>
          <a:p>
            <a:pPr>
              <a:lnSpc>
                <a:spcPct val="80000"/>
              </a:lnSpc>
            </a:pPr>
            <a:r>
              <a:rPr lang="zh-CN" altLang="en-US" sz="2500" dirty="0"/>
              <a:t>邹欣</a:t>
            </a:r>
            <a:endParaRPr lang="en-US" altLang="zh-CN" sz="2500" dirty="0"/>
          </a:p>
          <a:p>
            <a:pPr>
              <a:lnSpc>
                <a:spcPct val="80000"/>
              </a:lnSpc>
            </a:pPr>
            <a:r>
              <a:rPr lang="zh-CN" altLang="en-US" sz="2500" dirty="0"/>
              <a:t>构建之法 </a:t>
            </a:r>
            <a:r>
              <a:rPr lang="en-US" altLang="zh-CN" sz="2500" dirty="0"/>
              <a:t>– </a:t>
            </a:r>
            <a:r>
              <a:rPr lang="zh-CN" altLang="en-US" sz="2500" dirty="0"/>
              <a:t>现代软件工程</a:t>
            </a:r>
            <a:endParaRPr lang="en-US" altLang="zh-CN" sz="2500" dirty="0"/>
          </a:p>
          <a:p>
            <a:pPr>
              <a:lnSpc>
                <a:spcPct val="80000"/>
              </a:lnSpc>
            </a:pPr>
            <a:r>
              <a:rPr lang="zh-CN" altLang="en-US" sz="2500" dirty="0"/>
              <a:t>第 </a:t>
            </a:r>
            <a:r>
              <a:rPr lang="en-US" altLang="zh-CN" sz="2500" dirty="0"/>
              <a:t>2,3 </a:t>
            </a:r>
            <a:r>
              <a:rPr lang="zh-CN" altLang="en-US" sz="2500" dirty="0"/>
              <a:t>章</a:t>
            </a:r>
            <a:endParaRPr lang="en-US" sz="2500" dirty="0"/>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zh-CN" altLang="en-US" sz="4000" b="0" dirty="0"/>
              <a:t>软件工程包括什么</a:t>
            </a:r>
            <a:endParaRPr lang="en-US" b="0" dirty="0"/>
          </a:p>
        </p:txBody>
      </p:sp>
      <p:sp>
        <p:nvSpPr>
          <p:cNvPr id="3" name="Content Placeholder 2"/>
          <p:cNvSpPr>
            <a:spLocks noGrp="1"/>
          </p:cNvSpPr>
          <p:nvPr>
            <p:ph idx="1"/>
          </p:nvPr>
        </p:nvSpPr>
        <p:spPr/>
        <p:txBody>
          <a:bodyPr>
            <a:normAutofit/>
          </a:bodyPr>
          <a:lstStyle/>
          <a:p>
            <a:pPr marL="4763" indent="-4763">
              <a:buClr>
                <a:schemeClr val="accent3"/>
              </a:buClr>
              <a:buNone/>
              <a:defRPr/>
            </a:pPr>
            <a:r>
              <a:rPr lang="zh-CN" altLang="en-US" sz="2400" dirty="0"/>
              <a:t>它包括技术和过程，通常在 “软件开发流程” 的管理下，为了提高软件系统开发的效率，可靠性，和可维护性。</a:t>
            </a:r>
            <a:endParaRPr lang="en-US" sz="2400" baseline="30000" dirty="0"/>
          </a:p>
          <a:p>
            <a:pPr marL="274320" indent="-274320">
              <a:buClr>
                <a:schemeClr val="accent3"/>
              </a:buClr>
              <a:buNone/>
              <a:defRPr/>
            </a:pPr>
            <a:endParaRPr lang="en-US" dirty="0"/>
          </a:p>
          <a:p>
            <a:pPr>
              <a:buClr>
                <a:schemeClr val="accent3"/>
              </a:buClr>
              <a:defRPr/>
            </a:pPr>
            <a:r>
              <a:rPr lang="en-US" dirty="0"/>
              <a:t>Personal Software Process</a:t>
            </a:r>
          </a:p>
          <a:p>
            <a:pPr>
              <a:buClr>
                <a:schemeClr val="accent3"/>
              </a:buClr>
              <a:defRPr/>
            </a:pPr>
            <a:r>
              <a:rPr lang="zh-CN" altLang="en-US" dirty="0"/>
              <a:t>个人软件流程</a:t>
            </a:r>
            <a:endParaRPr lang="en-US" dirty="0"/>
          </a:p>
          <a:p>
            <a:pPr>
              <a:buClr>
                <a:schemeClr val="accent3"/>
              </a:buClr>
              <a:defRPr/>
            </a:pPr>
            <a:endParaRPr lang="en-US" dirty="0"/>
          </a:p>
          <a:p>
            <a:pPr>
              <a:buClr>
                <a:schemeClr val="accent3"/>
              </a:buClr>
              <a:defRPr/>
            </a:pPr>
            <a:endParaRPr lang="en-US" dirty="0"/>
          </a:p>
          <a:p>
            <a:pPr>
              <a:buClr>
                <a:schemeClr val="accent3"/>
              </a:buClr>
              <a:defRPr/>
            </a:pPr>
            <a:r>
              <a:rPr lang="en-US" dirty="0"/>
              <a:t>Team Software Process</a:t>
            </a:r>
          </a:p>
          <a:p>
            <a:pPr>
              <a:buClr>
                <a:schemeClr val="accent3"/>
              </a:buClr>
              <a:defRPr/>
            </a:pPr>
            <a:r>
              <a:rPr lang="zh-CN" altLang="en-US" dirty="0"/>
              <a:t>团队软件流程</a:t>
            </a:r>
            <a:endParaRPr lang="en-US" dirty="0"/>
          </a:p>
        </p:txBody>
      </p:sp>
      <p:pic>
        <p:nvPicPr>
          <p:cNvPr id="1026" name="Picture 2" descr="C:\Program Files\Microsoft Office\MEDIA\CAGCAT10\j0195384.wmf"/>
          <p:cNvPicPr>
            <a:picLocks noChangeAspect="1" noChangeArrowheads="1"/>
          </p:cNvPicPr>
          <p:nvPr/>
        </p:nvPicPr>
        <p:blipFill>
          <a:blip r:embed="rId3" cstate="print"/>
          <a:srcRect/>
          <a:stretch>
            <a:fillRect/>
          </a:stretch>
        </p:blipFill>
        <p:spPr bwMode="auto">
          <a:xfrm>
            <a:off x="8686800" y="2895600"/>
            <a:ext cx="1795882" cy="1833372"/>
          </a:xfrm>
          <a:prstGeom prst="rect">
            <a:avLst/>
          </a:prstGeom>
          <a:noFill/>
        </p:spPr>
      </p:pic>
      <p:pic>
        <p:nvPicPr>
          <p:cNvPr id="1027" name="Picture 3" descr="C:\Users\xinz.000\AppData\Local\Microsoft\Windows\Temporary Internet Files\Content.IE5\7YP7J5AX\MCj04369980000[1].wmf"/>
          <p:cNvPicPr>
            <a:picLocks noChangeAspect="1" noChangeArrowheads="1"/>
          </p:cNvPicPr>
          <p:nvPr/>
        </p:nvPicPr>
        <p:blipFill>
          <a:blip r:embed="rId4" cstate="print"/>
          <a:srcRect/>
          <a:stretch>
            <a:fillRect/>
          </a:stretch>
        </p:blipFill>
        <p:spPr bwMode="auto">
          <a:xfrm>
            <a:off x="8241831" y="4876800"/>
            <a:ext cx="2246046" cy="14478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0"/>
                                  </p:iterate>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0"/>
                                  </p:iterate>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0"/>
                                  </p:iterate>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7"/>
                                        </p:tgtEl>
                                        <p:attrNameLst>
                                          <p:attrName>style.visibility</p:attrName>
                                        </p:attrNameLst>
                                      </p:cBhvr>
                                      <p:to>
                                        <p:strVal val="visible"/>
                                      </p:to>
                                    </p:set>
                                    <p:animEffect transition="in" filter="fade">
                                      <p:cBhvr>
                                        <p:cTn id="3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足球为例</a:t>
            </a:r>
            <a:r>
              <a:rPr lang="en-US" b="0" dirty="0"/>
              <a:t> </a:t>
            </a:r>
          </a:p>
        </p:txBody>
      </p:sp>
      <p:sp>
        <p:nvSpPr>
          <p:cNvPr id="3" name="Content Placeholder 2"/>
          <p:cNvSpPr>
            <a:spLocks noGrp="1"/>
          </p:cNvSpPr>
          <p:nvPr>
            <p:ph idx="1"/>
          </p:nvPr>
        </p:nvSpPr>
        <p:spPr>
          <a:xfrm>
            <a:off x="1981200" y="1600200"/>
            <a:ext cx="4114800" cy="4876800"/>
          </a:xfrm>
        </p:spPr>
        <p:txBody>
          <a:bodyPr>
            <a:normAutofit/>
          </a:bodyPr>
          <a:lstStyle/>
          <a:p>
            <a:r>
              <a:rPr lang="zh-CN" altLang="en-US" dirty="0"/>
              <a:t>个人足球流程</a:t>
            </a:r>
            <a:endParaRPr lang="en-US" dirty="0"/>
          </a:p>
          <a:p>
            <a:pPr lvl="1"/>
            <a:r>
              <a:rPr lang="zh-CN" altLang="en-US" dirty="0"/>
              <a:t>体能</a:t>
            </a:r>
            <a:endParaRPr lang="en-US" altLang="zh-CN" dirty="0"/>
          </a:p>
          <a:p>
            <a:pPr lvl="1"/>
            <a:r>
              <a:rPr lang="zh-CN" altLang="en-US" dirty="0"/>
              <a:t>技术</a:t>
            </a:r>
            <a:endParaRPr lang="en-US" altLang="zh-CN" dirty="0"/>
          </a:p>
          <a:p>
            <a:pPr lvl="1"/>
            <a:r>
              <a:rPr lang="zh-CN" altLang="en-US" dirty="0"/>
              <a:t>意识</a:t>
            </a:r>
            <a:endParaRPr lang="en-US" dirty="0"/>
          </a:p>
          <a:p>
            <a:endParaRPr lang="en-US" dirty="0"/>
          </a:p>
          <a:p>
            <a:r>
              <a:rPr lang="zh-CN" altLang="en-US" dirty="0"/>
              <a:t>团队足球流程</a:t>
            </a:r>
            <a:endParaRPr lang="en-US" dirty="0"/>
          </a:p>
          <a:p>
            <a:pPr lvl="1"/>
            <a:r>
              <a:rPr lang="zh-CN" altLang="en-US" dirty="0"/>
              <a:t>阵型</a:t>
            </a:r>
            <a:endParaRPr lang="en-US" altLang="zh-CN" dirty="0"/>
          </a:p>
          <a:p>
            <a:pPr lvl="1"/>
            <a:r>
              <a:rPr lang="zh-CN" altLang="en-US" dirty="0"/>
              <a:t>配合</a:t>
            </a:r>
            <a:endParaRPr lang="en-US" altLang="zh-CN" dirty="0"/>
          </a:p>
          <a:p>
            <a:pPr lvl="1"/>
            <a:r>
              <a:rPr lang="zh-CN" altLang="en-US" dirty="0"/>
              <a:t>临场</a:t>
            </a:r>
            <a:endParaRPr lang="en-US" altLang="zh-CN" dirty="0"/>
          </a:p>
          <a:p>
            <a:r>
              <a:rPr lang="zh-CN" altLang="en-US" dirty="0"/>
              <a:t>流程本身不是目标</a:t>
            </a:r>
            <a:r>
              <a:rPr lang="en-US" altLang="zh-CN" dirty="0"/>
              <a:t> </a:t>
            </a:r>
          </a:p>
          <a:p>
            <a:r>
              <a:rPr lang="zh-CN" altLang="en-US" dirty="0"/>
              <a:t>赢球是目标</a:t>
            </a:r>
            <a:r>
              <a:rPr lang="en-US" altLang="zh-CN" dirty="0"/>
              <a:t> </a:t>
            </a:r>
            <a:endParaRPr lang="en-US" dirty="0"/>
          </a:p>
          <a:p>
            <a:pPr>
              <a:buNone/>
            </a:pPr>
            <a:endParaRPr lang="en-US" dirty="0"/>
          </a:p>
        </p:txBody>
      </p:sp>
      <p:pic>
        <p:nvPicPr>
          <p:cNvPr id="1031" name="Picture 7" descr="http://t1.gstatic.com/images?q=tbn:Ervd0cBao52trM:http://s3.amazonaws.com/pixmac-preview/soccer-player-silhouettes-1.jpg">
            <a:hlinkClick r:id="rId3"/>
          </p:cNvPr>
          <p:cNvPicPr>
            <a:picLocks noChangeAspect="1" noChangeArrowheads="1"/>
          </p:cNvPicPr>
          <p:nvPr/>
        </p:nvPicPr>
        <p:blipFill>
          <a:blip r:embed="rId4" cstate="print"/>
          <a:srcRect/>
          <a:stretch>
            <a:fillRect/>
          </a:stretch>
        </p:blipFill>
        <p:spPr bwMode="auto">
          <a:xfrm>
            <a:off x="6477000" y="1524001"/>
            <a:ext cx="2971800" cy="2276785"/>
          </a:xfrm>
          <a:prstGeom prst="rect">
            <a:avLst/>
          </a:prstGeom>
          <a:noFill/>
        </p:spPr>
      </p:pic>
      <p:pic>
        <p:nvPicPr>
          <p:cNvPr id="1034" name="Picture 10"/>
          <p:cNvPicPr>
            <a:picLocks noChangeAspect="1" noChangeArrowheads="1"/>
          </p:cNvPicPr>
          <p:nvPr/>
        </p:nvPicPr>
        <p:blipFill>
          <a:blip r:embed="rId5" cstate="print"/>
          <a:srcRect/>
          <a:stretch>
            <a:fillRect/>
          </a:stretch>
        </p:blipFill>
        <p:spPr bwMode="auto">
          <a:xfrm>
            <a:off x="6248400" y="4114800"/>
            <a:ext cx="3692906" cy="2552700"/>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1"/>
                                        </p:tgtEl>
                                        <p:attrNameLst>
                                          <p:attrName>style.visibility</p:attrName>
                                        </p:attrNameLst>
                                      </p:cBhvr>
                                      <p:to>
                                        <p:strVal val="visible"/>
                                      </p:to>
                                    </p:set>
                                    <p:animEffect transition="in" filter="fade">
                                      <p:cBhvr>
                                        <p:cTn id="7" dur="2000"/>
                                        <p:tgtEl>
                                          <p:spTgt spid="10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34"/>
                                        </p:tgtEl>
                                        <p:attrNameLst>
                                          <p:attrName>style.visibility</p:attrName>
                                        </p:attrNameLst>
                                      </p:cBhvr>
                                      <p:to>
                                        <p:strVal val="visible"/>
                                      </p:to>
                                    </p:set>
                                    <p:animEffect transition="in" filter="fade">
                                      <p:cBhvr>
                                        <p:cTn id="31" dur="2000"/>
                                        <p:tgtEl>
                                          <p:spTgt spid="10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2000"/>
                                        <p:tgtEl>
                                          <p:spTgt spid="3">
                                            <p:txEl>
                                              <p:pRg st="6" end="6"/>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20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2000"/>
                                        <p:tgtEl>
                                          <p:spTgt spid="3">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zh-CN" altLang="en-US" b="0" dirty="0"/>
              <a:t>个人在软件开发流程中</a:t>
            </a:r>
            <a:endParaRPr lang="en-US" b="0" dirty="0"/>
          </a:p>
        </p:txBody>
      </p:sp>
      <p:sp>
        <p:nvSpPr>
          <p:cNvPr id="11266" name="Content Placeholder 1"/>
          <p:cNvSpPr>
            <a:spLocks noGrp="1"/>
          </p:cNvSpPr>
          <p:nvPr>
            <p:ph idx="1"/>
          </p:nvPr>
        </p:nvSpPr>
        <p:spPr/>
        <p:txBody>
          <a:bodyPr>
            <a:normAutofit/>
          </a:bodyPr>
          <a:lstStyle/>
          <a:p>
            <a:r>
              <a:rPr lang="zh-CN" altLang="en-US" sz="2800" dirty="0"/>
              <a:t>绝大多数软件模块都是由个人开发和维护的</a:t>
            </a:r>
            <a:endParaRPr lang="en-US" altLang="zh-CN" sz="2800" dirty="0"/>
          </a:p>
          <a:p>
            <a:pPr lvl="1"/>
            <a:r>
              <a:rPr lang="zh-CN" altLang="en-US" sz="2400" dirty="0"/>
              <a:t>个人贡献者：</a:t>
            </a:r>
            <a:r>
              <a:rPr lang="en-US" altLang="zh-CN" sz="2400" dirty="0"/>
              <a:t>Individual</a:t>
            </a:r>
            <a:r>
              <a:rPr lang="en-US" sz="2400" dirty="0"/>
              <a:t> Contributor (IC)</a:t>
            </a:r>
          </a:p>
          <a:p>
            <a:r>
              <a:rPr lang="en-US" sz="2800" dirty="0"/>
              <a:t>IC </a:t>
            </a:r>
            <a:r>
              <a:rPr lang="zh-CN" altLang="en-US" sz="2800" dirty="0"/>
              <a:t>要做</a:t>
            </a:r>
            <a:endParaRPr lang="en-US" sz="2800" dirty="0"/>
          </a:p>
          <a:p>
            <a:pPr lvl="1"/>
            <a:r>
              <a:rPr lang="zh-CN" altLang="en-US" sz="2000" dirty="0"/>
              <a:t>了解当前的情况</a:t>
            </a:r>
            <a:endParaRPr lang="en-US" sz="2000" dirty="0"/>
          </a:p>
          <a:p>
            <a:pPr lvl="1"/>
            <a:r>
              <a:rPr lang="zh-CN" altLang="en-US" sz="2000" dirty="0"/>
              <a:t>找到解决方案</a:t>
            </a:r>
            <a:endParaRPr lang="en-US" sz="2000" dirty="0"/>
          </a:p>
          <a:p>
            <a:pPr lvl="1"/>
            <a:r>
              <a:rPr lang="zh-CN" altLang="en-US" sz="2000" dirty="0"/>
              <a:t>估计工作时间，依赖关系</a:t>
            </a:r>
            <a:endParaRPr lang="en-US" sz="2000" dirty="0"/>
          </a:p>
          <a:p>
            <a:pPr lvl="1"/>
            <a:r>
              <a:rPr lang="zh-CN" altLang="en-US" sz="2000" dirty="0"/>
              <a:t>和相关人士讨论解决方案，不断迭代</a:t>
            </a:r>
            <a:endParaRPr lang="en-US" sz="2000" dirty="0"/>
          </a:p>
          <a:p>
            <a:pPr lvl="1"/>
            <a:r>
              <a:rPr lang="zh-CN" altLang="en-US" sz="2000" dirty="0"/>
              <a:t>执行解决方案（代码复审，更新测试，等）</a:t>
            </a:r>
            <a:endParaRPr lang="en-US" sz="2000" dirty="0"/>
          </a:p>
          <a:p>
            <a:pPr lvl="1"/>
            <a:r>
              <a:rPr lang="zh-CN" altLang="en-US" sz="2000" dirty="0"/>
              <a:t>和其他队友一起维护软件，对结果负责</a:t>
            </a:r>
            <a:endParaRPr lang="en-US" sz="2000" dirty="0"/>
          </a:p>
          <a:p>
            <a:r>
              <a:rPr lang="zh-CN" altLang="en-US" sz="2800" dirty="0"/>
              <a:t>个人的工程质量极大地影响了软件的质量</a:t>
            </a:r>
            <a:r>
              <a:rPr lang="en-US" sz="2800" dirty="0"/>
              <a:t> </a:t>
            </a:r>
          </a:p>
        </p:txBody>
      </p:sp>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个人的表现</a:t>
            </a:r>
            <a:endParaRPr lang="en-US" b="0" dirty="0"/>
          </a:p>
        </p:txBody>
      </p:sp>
      <p:sp>
        <p:nvSpPr>
          <p:cNvPr id="3" name="Content Placeholder 2"/>
          <p:cNvSpPr>
            <a:spLocks noGrp="1"/>
          </p:cNvSpPr>
          <p:nvPr>
            <p:ph idx="1"/>
          </p:nvPr>
        </p:nvSpPr>
        <p:spPr/>
        <p:txBody>
          <a:bodyPr>
            <a:normAutofit fontScale="62500" lnSpcReduction="20000"/>
          </a:bodyPr>
          <a:lstStyle/>
          <a:p>
            <a:pPr>
              <a:lnSpc>
                <a:spcPct val="120000"/>
              </a:lnSpc>
            </a:pPr>
            <a:r>
              <a:rPr lang="zh-CN" altLang="en-US" dirty="0"/>
              <a:t>作为一个软件工程师</a:t>
            </a:r>
            <a:r>
              <a:rPr lang="en-US" altLang="zh-CN" dirty="0"/>
              <a:t>, </a:t>
            </a:r>
            <a:r>
              <a:rPr lang="zh-CN" altLang="en-US" dirty="0"/>
              <a:t>你觉得自己表现如何</a:t>
            </a:r>
            <a:r>
              <a:rPr lang="en-US" altLang="zh-CN" dirty="0"/>
              <a:t>?</a:t>
            </a:r>
          </a:p>
          <a:p>
            <a:pPr>
              <a:lnSpc>
                <a:spcPct val="120000"/>
              </a:lnSpc>
            </a:pPr>
            <a:r>
              <a:rPr lang="zh-CN" altLang="en-US" dirty="0"/>
              <a:t>有没有这样的体会</a:t>
            </a:r>
            <a:r>
              <a:rPr lang="en-US" altLang="zh-CN" dirty="0"/>
              <a:t>:</a:t>
            </a:r>
          </a:p>
          <a:p>
            <a:pPr lvl="1">
              <a:lnSpc>
                <a:spcPct val="120000"/>
              </a:lnSpc>
            </a:pPr>
            <a:r>
              <a:rPr lang="zh-CN" altLang="en-US" dirty="0"/>
              <a:t>看书的时候觉得“技止此耳”，开发项目的时候才觉得实际情况和书上讲的都有一些出入，一些重要的细节书上没有提。很多人是边看</a:t>
            </a:r>
            <a:r>
              <a:rPr lang="en-US" altLang="zh-CN" dirty="0"/>
              <a:t>Python </a:t>
            </a:r>
            <a:r>
              <a:rPr lang="zh-CN" altLang="en-US" dirty="0"/>
              <a:t>的书</a:t>
            </a:r>
            <a:r>
              <a:rPr lang="en-US" altLang="zh-CN" dirty="0"/>
              <a:t>, </a:t>
            </a:r>
            <a:r>
              <a:rPr lang="zh-CN" altLang="en-US" dirty="0"/>
              <a:t>边开发</a:t>
            </a:r>
            <a:r>
              <a:rPr lang="en-US" altLang="zh-CN" dirty="0"/>
              <a:t> Python </a:t>
            </a:r>
            <a:r>
              <a:rPr lang="zh-CN" altLang="en-US" dirty="0"/>
              <a:t>的项目，这相当于一边看医学书一边动手术。。。</a:t>
            </a:r>
            <a:endParaRPr lang="en-US" altLang="zh-CN" dirty="0"/>
          </a:p>
          <a:p>
            <a:pPr lvl="1">
              <a:lnSpc>
                <a:spcPct val="120000"/>
              </a:lnSpc>
            </a:pPr>
            <a:endParaRPr lang="en-US" altLang="zh-CN" dirty="0"/>
          </a:p>
          <a:p>
            <a:pPr>
              <a:lnSpc>
                <a:spcPct val="120000"/>
              </a:lnSpc>
            </a:pPr>
            <a:r>
              <a:rPr lang="zh-CN" altLang="en-US" dirty="0"/>
              <a:t>如果你是病人</a:t>
            </a:r>
            <a:r>
              <a:rPr lang="en-US" altLang="zh-CN" dirty="0"/>
              <a:t>, </a:t>
            </a:r>
            <a:r>
              <a:rPr lang="zh-CN" altLang="en-US" dirty="0"/>
              <a:t>你希望你的医生</a:t>
            </a:r>
            <a:r>
              <a:rPr lang="en-US" altLang="zh-CN" dirty="0"/>
              <a:t>:</a:t>
            </a:r>
          </a:p>
          <a:p>
            <a:pPr lvl="1">
              <a:lnSpc>
                <a:spcPct val="120000"/>
              </a:lnSpc>
            </a:pPr>
            <a:r>
              <a:rPr lang="zh-CN" altLang="en-US" dirty="0"/>
              <a:t>刚刚在书上看到你的病例</a:t>
            </a:r>
            <a:r>
              <a:rPr lang="en-US" altLang="zh-CN" dirty="0"/>
              <a:t>,  </a:t>
            </a:r>
            <a:r>
              <a:rPr lang="zh-CN" altLang="en-US" dirty="0"/>
              <a:t>一边看书一边开刀</a:t>
            </a:r>
            <a:r>
              <a:rPr lang="en-US" altLang="zh-CN" dirty="0"/>
              <a:t>…</a:t>
            </a:r>
          </a:p>
          <a:p>
            <a:pPr lvl="1">
              <a:lnSpc>
                <a:spcPct val="120000"/>
              </a:lnSpc>
            </a:pPr>
            <a:r>
              <a:rPr lang="zh-CN" altLang="en-US" dirty="0"/>
              <a:t>开刀的过程中突发奇想</a:t>
            </a:r>
            <a:r>
              <a:rPr lang="en-US" altLang="zh-CN" dirty="0"/>
              <a:t>,  </a:t>
            </a:r>
            <a:r>
              <a:rPr lang="zh-CN" altLang="en-US" dirty="0"/>
              <a:t>然后在你身上试验</a:t>
            </a:r>
            <a:r>
              <a:rPr lang="en-US" altLang="zh-CN" dirty="0"/>
              <a:t>…</a:t>
            </a:r>
          </a:p>
          <a:p>
            <a:pPr lvl="1">
              <a:lnSpc>
                <a:spcPct val="120000"/>
              </a:lnSpc>
            </a:pPr>
            <a:r>
              <a:rPr lang="zh-CN" altLang="en-US" dirty="0"/>
              <a:t>已经做了多年此类手术</a:t>
            </a:r>
            <a:r>
              <a:rPr lang="en-US" altLang="zh-CN" dirty="0"/>
              <a:t>, </a:t>
            </a:r>
            <a:r>
              <a:rPr lang="zh-CN" altLang="en-US" dirty="0"/>
              <a:t>可以一边做手术</a:t>
            </a:r>
            <a:r>
              <a:rPr lang="en-US" altLang="zh-CN" dirty="0"/>
              <a:t>, </a:t>
            </a:r>
            <a:r>
              <a:rPr lang="zh-CN" altLang="en-US" dirty="0"/>
              <a:t>一边和别人聊天</a:t>
            </a:r>
            <a:endParaRPr lang="en-US" altLang="zh-CN" dirty="0"/>
          </a:p>
          <a:p>
            <a:pPr lvl="1">
              <a:lnSpc>
                <a:spcPct val="120000"/>
              </a:lnSpc>
            </a:pPr>
            <a:endParaRPr lang="en-US" altLang="zh-CN" dirty="0"/>
          </a:p>
          <a:p>
            <a:pPr>
              <a:lnSpc>
                <a:spcPct val="120000"/>
              </a:lnSpc>
            </a:pPr>
            <a:r>
              <a:rPr lang="zh-CN" altLang="en-US" dirty="0"/>
              <a:t>你在写软件的时候</a:t>
            </a:r>
            <a:r>
              <a:rPr lang="en-US" altLang="zh-CN" dirty="0"/>
              <a:t>, </a:t>
            </a:r>
            <a:r>
              <a:rPr lang="zh-CN" altLang="en-US" dirty="0"/>
              <a:t>是哪种情况</a:t>
            </a:r>
            <a:r>
              <a:rPr lang="en-US" altLang="zh-CN" dirty="0"/>
              <a:t>? </a:t>
            </a:r>
          </a:p>
          <a:p>
            <a:pPr>
              <a:lnSpc>
                <a:spcPct val="120000"/>
              </a:lnSpc>
            </a:pPr>
            <a:r>
              <a:rPr lang="zh-CN" altLang="en-US" dirty="0"/>
              <a:t>那一个软件工程师如何成长，如何证明自己的成长</a:t>
            </a:r>
            <a:r>
              <a:rPr lang="en-US" altLang="zh-CN" dirty="0"/>
              <a:t>?</a:t>
            </a:r>
          </a:p>
          <a:p>
            <a:pPr lvl="1">
              <a:lnSpc>
                <a:spcPct val="120000"/>
              </a:lnSpc>
            </a:pPr>
            <a:r>
              <a:rPr lang="en-US" dirty="0"/>
              <a:t>Personal Software </a:t>
            </a:r>
            <a:r>
              <a:rPr lang="en-US" altLang="zh-CN" dirty="0"/>
              <a:t>Process</a:t>
            </a:r>
            <a:endParaRPr lang="en-US" dirty="0"/>
          </a:p>
        </p:txBody>
      </p:sp>
    </p:spTree>
    <p:extLst>
      <p:ext uri="{BB962C8B-B14F-4D97-AF65-F5344CB8AC3E}">
        <p14:creationId xmlns:p14="http://schemas.microsoft.com/office/powerpoint/2010/main" val="201024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我们怎么 </a:t>
            </a:r>
            <a:r>
              <a:rPr lang="en-US" b="0" dirty="0"/>
              <a:t>“</a:t>
            </a:r>
            <a:r>
              <a:rPr lang="zh-CN" altLang="en-US" b="0" dirty="0"/>
              <a:t>学</a:t>
            </a:r>
            <a:r>
              <a:rPr lang="en-US" b="0" dirty="0"/>
              <a:t>” </a:t>
            </a:r>
            <a:r>
              <a:rPr lang="zh-CN" altLang="en-US" b="0" dirty="0"/>
              <a:t>知识</a:t>
            </a:r>
            <a:endParaRPr lang="en-US" b="0" dirty="0"/>
          </a:p>
        </p:txBody>
      </p:sp>
      <p:sp>
        <p:nvSpPr>
          <p:cNvPr id="3" name="Content Placeholder 2"/>
          <p:cNvSpPr>
            <a:spLocks noGrp="1"/>
          </p:cNvSpPr>
          <p:nvPr>
            <p:ph idx="1"/>
          </p:nvPr>
        </p:nvSpPr>
        <p:spPr/>
        <p:txBody>
          <a:bodyPr/>
          <a:lstStyle/>
          <a:p>
            <a:r>
              <a:rPr lang="zh-CN" altLang="en-US" dirty="0"/>
              <a:t>知识体系是构建出来的</a:t>
            </a:r>
            <a:r>
              <a:rPr lang="en-US" altLang="zh-CN" dirty="0"/>
              <a:t>, </a:t>
            </a:r>
            <a:r>
              <a:rPr lang="zh-CN" altLang="en-US" dirty="0"/>
              <a:t>而不是接收到的    </a:t>
            </a:r>
            <a:endParaRPr lang="en-US" altLang="zh-CN" dirty="0"/>
          </a:p>
          <a:p>
            <a:pPr lvl="1"/>
            <a:r>
              <a:rPr lang="zh-CN" altLang="en-US" dirty="0"/>
              <a:t>与其灌输知识</a:t>
            </a:r>
            <a:r>
              <a:rPr lang="en-US" altLang="zh-CN" dirty="0"/>
              <a:t>, </a:t>
            </a:r>
            <a:r>
              <a:rPr lang="zh-CN" altLang="en-US" dirty="0"/>
              <a:t>远不如让学生自己构建</a:t>
            </a:r>
          </a:p>
          <a:p>
            <a:r>
              <a:rPr lang="zh-CN" altLang="en-US" dirty="0"/>
              <a:t>人的认知模型改变得非常缓慢       </a:t>
            </a:r>
            <a:endParaRPr lang="en-US" altLang="zh-CN" dirty="0"/>
          </a:p>
          <a:p>
            <a:pPr lvl="1"/>
            <a:r>
              <a:rPr lang="en-US" altLang="zh-CN" dirty="0"/>
              <a:t> </a:t>
            </a:r>
            <a:r>
              <a:rPr lang="zh-CN" altLang="en-US" dirty="0"/>
              <a:t>搞那些速成的</a:t>
            </a:r>
            <a:r>
              <a:rPr lang="en-US" altLang="zh-CN" dirty="0"/>
              <a:t>, </a:t>
            </a:r>
            <a:r>
              <a:rPr lang="zh-CN" altLang="en-US" dirty="0"/>
              <a:t>疯狂的</a:t>
            </a:r>
            <a:r>
              <a:rPr lang="en-US" altLang="zh-CN" dirty="0"/>
              <a:t>, </a:t>
            </a:r>
            <a:r>
              <a:rPr lang="zh-CN" altLang="en-US" dirty="0"/>
              <a:t>喊口号的培训未必改变了人的认知模型</a:t>
            </a:r>
          </a:p>
          <a:p>
            <a:r>
              <a:rPr lang="zh-CN" altLang="en-US" dirty="0"/>
              <a:t>提问能帮助构建知识体系            </a:t>
            </a:r>
            <a:endParaRPr lang="en-US" altLang="zh-CN" dirty="0"/>
          </a:p>
          <a:p>
            <a:pPr lvl="1"/>
            <a:r>
              <a:rPr lang="zh-CN" altLang="en-US" dirty="0"/>
              <a:t>鼓励学生思考</a:t>
            </a:r>
            <a:r>
              <a:rPr lang="en-US" altLang="zh-CN" dirty="0"/>
              <a:t>, </a:t>
            </a:r>
            <a:r>
              <a:rPr lang="zh-CN" altLang="en-US" dirty="0"/>
              <a:t>辩论</a:t>
            </a:r>
            <a:r>
              <a:rPr lang="en-US" altLang="zh-CN" dirty="0"/>
              <a:t>,</a:t>
            </a:r>
          </a:p>
          <a:p>
            <a:r>
              <a:rPr lang="zh-CN" altLang="en-US" dirty="0"/>
              <a:t>身心投入</a:t>
            </a:r>
            <a:r>
              <a:rPr lang="en-US" altLang="zh-CN" dirty="0"/>
              <a:t>, </a:t>
            </a:r>
            <a:r>
              <a:rPr lang="zh-CN" altLang="en-US" dirty="0"/>
              <a:t>回顾总结是成长的关键   </a:t>
            </a:r>
          </a:p>
        </p:txBody>
      </p:sp>
    </p:spTree>
    <p:extLst>
      <p:ext uri="{BB962C8B-B14F-4D97-AF65-F5344CB8AC3E}">
        <p14:creationId xmlns:p14="http://schemas.microsoft.com/office/powerpoint/2010/main" val="4556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PSP </a:t>
            </a:r>
            <a:r>
              <a:rPr lang="zh-CN" altLang="en-US" b="0" dirty="0"/>
              <a:t>的演化</a:t>
            </a:r>
            <a:endParaRPr lang="en-US" b="0" dirty="0"/>
          </a:p>
        </p:txBody>
      </p:sp>
      <p:sp>
        <p:nvSpPr>
          <p:cNvPr id="3" name="Content Placeholder 2"/>
          <p:cNvSpPr>
            <a:spLocks noGrp="1"/>
          </p:cNvSpPr>
          <p:nvPr>
            <p:ph idx="1"/>
          </p:nvPr>
        </p:nvSpPr>
        <p:spPr>
          <a:xfrm>
            <a:off x="1981200" y="1600201"/>
            <a:ext cx="2819400" cy="4525963"/>
          </a:xfrm>
          <a:ln>
            <a:solidFill>
              <a:schemeClr val="accent1"/>
            </a:solidFill>
          </a:ln>
        </p:spPr>
        <p:txBody>
          <a:bodyPr>
            <a:normAutofit/>
          </a:bodyPr>
          <a:lstStyle/>
          <a:p>
            <a:r>
              <a:rPr lang="en-US" sz="2800" dirty="0"/>
              <a:t>PSP</a:t>
            </a:r>
            <a:r>
              <a:rPr lang="en-US" sz="2800" b="1" dirty="0">
                <a:solidFill>
                  <a:srgbClr val="FF0000"/>
                </a:solidFill>
              </a:rPr>
              <a:t>0</a:t>
            </a:r>
          </a:p>
          <a:p>
            <a:r>
              <a:rPr lang="en-US" sz="2800" dirty="0"/>
              <a:t>Planning</a:t>
            </a:r>
          </a:p>
          <a:p>
            <a:r>
              <a:rPr lang="en-US" sz="2800" dirty="0"/>
              <a:t>Development</a:t>
            </a:r>
          </a:p>
          <a:p>
            <a:pPr lvl="1"/>
            <a:r>
              <a:rPr lang="en-US" sz="2400" dirty="0"/>
              <a:t>Design</a:t>
            </a:r>
          </a:p>
          <a:p>
            <a:pPr lvl="1"/>
            <a:r>
              <a:rPr lang="en-US" sz="2400" dirty="0"/>
              <a:t>Coding</a:t>
            </a:r>
          </a:p>
          <a:p>
            <a:pPr lvl="1"/>
            <a:r>
              <a:rPr lang="en-US" sz="2400" dirty="0"/>
              <a:t>Test</a:t>
            </a:r>
          </a:p>
          <a:p>
            <a:r>
              <a:rPr lang="en-US" sz="2800" dirty="0"/>
              <a:t>Postmortem</a:t>
            </a:r>
          </a:p>
        </p:txBody>
      </p:sp>
      <p:sp>
        <p:nvSpPr>
          <p:cNvPr id="4" name="Content Placeholder 2"/>
          <p:cNvSpPr txBox="1">
            <a:spLocks/>
          </p:cNvSpPr>
          <p:nvPr/>
        </p:nvSpPr>
        <p:spPr>
          <a:xfrm>
            <a:off x="4800600" y="1600201"/>
            <a:ext cx="2895600" cy="4525963"/>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PSP</a:t>
            </a:r>
            <a:r>
              <a:rPr lang="en-US" sz="2000" b="1" dirty="0">
                <a:solidFill>
                  <a:srgbClr val="FF0000"/>
                </a:solidFill>
              </a:rPr>
              <a:t>0.1</a:t>
            </a:r>
          </a:p>
          <a:p>
            <a:r>
              <a:rPr lang="en-US" sz="2000" dirty="0"/>
              <a:t>Planning</a:t>
            </a:r>
          </a:p>
          <a:p>
            <a:r>
              <a:rPr lang="en-US" sz="2000" dirty="0"/>
              <a:t>Development</a:t>
            </a:r>
          </a:p>
          <a:p>
            <a:pPr lvl="1"/>
            <a:r>
              <a:rPr lang="en-US" sz="1800" b="1" dirty="0">
                <a:solidFill>
                  <a:srgbClr val="FF0000"/>
                </a:solidFill>
              </a:rPr>
              <a:t>Coding Standard</a:t>
            </a:r>
          </a:p>
          <a:p>
            <a:pPr lvl="1"/>
            <a:r>
              <a:rPr lang="en-US" sz="1800" dirty="0"/>
              <a:t>Design</a:t>
            </a:r>
          </a:p>
          <a:p>
            <a:pPr lvl="1"/>
            <a:r>
              <a:rPr lang="en-US" sz="1800" dirty="0"/>
              <a:t>Coding</a:t>
            </a:r>
          </a:p>
          <a:p>
            <a:pPr lvl="1"/>
            <a:r>
              <a:rPr lang="en-US" sz="1800" dirty="0"/>
              <a:t>Test</a:t>
            </a:r>
          </a:p>
          <a:p>
            <a:r>
              <a:rPr lang="en-US" sz="2000" b="1" dirty="0">
                <a:solidFill>
                  <a:srgbClr val="FF0000"/>
                </a:solidFill>
              </a:rPr>
              <a:t>Size Measurement</a:t>
            </a:r>
          </a:p>
          <a:p>
            <a:r>
              <a:rPr lang="en-US" sz="2000" dirty="0"/>
              <a:t>Postmortem</a:t>
            </a:r>
          </a:p>
          <a:p>
            <a:r>
              <a:rPr lang="en-US" sz="2000" b="1" dirty="0">
                <a:solidFill>
                  <a:srgbClr val="FF0000"/>
                </a:solidFill>
              </a:rPr>
              <a:t>Process Improvement Plan</a:t>
            </a:r>
          </a:p>
        </p:txBody>
      </p:sp>
      <p:sp>
        <p:nvSpPr>
          <p:cNvPr id="5" name="Content Placeholder 2"/>
          <p:cNvSpPr txBox="1">
            <a:spLocks/>
          </p:cNvSpPr>
          <p:nvPr/>
        </p:nvSpPr>
        <p:spPr>
          <a:xfrm>
            <a:off x="7696200" y="1600201"/>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6" name="Content Placeholder 2"/>
          <p:cNvSpPr txBox="1">
            <a:spLocks/>
          </p:cNvSpPr>
          <p:nvPr/>
        </p:nvSpPr>
        <p:spPr>
          <a:xfrm>
            <a:off x="7696200" y="1600201"/>
            <a:ext cx="2971800" cy="4525963"/>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a:t>
            </a:r>
          </a:p>
          <a:p>
            <a:r>
              <a:rPr lang="en-US" dirty="0"/>
              <a:t>Planning</a:t>
            </a:r>
          </a:p>
          <a:p>
            <a:pPr lvl="1"/>
            <a:r>
              <a:rPr lang="en-US" b="1" dirty="0">
                <a:solidFill>
                  <a:srgbClr val="FF0000"/>
                </a:solidFill>
              </a:rPr>
              <a:t>Estimate</a:t>
            </a:r>
            <a:r>
              <a:rPr lang="en-US" dirty="0"/>
              <a:t> </a:t>
            </a:r>
          </a:p>
          <a:p>
            <a:r>
              <a:rPr lang="en-US" dirty="0"/>
              <a:t>Development</a:t>
            </a:r>
          </a:p>
          <a:p>
            <a:pPr lvl="1"/>
            <a:r>
              <a:rPr lang="en-US" dirty="0"/>
              <a:t>Coding Standard</a:t>
            </a:r>
          </a:p>
          <a:p>
            <a:pPr lvl="1"/>
            <a:r>
              <a:rPr lang="en-US" dirty="0"/>
              <a:t>Design</a:t>
            </a:r>
          </a:p>
          <a:p>
            <a:pPr lvl="1"/>
            <a:r>
              <a:rPr lang="en-US" dirty="0"/>
              <a:t>Coding</a:t>
            </a:r>
          </a:p>
          <a:p>
            <a:pPr lvl="1"/>
            <a:r>
              <a:rPr lang="en-US" dirty="0"/>
              <a:t>Test</a:t>
            </a:r>
          </a:p>
          <a:p>
            <a:r>
              <a:rPr lang="en-US" b="1" dirty="0">
                <a:solidFill>
                  <a:srgbClr val="FF0000"/>
                </a:solidFill>
              </a:rPr>
              <a:t>Test Report</a:t>
            </a:r>
          </a:p>
          <a:p>
            <a:r>
              <a:rPr lang="en-US" dirty="0"/>
              <a:t>Size Measurement</a:t>
            </a:r>
          </a:p>
          <a:p>
            <a:r>
              <a:rPr lang="en-US" dirty="0"/>
              <a:t>Postmortem</a:t>
            </a:r>
          </a:p>
          <a:p>
            <a:r>
              <a:rPr lang="en-US" dirty="0"/>
              <a:t>Process Improvement Plan</a:t>
            </a:r>
          </a:p>
        </p:txBody>
      </p:sp>
    </p:spTree>
    <p:extLst>
      <p:ext uri="{BB962C8B-B14F-4D97-AF65-F5344CB8AC3E}">
        <p14:creationId xmlns:p14="http://schemas.microsoft.com/office/powerpoint/2010/main" val="326443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PSP Evolution (cont.)</a:t>
            </a:r>
          </a:p>
        </p:txBody>
      </p:sp>
      <p:sp>
        <p:nvSpPr>
          <p:cNvPr id="8" name="Content Placeholder 2"/>
          <p:cNvSpPr txBox="1">
            <a:spLocks noGrp="1"/>
          </p:cNvSpPr>
          <p:nvPr>
            <p:ph idx="1"/>
          </p:nvPr>
        </p:nvSpPr>
        <p:spPr>
          <a:xfrm>
            <a:off x="1981200" y="1600200"/>
            <a:ext cx="2895600" cy="4876800"/>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1.1</a:t>
            </a:r>
          </a:p>
          <a:p>
            <a:r>
              <a:rPr lang="en-US" dirty="0"/>
              <a:t>Planning</a:t>
            </a:r>
          </a:p>
          <a:p>
            <a:pPr lvl="1"/>
            <a:r>
              <a:rPr lang="en-US" dirty="0"/>
              <a:t>Estimate </a:t>
            </a:r>
          </a:p>
          <a:p>
            <a:r>
              <a:rPr lang="en-US" dirty="0"/>
              <a:t>Development</a:t>
            </a:r>
          </a:p>
          <a:p>
            <a:pPr lvl="1"/>
            <a:r>
              <a:rPr lang="en-US" dirty="0"/>
              <a:t>Coding Standard</a:t>
            </a:r>
          </a:p>
          <a:p>
            <a:pPr lvl="1"/>
            <a:r>
              <a:rPr lang="en-US" dirty="0"/>
              <a:t>Design</a:t>
            </a:r>
          </a:p>
          <a:p>
            <a:pPr lvl="1"/>
            <a:r>
              <a:rPr lang="en-US" dirty="0"/>
              <a:t>Coding</a:t>
            </a:r>
          </a:p>
          <a:p>
            <a:pPr lvl="1"/>
            <a:r>
              <a:rPr lang="en-US" dirty="0"/>
              <a:t>Test</a:t>
            </a:r>
          </a:p>
          <a:p>
            <a:r>
              <a:rPr lang="en-US" b="1" dirty="0">
                <a:solidFill>
                  <a:srgbClr val="FF0000"/>
                </a:solidFill>
              </a:rPr>
              <a:t>Record Time Spent</a:t>
            </a:r>
          </a:p>
          <a:p>
            <a:r>
              <a:rPr lang="en-US" dirty="0"/>
              <a:t>Test Report</a:t>
            </a:r>
          </a:p>
          <a:p>
            <a:r>
              <a:rPr lang="en-US" dirty="0"/>
              <a:t>Size Measurement</a:t>
            </a:r>
          </a:p>
          <a:p>
            <a:r>
              <a:rPr lang="en-US" dirty="0"/>
              <a:t>Postmortem</a:t>
            </a:r>
          </a:p>
          <a:p>
            <a:r>
              <a:rPr lang="en-US" dirty="0"/>
              <a:t>Process Improvement Plan</a:t>
            </a:r>
          </a:p>
        </p:txBody>
      </p:sp>
      <p:sp>
        <p:nvSpPr>
          <p:cNvPr id="5" name="Content Placeholder 2"/>
          <p:cNvSpPr txBox="1">
            <a:spLocks/>
          </p:cNvSpPr>
          <p:nvPr/>
        </p:nvSpPr>
        <p:spPr>
          <a:xfrm>
            <a:off x="7696200" y="1600201"/>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0" name="Content Placeholder 2"/>
          <p:cNvSpPr txBox="1">
            <a:spLocks/>
          </p:cNvSpPr>
          <p:nvPr/>
        </p:nvSpPr>
        <p:spPr>
          <a:xfrm>
            <a:off x="4876800" y="1600200"/>
            <a:ext cx="2895600" cy="4876800"/>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a:t>
            </a:r>
          </a:p>
          <a:p>
            <a:r>
              <a:rPr lang="en-US" dirty="0"/>
              <a:t>Planning</a:t>
            </a:r>
          </a:p>
          <a:p>
            <a:pPr lvl="1"/>
            <a:r>
              <a:rPr lang="en-US" dirty="0"/>
              <a:t>Estimate </a:t>
            </a:r>
          </a:p>
          <a:p>
            <a:r>
              <a:rPr lang="en-US" dirty="0"/>
              <a:t>Development</a:t>
            </a:r>
          </a:p>
          <a:p>
            <a:pPr lvl="1"/>
            <a:r>
              <a:rPr lang="en-US" b="1" dirty="0">
                <a:solidFill>
                  <a:srgbClr val="FF0000"/>
                </a:solidFill>
              </a:rPr>
              <a:t>Design Review</a:t>
            </a:r>
          </a:p>
          <a:p>
            <a:pPr lvl="1"/>
            <a:r>
              <a:rPr lang="en-US" dirty="0"/>
              <a:t>Coding Standard</a:t>
            </a:r>
          </a:p>
          <a:p>
            <a:pPr lvl="1"/>
            <a:r>
              <a:rPr lang="en-US" dirty="0"/>
              <a:t>Design</a:t>
            </a:r>
          </a:p>
          <a:p>
            <a:pPr lvl="1"/>
            <a:r>
              <a:rPr lang="en-US" dirty="0"/>
              <a:t>Coding</a:t>
            </a:r>
          </a:p>
          <a:p>
            <a:pPr lvl="1"/>
            <a:r>
              <a:rPr lang="en-US" b="1" dirty="0">
                <a:solidFill>
                  <a:srgbClr val="FF0000"/>
                </a:solidFill>
              </a:rPr>
              <a:t>Code Review</a:t>
            </a:r>
          </a:p>
          <a:p>
            <a:pPr lvl="1"/>
            <a:r>
              <a:rPr lang="en-US" dirty="0"/>
              <a:t>Test</a:t>
            </a:r>
          </a:p>
          <a:p>
            <a:r>
              <a:rPr lang="en-US" dirty="0"/>
              <a:t>Record Time Spent</a:t>
            </a:r>
          </a:p>
          <a:p>
            <a:r>
              <a:rPr lang="en-US" dirty="0"/>
              <a:t>Test Report</a:t>
            </a:r>
          </a:p>
          <a:p>
            <a:r>
              <a:rPr lang="en-US" dirty="0"/>
              <a:t>Size Measurement</a:t>
            </a:r>
          </a:p>
          <a:p>
            <a:r>
              <a:rPr lang="en-US" dirty="0"/>
              <a:t>Postmortem</a:t>
            </a:r>
          </a:p>
          <a:p>
            <a:r>
              <a:rPr lang="en-US" dirty="0"/>
              <a:t>Process Improvement Plan</a:t>
            </a:r>
          </a:p>
        </p:txBody>
      </p:sp>
      <p:sp>
        <p:nvSpPr>
          <p:cNvPr id="11" name="Content Placeholder 2"/>
          <p:cNvSpPr txBox="1">
            <a:spLocks/>
          </p:cNvSpPr>
          <p:nvPr/>
        </p:nvSpPr>
        <p:spPr>
          <a:xfrm>
            <a:off x="7772400" y="1600200"/>
            <a:ext cx="2895600" cy="4876800"/>
          </a:xfrm>
          <a:prstGeom prst="rect">
            <a:avLst/>
          </a:prstGeom>
          <a:ln>
            <a:solidFill>
              <a:schemeClr val="accent1"/>
            </a:solidFill>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2.1</a:t>
            </a:r>
          </a:p>
          <a:p>
            <a:r>
              <a:rPr lang="en-US" dirty="0"/>
              <a:t>Planning</a:t>
            </a:r>
          </a:p>
          <a:p>
            <a:pPr lvl="1"/>
            <a:r>
              <a:rPr lang="en-US" dirty="0"/>
              <a:t>Estimate </a:t>
            </a:r>
          </a:p>
          <a:p>
            <a:r>
              <a:rPr lang="en-US" dirty="0"/>
              <a:t>Development</a:t>
            </a:r>
          </a:p>
          <a:p>
            <a:pPr lvl="1"/>
            <a:r>
              <a:rPr lang="en-US" b="1" dirty="0">
                <a:solidFill>
                  <a:srgbClr val="FF0000"/>
                </a:solidFill>
              </a:rPr>
              <a:t>Analysis </a:t>
            </a:r>
          </a:p>
          <a:p>
            <a:pPr lvl="1"/>
            <a:r>
              <a:rPr lang="en-US" b="1" dirty="0">
                <a:solidFill>
                  <a:srgbClr val="FF0000"/>
                </a:solidFill>
              </a:rPr>
              <a:t>Design Spec</a:t>
            </a:r>
          </a:p>
          <a:p>
            <a:pPr lvl="1"/>
            <a:r>
              <a:rPr lang="en-US" dirty="0"/>
              <a:t>Design Review</a:t>
            </a:r>
          </a:p>
          <a:p>
            <a:pPr lvl="1"/>
            <a:r>
              <a:rPr lang="en-US" dirty="0"/>
              <a:t>Coding Standard</a:t>
            </a:r>
          </a:p>
          <a:p>
            <a:pPr lvl="1"/>
            <a:r>
              <a:rPr lang="en-US" dirty="0"/>
              <a:t>Design</a:t>
            </a:r>
          </a:p>
          <a:p>
            <a:pPr lvl="1"/>
            <a:r>
              <a:rPr lang="en-US" dirty="0"/>
              <a:t>Coding</a:t>
            </a:r>
          </a:p>
          <a:p>
            <a:pPr lvl="1"/>
            <a:r>
              <a:rPr lang="en-US" dirty="0"/>
              <a:t>Code Review</a:t>
            </a:r>
          </a:p>
          <a:p>
            <a:pPr lvl="1"/>
            <a:r>
              <a:rPr lang="en-US" dirty="0"/>
              <a:t>Test</a:t>
            </a:r>
          </a:p>
          <a:p>
            <a:r>
              <a:rPr lang="en-US" dirty="0"/>
              <a:t>Record Time Spent</a:t>
            </a:r>
          </a:p>
          <a:p>
            <a:r>
              <a:rPr lang="en-US" dirty="0"/>
              <a:t>Test Report</a:t>
            </a:r>
          </a:p>
          <a:p>
            <a:r>
              <a:rPr lang="en-US" dirty="0"/>
              <a:t>Size Measurement</a:t>
            </a:r>
          </a:p>
          <a:p>
            <a:r>
              <a:rPr lang="en-US" dirty="0"/>
              <a:t>Postmortem</a:t>
            </a:r>
          </a:p>
          <a:p>
            <a:r>
              <a:rPr lang="en-US" dirty="0"/>
              <a:t>Process Improvement Plan</a:t>
            </a:r>
          </a:p>
        </p:txBody>
      </p:sp>
    </p:spTree>
    <p:extLst>
      <p:ext uri="{BB962C8B-B14F-4D97-AF65-F5344CB8AC3E}">
        <p14:creationId xmlns:p14="http://schemas.microsoft.com/office/powerpoint/2010/main" val="60128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b="0" dirty="0"/>
              <a:t>PSP </a:t>
            </a:r>
            <a:r>
              <a:rPr lang="zh-CN" altLang="en-US" b="0" dirty="0"/>
              <a:t>衡量什么</a:t>
            </a:r>
            <a:r>
              <a:rPr lang="en-US" dirty="0"/>
              <a:t>:</a:t>
            </a:r>
          </a:p>
        </p:txBody>
      </p:sp>
      <p:sp>
        <p:nvSpPr>
          <p:cNvPr id="2" name="Content Placeholder 1"/>
          <p:cNvSpPr>
            <a:spLocks noGrp="1"/>
          </p:cNvSpPr>
          <p:nvPr>
            <p:ph idx="1"/>
          </p:nvPr>
        </p:nvSpPr>
        <p:spPr/>
        <p:txBody>
          <a:bodyPr>
            <a:normAutofit/>
          </a:bodyPr>
          <a:lstStyle/>
          <a:p>
            <a:pPr>
              <a:buNone/>
            </a:pPr>
            <a:r>
              <a:rPr lang="en-US" sz="2400" dirty="0"/>
              <a:t>PSP </a:t>
            </a:r>
            <a:r>
              <a:rPr lang="zh-CN" altLang="en-US" sz="2400" dirty="0"/>
              <a:t>衡量下面的核心数据</a:t>
            </a:r>
            <a:r>
              <a:rPr lang="en-US" sz="2400" dirty="0"/>
              <a:t>:</a:t>
            </a:r>
          </a:p>
          <a:p>
            <a:r>
              <a:rPr lang="zh-CN" altLang="en-US" sz="2400" dirty="0"/>
              <a:t>任务的大小</a:t>
            </a:r>
            <a:r>
              <a:rPr lang="en-US" sz="2400" dirty="0"/>
              <a:t> – </a:t>
            </a:r>
            <a:r>
              <a:rPr lang="zh-CN" altLang="en-US" sz="2400" dirty="0"/>
              <a:t>例如，有多少行代码 </a:t>
            </a:r>
            <a:r>
              <a:rPr lang="en-US" altLang="zh-CN" sz="2400" dirty="0"/>
              <a:t>Line </a:t>
            </a:r>
            <a:r>
              <a:rPr lang="en-US" sz="2400" dirty="0"/>
              <a:t>of code (LOC).</a:t>
            </a:r>
          </a:p>
          <a:p>
            <a:endParaRPr lang="en-US" sz="2200" dirty="0"/>
          </a:p>
          <a:p>
            <a:r>
              <a:rPr lang="zh-CN" altLang="en-US" sz="2400" dirty="0"/>
              <a:t>需要多少努力</a:t>
            </a:r>
            <a:r>
              <a:rPr lang="en-US" sz="2400" dirty="0"/>
              <a:t> – </a:t>
            </a:r>
            <a:r>
              <a:rPr lang="zh-CN" altLang="en-US" sz="2400" dirty="0"/>
              <a:t>花了多少时间（分钟）</a:t>
            </a:r>
            <a:endParaRPr lang="en-US" sz="2400" dirty="0"/>
          </a:p>
          <a:p>
            <a:pPr marL="457200" lvl="1" indent="0">
              <a:buNone/>
            </a:pPr>
            <a:endParaRPr lang="en-US" sz="2200" dirty="0"/>
          </a:p>
          <a:p>
            <a:r>
              <a:rPr lang="zh-CN" altLang="en-US" sz="2400" dirty="0"/>
              <a:t>质量 </a:t>
            </a:r>
            <a:r>
              <a:rPr lang="en-US" altLang="zh-CN" sz="2400" dirty="0"/>
              <a:t>– </a:t>
            </a:r>
            <a:r>
              <a:rPr lang="zh-CN" altLang="en-US" sz="2400" dirty="0"/>
              <a:t>产品中有多少问题</a:t>
            </a:r>
            <a:r>
              <a:rPr lang="en-US" sz="2400" dirty="0"/>
              <a:t>.</a:t>
            </a:r>
          </a:p>
          <a:p>
            <a:pPr marL="457200" lvl="1" indent="0">
              <a:buNone/>
            </a:pPr>
            <a:endParaRPr lang="en-US" sz="2200" dirty="0"/>
          </a:p>
          <a:p>
            <a:r>
              <a:rPr lang="zh-CN" altLang="en-US" sz="2400" dirty="0"/>
              <a:t>日程</a:t>
            </a:r>
            <a:r>
              <a:rPr lang="en-US" sz="2400" dirty="0"/>
              <a:t> – </a:t>
            </a:r>
            <a:r>
              <a:rPr lang="zh-CN" altLang="en-US" sz="2400" dirty="0"/>
              <a:t>是否按时交付</a:t>
            </a:r>
            <a:endParaRPr lang="en-US" sz="2200" dirty="0"/>
          </a:p>
          <a:p>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20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2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b="0" dirty="0"/>
              <a:t>衡量</a:t>
            </a:r>
            <a:endParaRPr lang="en-US" b="0" dirty="0"/>
          </a:p>
        </p:txBody>
      </p:sp>
      <p:sp>
        <p:nvSpPr>
          <p:cNvPr id="2" name="Content Placeholder 1"/>
          <p:cNvSpPr>
            <a:spLocks noGrp="1"/>
          </p:cNvSpPr>
          <p:nvPr>
            <p:ph idx="1"/>
          </p:nvPr>
        </p:nvSpPr>
        <p:spPr/>
        <p:txBody>
          <a:bodyPr>
            <a:normAutofit/>
          </a:bodyPr>
          <a:lstStyle/>
          <a:p>
            <a:r>
              <a:rPr lang="zh-CN" altLang="en-US" dirty="0"/>
              <a:t>原则：你不能改进你无法衡量的东西</a:t>
            </a:r>
            <a:endParaRPr lang="en-US" dirty="0"/>
          </a:p>
          <a:p>
            <a:pPr lvl="1"/>
            <a:r>
              <a:rPr lang="en-US" dirty="0"/>
              <a:t>You can’t improve what you can’t measure. </a:t>
            </a:r>
          </a:p>
          <a:p>
            <a:pPr lvl="1"/>
            <a:endParaRPr lang="en-US" dirty="0"/>
          </a:p>
          <a:p>
            <a:endParaRPr lang="en-US" dirty="0"/>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0" dirty="0">
                <a:latin typeface="+mj-ea"/>
              </a:rPr>
              <a:t>PSP </a:t>
            </a:r>
            <a:r>
              <a:rPr lang="zh-CN" altLang="en-US" b="0" dirty="0">
                <a:latin typeface="+mj-ea"/>
              </a:rPr>
              <a:t>的弱点</a:t>
            </a:r>
            <a:endParaRPr lang="en-US" b="0" dirty="0">
              <a:latin typeface="+mj-ea"/>
            </a:endParaRPr>
          </a:p>
        </p:txBody>
      </p:sp>
      <p:sp>
        <p:nvSpPr>
          <p:cNvPr id="2" name="Content Placeholder 1"/>
          <p:cNvSpPr>
            <a:spLocks noGrp="1"/>
          </p:cNvSpPr>
          <p:nvPr>
            <p:ph idx="1"/>
          </p:nvPr>
        </p:nvSpPr>
        <p:spPr/>
        <p:txBody>
          <a:bodyPr>
            <a:normAutofit/>
          </a:bodyPr>
          <a:lstStyle/>
          <a:p>
            <a:r>
              <a:rPr lang="zh-CN" altLang="en-US" sz="1800" dirty="0"/>
              <a:t>在小型的创业团队，很难找到高质量的需求分析文档</a:t>
            </a:r>
            <a:endParaRPr lang="en-US" altLang="zh-CN" sz="1800" dirty="0"/>
          </a:p>
          <a:p>
            <a:pPr lvl="1"/>
            <a:r>
              <a:rPr lang="zh-CN" altLang="en-US" sz="1800" dirty="0"/>
              <a:t>导致后续的活动非常随机，开发活动可能随时变化</a:t>
            </a:r>
            <a:endParaRPr lang="en-US" sz="1800" dirty="0"/>
          </a:p>
          <a:p>
            <a:r>
              <a:rPr lang="zh-CN" altLang="en-US" sz="1800" dirty="0"/>
              <a:t>依赖与数据</a:t>
            </a:r>
            <a:endParaRPr lang="en-US" sz="1800" dirty="0"/>
          </a:p>
          <a:p>
            <a:pPr lvl="1"/>
            <a:r>
              <a:rPr lang="zh-CN" altLang="en-US" sz="1800" dirty="0"/>
              <a:t>要求开发人员手动记录所有活动，如何处理丢失数据或者不准确？</a:t>
            </a:r>
            <a:endParaRPr lang="en-US" sz="1800" dirty="0"/>
          </a:p>
          <a:p>
            <a:pPr lvl="1"/>
            <a:r>
              <a:rPr lang="zh-CN" altLang="en-US" sz="1800" dirty="0"/>
              <a:t>利益冲突</a:t>
            </a:r>
            <a:r>
              <a:rPr lang="en-US" sz="1800" dirty="0"/>
              <a:t>?  </a:t>
            </a:r>
            <a:r>
              <a:rPr lang="zh-CN" altLang="en-US" sz="1800" dirty="0"/>
              <a:t>我应该如实记录我花了很多时间处理简单问题么？</a:t>
            </a:r>
            <a:endParaRPr lang="en-US" altLang="zh-CN" sz="1800" dirty="0"/>
          </a:p>
          <a:p>
            <a:r>
              <a:rPr lang="zh-CN" altLang="en-US" sz="1800" dirty="0"/>
              <a:t>记录 “工作大小”</a:t>
            </a:r>
            <a:endParaRPr lang="en-US" sz="1800" dirty="0"/>
          </a:p>
          <a:p>
            <a:pPr lvl="1"/>
            <a:r>
              <a:rPr lang="zh-CN" altLang="en-US" sz="1800" dirty="0"/>
              <a:t>代码行数是唯一的衡量</a:t>
            </a:r>
            <a:r>
              <a:rPr lang="en-US" sz="1800" dirty="0"/>
              <a:t>? </a:t>
            </a:r>
          </a:p>
          <a:p>
            <a:pPr lvl="1"/>
            <a:r>
              <a:rPr lang="zh-CN" altLang="en-US" sz="1800" dirty="0"/>
              <a:t>重用代码，用别人的类库 </a:t>
            </a:r>
            <a:r>
              <a:rPr lang="en-US" altLang="zh-CN" sz="1800" dirty="0"/>
              <a:t>vs. </a:t>
            </a:r>
            <a:r>
              <a:rPr lang="zh-CN" altLang="en-US" sz="1800" dirty="0"/>
              <a:t>自己从头写</a:t>
            </a:r>
            <a:r>
              <a:rPr lang="en-US" sz="1800" dirty="0"/>
              <a:t> </a:t>
            </a:r>
          </a:p>
          <a:p>
            <a:pPr lvl="1"/>
            <a:r>
              <a:rPr lang="zh-CN" altLang="en-US" sz="1800" dirty="0"/>
              <a:t>开发者删除了</a:t>
            </a:r>
            <a:r>
              <a:rPr lang="en-US" altLang="zh-CN" sz="1800" dirty="0"/>
              <a:t>2000</a:t>
            </a:r>
            <a:r>
              <a:rPr lang="zh-CN" altLang="en-US" sz="1800" dirty="0"/>
              <a:t>行有问题的代码，他的绩效如何？</a:t>
            </a:r>
            <a:endParaRPr lang="en-US" sz="1800" dirty="0"/>
          </a:p>
          <a:p>
            <a:r>
              <a:rPr lang="zh-CN" altLang="en-US" sz="1800" dirty="0"/>
              <a:t>衡量最终的结果么</a:t>
            </a:r>
            <a:r>
              <a:rPr lang="en-US" sz="1800" dirty="0"/>
              <a:t>?</a:t>
            </a:r>
          </a:p>
          <a:p>
            <a:pPr lvl="1"/>
            <a:r>
              <a:rPr lang="zh-CN" altLang="en-US" sz="1800" dirty="0"/>
              <a:t>目前衡量了工程师如何有效地实现了软件需求</a:t>
            </a:r>
            <a:endParaRPr lang="en-US" sz="1800" dirty="0"/>
          </a:p>
          <a:p>
            <a:pPr lvl="1"/>
            <a:r>
              <a:rPr lang="zh-CN" altLang="en-US" sz="1800" dirty="0"/>
              <a:t>但是</a:t>
            </a:r>
            <a:r>
              <a:rPr lang="zh-CN" altLang="en-US" sz="1800" b="1" dirty="0"/>
              <a:t>没有 </a:t>
            </a:r>
            <a:r>
              <a:rPr lang="zh-CN" altLang="en-US" sz="1800" dirty="0"/>
              <a:t>衡量用户是否对产品满意</a:t>
            </a:r>
            <a:r>
              <a:rPr lang="en-US" sz="1800" dirty="0"/>
              <a:t>.</a:t>
            </a:r>
          </a:p>
          <a:p>
            <a:pPr lvl="2"/>
            <a:r>
              <a:rPr lang="en-US" altLang="zh-CN" sz="1400" dirty="0"/>
              <a:t>Windows 8 </a:t>
            </a:r>
            <a:r>
              <a:rPr lang="zh-CN" altLang="en-US" sz="1400" dirty="0"/>
              <a:t>把 “开始” 按钮取消了， 工程师完美地执行了任务， 用户满意么？</a:t>
            </a:r>
            <a:r>
              <a:rPr lang="en-US" sz="1400" dirty="0"/>
              <a: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2000"/>
                                        <p:tgtEl>
                                          <p:spTgt spid="2">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2000"/>
                                        <p:tgtEl>
                                          <p:spTgt spid="2">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2000"/>
                                        <p:tgtEl>
                                          <p:spTgt spid="2">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2000"/>
                                        <p:tgtEl>
                                          <p:spTgt spid="2">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fade">
                                      <p:cBhvr>
                                        <p:cTn id="40" dur="2000"/>
                                        <p:tgtEl>
                                          <p:spTgt spid="2">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2000"/>
                                        <p:tgtEl>
                                          <p:spTgt spid="2">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2000"/>
                                        <p:tgtEl>
                                          <p:spTgt spid="2">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fade">
                                      <p:cBhvr>
                                        <p:cTn id="49" dur="2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200" dirty="0"/>
              <a:t>PSP data (</a:t>
            </a:r>
            <a:r>
              <a:rPr lang="zh-CN" altLang="en-US" sz="3200" dirty="0"/>
              <a:t>大三学生 </a:t>
            </a:r>
            <a:r>
              <a:rPr lang="en-US" altLang="zh-CN" sz="3200" dirty="0"/>
              <a:t>vs. </a:t>
            </a:r>
            <a:r>
              <a:rPr lang="zh-CN" altLang="en-US" sz="3200" dirty="0"/>
              <a:t>工作三年的工程师）</a:t>
            </a:r>
            <a:endParaRPr lang="en-US" sz="3200" dirty="0"/>
          </a:p>
        </p:txBody>
      </p:sp>
      <p:pic>
        <p:nvPicPr>
          <p:cNvPr id="4" name="Content Placeholder 3"/>
          <p:cNvPicPr>
            <a:picLocks noGrp="1" noChangeAspect="1"/>
          </p:cNvPicPr>
          <p:nvPr>
            <p:ph idx="1"/>
          </p:nvPr>
        </p:nvPicPr>
        <p:blipFill>
          <a:blip r:embed="rId2"/>
          <a:stretch>
            <a:fillRect/>
          </a:stretch>
        </p:blipFill>
        <p:spPr>
          <a:xfrm>
            <a:off x="3082987" y="1752601"/>
            <a:ext cx="6026026" cy="4625975"/>
          </a:xfrm>
          <a:prstGeom prst="rect">
            <a:avLst/>
          </a:prstGeom>
        </p:spPr>
      </p:pic>
    </p:spTree>
    <p:extLst>
      <p:ext uri="{BB962C8B-B14F-4D97-AF65-F5344CB8AC3E}">
        <p14:creationId xmlns:p14="http://schemas.microsoft.com/office/powerpoint/2010/main" val="2230343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续表</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981200" y="2813111"/>
            <a:ext cx="8229600" cy="2549769"/>
          </a:xfrm>
          <a:prstGeom prst="rect">
            <a:avLst/>
          </a:prstGeom>
        </p:spPr>
      </p:pic>
    </p:spTree>
    <p:extLst>
      <p:ext uri="{BB962C8B-B14F-4D97-AF65-F5344CB8AC3E}">
        <p14:creationId xmlns:p14="http://schemas.microsoft.com/office/powerpoint/2010/main" val="164077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大三 </a:t>
            </a:r>
            <a:r>
              <a:rPr lang="en-US" altLang="zh-CN" b="0" dirty="0"/>
              <a:t>vs. </a:t>
            </a:r>
            <a:r>
              <a:rPr lang="zh-CN" altLang="en-US" b="0" dirty="0"/>
              <a:t>研究生毕业</a:t>
            </a:r>
            <a:r>
              <a:rPr lang="en-US" altLang="zh-CN" b="0" dirty="0"/>
              <a:t>+</a:t>
            </a:r>
            <a:r>
              <a:rPr lang="zh-CN" altLang="en-US" b="0" dirty="0"/>
              <a:t>工作三年</a:t>
            </a:r>
            <a:endParaRPr lang="en-US" b="0" dirty="0"/>
          </a:p>
        </p:txBody>
      </p:sp>
      <p:sp>
        <p:nvSpPr>
          <p:cNvPr id="3" name="Content Placeholder 2"/>
          <p:cNvSpPr>
            <a:spLocks noGrp="1"/>
          </p:cNvSpPr>
          <p:nvPr>
            <p:ph idx="1"/>
          </p:nvPr>
        </p:nvSpPr>
        <p:spPr/>
        <p:txBody>
          <a:bodyPr>
            <a:normAutofit/>
          </a:bodyPr>
          <a:lstStyle/>
          <a:p>
            <a:pPr marL="118872" indent="0">
              <a:buNone/>
            </a:pPr>
            <a:r>
              <a:rPr lang="zh-CN" altLang="en-US" sz="2000" dirty="0"/>
              <a:t>软件工程师比大四学生多读了 </a:t>
            </a:r>
            <a:r>
              <a:rPr lang="en-US" altLang="zh-CN" sz="2000" dirty="0"/>
              <a:t>3 </a:t>
            </a:r>
            <a:r>
              <a:rPr lang="zh-CN" altLang="en-US" sz="2000" dirty="0"/>
              <a:t>年书</a:t>
            </a:r>
            <a:r>
              <a:rPr lang="en-US" altLang="zh-CN" sz="2000" dirty="0"/>
              <a:t>, </a:t>
            </a:r>
            <a:r>
              <a:rPr lang="zh-CN" altLang="en-US" sz="2000" dirty="0"/>
              <a:t>多工作了</a:t>
            </a:r>
            <a:r>
              <a:rPr lang="en-US" altLang="zh-CN" sz="2000" dirty="0"/>
              <a:t>3 </a:t>
            </a:r>
            <a:r>
              <a:rPr lang="zh-CN" altLang="en-US" sz="2000" dirty="0"/>
              <a:t>年，两类人任务的质量要求也不一样。</a:t>
            </a:r>
            <a:endParaRPr lang="en-US" altLang="zh-CN" sz="2000" dirty="0"/>
          </a:p>
          <a:p>
            <a:r>
              <a:rPr lang="zh-CN" altLang="en-US" sz="2000" dirty="0"/>
              <a:t>工程师在 “需求分析” 和 “测试” 这两方面明显地要花更多的时间（多 </a:t>
            </a:r>
            <a:r>
              <a:rPr lang="en-US" altLang="zh-CN" sz="2000" dirty="0"/>
              <a:t>60% </a:t>
            </a:r>
            <a:r>
              <a:rPr lang="zh-CN" altLang="en-US" sz="2000" dirty="0"/>
              <a:t>以上）；但是在具体编码上</a:t>
            </a:r>
            <a:r>
              <a:rPr lang="en-US" altLang="zh-CN" sz="2000" dirty="0"/>
              <a:t>, </a:t>
            </a:r>
            <a:r>
              <a:rPr lang="zh-CN" altLang="en-US" sz="2000" dirty="0"/>
              <a:t>工程师比学生 要少花</a:t>
            </a:r>
            <a:r>
              <a:rPr lang="en-US" altLang="zh-CN" sz="2000" dirty="0"/>
              <a:t>1/3 </a:t>
            </a:r>
            <a:r>
              <a:rPr lang="zh-CN" altLang="en-US" sz="2000" dirty="0"/>
              <a:t>强的时间。</a:t>
            </a:r>
            <a:endParaRPr lang="en-US" altLang="zh-CN" sz="2000" dirty="0"/>
          </a:p>
          <a:p>
            <a:r>
              <a:rPr lang="zh-CN" altLang="en-US" sz="2000" dirty="0"/>
              <a:t>显然</a:t>
            </a:r>
            <a:r>
              <a:rPr lang="en-US" altLang="zh-CN" sz="2000" dirty="0"/>
              <a:t>, </a:t>
            </a:r>
            <a:r>
              <a:rPr lang="zh-CN" altLang="en-US" sz="2000" dirty="0"/>
              <a:t>从学生到职业程序员</a:t>
            </a:r>
            <a:r>
              <a:rPr lang="en-US" altLang="zh-CN" sz="2000" dirty="0"/>
              <a:t>, </a:t>
            </a:r>
            <a:r>
              <a:rPr lang="zh-CN" altLang="en-US" sz="2000" dirty="0"/>
              <a:t>并不是更加没完没了地写程序</a:t>
            </a:r>
            <a:r>
              <a:rPr lang="en-US" altLang="zh-CN" sz="2000" dirty="0"/>
              <a:t>——</a:t>
            </a:r>
            <a:r>
              <a:rPr lang="zh-CN" altLang="en-US" sz="2000" dirty="0"/>
              <a:t>花在写代码上的时间反而少了许多。</a:t>
            </a:r>
            <a:endParaRPr lang="en-US" altLang="zh-CN" sz="2000" dirty="0"/>
          </a:p>
          <a:p>
            <a:endParaRPr lang="en-US" sz="2000" dirty="0"/>
          </a:p>
          <a:p>
            <a:pPr marL="118872" indent="0">
              <a:buNone/>
            </a:pPr>
            <a:r>
              <a:rPr lang="zh-CN" altLang="en-US" sz="2000" dirty="0"/>
              <a:t>请同学们汇报自己在写个人项目时候的时间分布，发布到博客上。</a:t>
            </a:r>
            <a:endParaRPr lang="en-US" sz="2000" dirty="0"/>
          </a:p>
        </p:txBody>
      </p:sp>
    </p:spTree>
    <p:extLst>
      <p:ext uri="{BB962C8B-B14F-4D97-AF65-F5344CB8AC3E}">
        <p14:creationId xmlns:p14="http://schemas.microsoft.com/office/powerpoint/2010/main" val="303877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 </a:t>
            </a:r>
            <a:r>
              <a:rPr lang="en-US" altLang="zh-CN" dirty="0"/>
              <a:t>(cont.)</a:t>
            </a:r>
            <a:endParaRPr lang="en-US" dirty="0"/>
          </a:p>
        </p:txBody>
      </p:sp>
      <p:sp>
        <p:nvSpPr>
          <p:cNvPr id="2" name="Content Placeholder 1"/>
          <p:cNvSpPr>
            <a:spLocks noGrp="1"/>
          </p:cNvSpPr>
          <p:nvPr>
            <p:ph idx="1"/>
          </p:nvPr>
        </p:nvSpPr>
        <p:spPr/>
        <p:txBody>
          <a:bodyPr>
            <a:normAutofit/>
          </a:bodyPr>
          <a:lstStyle/>
          <a:p>
            <a:r>
              <a:rPr lang="zh-CN" altLang="en-US" sz="2200" dirty="0"/>
              <a:t>考虑下面的情况</a:t>
            </a:r>
            <a:endParaRPr lang="en-US" altLang="zh-CN" sz="2200" dirty="0"/>
          </a:p>
          <a:p>
            <a:pPr lvl="1"/>
            <a:r>
              <a:rPr lang="zh-CN" altLang="en-US" sz="2200" dirty="0"/>
              <a:t>一群人把一堆砖头从</a:t>
            </a:r>
            <a:r>
              <a:rPr lang="en-US" altLang="zh-CN" sz="2200" dirty="0"/>
              <a:t>A</a:t>
            </a:r>
            <a:r>
              <a:rPr lang="zh-CN" altLang="en-US" sz="2200" dirty="0"/>
              <a:t>地搬到</a:t>
            </a:r>
            <a:r>
              <a:rPr lang="en-US" altLang="zh-CN" sz="2200" dirty="0"/>
              <a:t>B</a:t>
            </a:r>
            <a:r>
              <a:rPr lang="zh-CN" altLang="en-US" sz="2200" dirty="0"/>
              <a:t>地。</a:t>
            </a:r>
            <a:endParaRPr lang="en-US" altLang="zh-CN" sz="2200" dirty="0"/>
          </a:p>
          <a:p>
            <a:pPr lvl="1"/>
            <a:r>
              <a:rPr lang="zh-CN" altLang="en-US" sz="2200" dirty="0"/>
              <a:t>一个剧组排演话剧</a:t>
            </a:r>
            <a:endParaRPr lang="en-US" altLang="zh-CN" sz="2200" dirty="0"/>
          </a:p>
          <a:p>
            <a:pPr lvl="1"/>
            <a:r>
              <a:rPr lang="zh-CN" altLang="en-US" sz="2200" dirty="0"/>
              <a:t>一群画家一起创作 </a:t>
            </a:r>
            <a:r>
              <a:rPr lang="en-US" altLang="zh-CN" sz="2200" dirty="0"/>
              <a:t>“</a:t>
            </a:r>
            <a:r>
              <a:rPr lang="zh-CN" altLang="en-US" sz="2200" dirty="0"/>
              <a:t>百里长城图”</a:t>
            </a:r>
            <a:endParaRPr lang="en-US" altLang="zh-CN" sz="2200" dirty="0"/>
          </a:p>
          <a:p>
            <a:pPr lvl="1"/>
            <a:r>
              <a:rPr lang="zh-CN" altLang="en-US" sz="2200" dirty="0"/>
              <a:t>一群队员在职业球队踢球</a:t>
            </a:r>
            <a:endParaRPr lang="en-US" altLang="zh-CN" sz="2200" dirty="0"/>
          </a:p>
          <a:p>
            <a:pPr lvl="1"/>
            <a:r>
              <a:rPr lang="zh-CN" altLang="en-US" sz="2200" dirty="0"/>
              <a:t>一群医生</a:t>
            </a:r>
            <a:r>
              <a:rPr lang="en-US" altLang="zh-CN" sz="2200" dirty="0"/>
              <a:t>/</a:t>
            </a:r>
            <a:r>
              <a:rPr lang="zh-CN" altLang="en-US" sz="2200" dirty="0"/>
              <a:t>护士轮流值夜班</a:t>
            </a:r>
            <a:endParaRPr lang="en-US" altLang="zh-CN" sz="2200" dirty="0"/>
          </a:p>
          <a:p>
            <a:pPr lvl="1"/>
            <a:r>
              <a:rPr lang="zh-CN" altLang="en-US" sz="2200" dirty="0"/>
              <a:t>一群老师教一个系中不同的课</a:t>
            </a:r>
            <a:endParaRPr lang="en-US" altLang="zh-CN" sz="2200" dirty="0"/>
          </a:p>
          <a:p>
            <a:pPr lvl="1"/>
            <a:r>
              <a:rPr lang="zh-CN" altLang="en-US" sz="2200" dirty="0"/>
              <a:t>一群学生做软工项目</a:t>
            </a:r>
            <a:endParaRPr lang="en-US" altLang="zh-CN" sz="2200" dirty="0"/>
          </a:p>
          <a:p>
            <a:pPr>
              <a:buNone/>
            </a:pPr>
            <a:endParaRPr lang="en-US" altLang="zh-CN" sz="2400" dirty="0"/>
          </a:p>
          <a:p>
            <a:pPr>
              <a:buNone/>
            </a:pPr>
            <a:r>
              <a:rPr lang="zh-CN" altLang="en-US" sz="2400" dirty="0"/>
              <a:t>如何衡量个人在各自团队的效率？</a:t>
            </a:r>
            <a:br>
              <a:rPr lang="zh-CN" altLang="en-US" sz="2400" dirty="0"/>
            </a:b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20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20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2000"/>
                                        <p:tgtEl>
                                          <p:spTgt spid="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20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20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 </a:t>
            </a:r>
            <a:r>
              <a:rPr lang="en-US" altLang="zh-CN" dirty="0"/>
              <a:t>(cont.)</a:t>
            </a:r>
            <a:endParaRPr lang="en-US" dirty="0"/>
          </a:p>
        </p:txBody>
      </p:sp>
      <p:sp>
        <p:nvSpPr>
          <p:cNvPr id="2" name="Content Placeholder 1"/>
          <p:cNvSpPr>
            <a:spLocks noGrp="1"/>
          </p:cNvSpPr>
          <p:nvPr>
            <p:ph idx="1"/>
          </p:nvPr>
        </p:nvSpPr>
        <p:spPr/>
        <p:txBody>
          <a:bodyPr>
            <a:normAutofit/>
          </a:bodyPr>
          <a:lstStyle/>
          <a:p>
            <a:r>
              <a:rPr lang="en-US" altLang="zh-CN" sz="2200" dirty="0"/>
              <a:t>How do you measure creativity?</a:t>
            </a:r>
          </a:p>
          <a:p>
            <a:pPr lvl="1"/>
            <a:r>
              <a:rPr lang="zh-CN" altLang="en-US" sz="2000" dirty="0"/>
              <a:t>写诗歌最多的人是谁</a:t>
            </a:r>
            <a:r>
              <a:rPr lang="en-US" altLang="zh-CN" sz="2000" dirty="0"/>
              <a:t>? </a:t>
            </a:r>
          </a:p>
          <a:p>
            <a:pPr lvl="1"/>
            <a:r>
              <a:rPr lang="zh-CN" altLang="en-US" sz="2000" dirty="0"/>
              <a:t>最有创造力的诗人是谁</a:t>
            </a:r>
            <a:r>
              <a:rPr lang="en-US" altLang="zh-CN" sz="2000" dirty="0"/>
              <a:t>? </a:t>
            </a:r>
          </a:p>
          <a:p>
            <a:r>
              <a:rPr lang="en-US" altLang="zh-CN" sz="2200" dirty="0"/>
              <a:t>Is software Art or Engineering?</a:t>
            </a:r>
          </a:p>
          <a:p>
            <a:pPr lvl="1"/>
            <a:r>
              <a:rPr lang="en-US" altLang="zh-CN" sz="2000" dirty="0"/>
              <a:t>How do you measure an Artist?  </a:t>
            </a:r>
          </a:p>
          <a:p>
            <a:pPr lvl="1"/>
            <a:r>
              <a:rPr lang="en-US" altLang="zh-CN" sz="2000" dirty="0"/>
              <a:t>“Gone with the Wind”   by </a:t>
            </a:r>
            <a:r>
              <a:rPr lang="en-US" sz="2000" dirty="0">
                <a:hlinkClick r:id="rId3" action="ppaction://hlinkfile" tooltip="Margaret Mitchell"/>
              </a:rPr>
              <a:t>Margaret Mitchell</a:t>
            </a:r>
            <a:r>
              <a:rPr lang="en-US" altLang="zh-CN" sz="2000" dirty="0"/>
              <a:t>;  </a:t>
            </a:r>
          </a:p>
          <a:p>
            <a:pPr lvl="1"/>
            <a:r>
              <a:rPr lang="en-US" altLang="zh-CN" sz="2000" dirty="0"/>
              <a:t>&lt;</a:t>
            </a:r>
            <a:r>
              <a:rPr lang="zh-CN" altLang="en-US" sz="2000" dirty="0"/>
              <a:t>红楼梦</a:t>
            </a:r>
            <a:r>
              <a:rPr lang="en-US" altLang="zh-CN" sz="2000" dirty="0"/>
              <a:t>&gt; by </a:t>
            </a:r>
            <a:r>
              <a:rPr lang="zh-CN" altLang="en-US" sz="2000" dirty="0"/>
              <a:t>曹雪芹</a:t>
            </a: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2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Art vs. Follow the rules</a:t>
            </a:r>
            <a:endParaRPr lang="en-US" dirty="0"/>
          </a:p>
        </p:txBody>
      </p:sp>
      <p:sp>
        <p:nvSpPr>
          <p:cNvPr id="3" name="Content Placeholder 2"/>
          <p:cNvSpPr>
            <a:spLocks noGrp="1"/>
          </p:cNvSpPr>
          <p:nvPr>
            <p:ph idx="1"/>
          </p:nvPr>
        </p:nvSpPr>
        <p:spPr/>
        <p:txBody>
          <a:bodyPr>
            <a:normAutofit fontScale="62500" lnSpcReduction="20000"/>
          </a:bodyPr>
          <a:lstStyle/>
          <a:p>
            <a:pPr>
              <a:lnSpc>
                <a:spcPct val="120000"/>
              </a:lnSpc>
              <a:buNone/>
            </a:pPr>
            <a:r>
              <a:rPr lang="zh-CN" altLang="en-US" sz="2400" dirty="0">
                <a:latin typeface="Microsoft YaHei" pitchFamily="34" charset="-122"/>
                <a:ea typeface="Microsoft YaHei" pitchFamily="34" charset="-122"/>
              </a:rPr>
              <a:t>念奴娇 </a:t>
            </a:r>
            <a:r>
              <a:rPr lang="en-US" altLang="zh-CN" sz="2400" dirty="0">
                <a:latin typeface="Microsoft YaHei" pitchFamily="34" charset="-122"/>
                <a:ea typeface="Microsoft YaHei" pitchFamily="34" charset="-122"/>
              </a:rPr>
              <a:t>· </a:t>
            </a:r>
            <a:r>
              <a:rPr lang="zh-CN" altLang="en-US" sz="2400" dirty="0">
                <a:latin typeface="Microsoft YaHei" pitchFamily="34" charset="-122"/>
                <a:ea typeface="Microsoft YaHei" pitchFamily="34" charset="-122"/>
              </a:rPr>
              <a:t>赤壁怀古 </a:t>
            </a:r>
            <a:br>
              <a:rPr lang="zh-CN" altLang="en-US" dirty="0">
                <a:latin typeface="Microsoft YaHei" pitchFamily="34" charset="-122"/>
                <a:ea typeface="Microsoft YaHei" pitchFamily="34" charset="-122"/>
              </a:rPr>
            </a:br>
            <a:br>
              <a:rPr lang="zh-CN" altLang="en-US"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大江东去，浪淘尽，</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千古风流人物。</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故垒西边，人道是，三国周郎赤壁。</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乱石崩云，惊涛裂岸，卷起千堆雪。</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江山如画，一时多少豪杰。</a:t>
            </a:r>
            <a:br>
              <a:rPr lang="zh-CN" altLang="en-US" sz="2200" dirty="0">
                <a:latin typeface="Microsoft YaHei" pitchFamily="34" charset="-122"/>
                <a:ea typeface="Microsoft YaHei" pitchFamily="34" charset="-122"/>
              </a:rPr>
            </a:b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遥想公谨当年，小乔初嫁了。</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羽扇纶巾，谈笑间，樯橹灰飞烟灭。</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故国神游，多情应笑我，早生华发。</a:t>
            </a:r>
            <a:br>
              <a:rPr lang="zh-CN" altLang="en-US" sz="2200" dirty="0">
                <a:latin typeface="Microsoft YaHei" pitchFamily="34" charset="-122"/>
                <a:ea typeface="Microsoft YaHei" pitchFamily="34" charset="-122"/>
              </a:rPr>
            </a:br>
            <a:r>
              <a:rPr lang="zh-CN" altLang="en-US" sz="2200" dirty="0">
                <a:latin typeface="Microsoft YaHei" pitchFamily="34" charset="-122"/>
                <a:ea typeface="Microsoft YaHei" pitchFamily="34" charset="-122"/>
              </a:rPr>
              <a:t>人生如梦，一樽还酹江月。</a:t>
            </a:r>
            <a:endParaRPr lang="en-US" altLang="zh-CN" sz="2200" dirty="0">
              <a:latin typeface="Microsoft YaHei" pitchFamily="34" charset="-122"/>
              <a:ea typeface="Microsoft YaHei" pitchFamily="34" charset="-122"/>
            </a:endParaRPr>
          </a:p>
          <a:p>
            <a:pPr>
              <a:lnSpc>
                <a:spcPct val="120000"/>
              </a:lnSpc>
              <a:buNone/>
            </a:pPr>
            <a:r>
              <a:rPr lang="en-US" altLang="zh-CN" sz="2200" dirty="0"/>
              <a:t>-----------------</a:t>
            </a:r>
          </a:p>
          <a:p>
            <a:pPr>
              <a:lnSpc>
                <a:spcPct val="120000"/>
              </a:lnSpc>
              <a:buNone/>
            </a:pPr>
            <a:r>
              <a:rPr lang="zh-CN" altLang="en-US" sz="2200" dirty="0"/>
              <a:t>找出上面重复的字</a:t>
            </a:r>
            <a:endParaRPr lang="en-US" altLang="zh-CN" sz="2200" dirty="0"/>
          </a:p>
          <a:p>
            <a:pPr>
              <a:lnSpc>
                <a:spcPct val="120000"/>
              </a:lnSpc>
              <a:buNone/>
            </a:pPr>
            <a:r>
              <a:rPr lang="en-US" altLang="zh-CN" sz="2200" dirty="0"/>
              <a:t>-----------------</a:t>
            </a:r>
          </a:p>
          <a:p>
            <a:pPr>
              <a:lnSpc>
                <a:spcPct val="120000"/>
              </a:lnSpc>
              <a:buNone/>
            </a:pPr>
            <a:r>
              <a:rPr lang="en-US" altLang="zh-CN" sz="2200" dirty="0"/>
              <a:t>[</a:t>
            </a:r>
            <a:r>
              <a:rPr lang="zh-CN" altLang="en-US" sz="2200" dirty="0"/>
              <a:t>南宋</a:t>
            </a:r>
            <a:r>
              <a:rPr lang="en-US" altLang="zh-CN" sz="2200" dirty="0"/>
              <a:t>]</a:t>
            </a:r>
            <a:r>
              <a:rPr lang="zh-CN" altLang="en-US" sz="2200" dirty="0"/>
              <a:t>俞文豹：今人看人文字，未论其大体如何，先且指点重字。 </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is SE</a:t>
            </a:r>
            <a:endParaRPr lang="en-US" dirty="0"/>
          </a:p>
        </p:txBody>
      </p:sp>
      <p:sp>
        <p:nvSpPr>
          <p:cNvPr id="3" name="Content Placeholder 2"/>
          <p:cNvSpPr>
            <a:spLocks noGrp="1"/>
          </p:cNvSpPr>
          <p:nvPr>
            <p:ph idx="1"/>
          </p:nvPr>
        </p:nvSpPr>
        <p:spPr/>
        <p:txBody>
          <a:bodyPr>
            <a:normAutofit fontScale="85000" lnSpcReduction="20000"/>
          </a:bodyPr>
          <a:lstStyle/>
          <a:p>
            <a:r>
              <a:rPr lang="en-US" altLang="zh-CN" dirty="0"/>
              <a:t>Which role is corresponding to software engineer?</a:t>
            </a:r>
          </a:p>
          <a:p>
            <a:pPr lvl="1"/>
            <a:r>
              <a:rPr lang="zh-CN" altLang="en-US" dirty="0">
                <a:latin typeface="Microsoft YaHei" pitchFamily="34" charset="-122"/>
                <a:ea typeface="Microsoft YaHei" pitchFamily="34" charset="-122"/>
              </a:rPr>
              <a:t>房地产老板</a:t>
            </a:r>
            <a:endParaRPr lang="en-US" altLang="zh-CN" dirty="0">
              <a:latin typeface="Microsoft YaHei" pitchFamily="34" charset="-122"/>
              <a:ea typeface="Microsoft YaHei" pitchFamily="34" charset="-122"/>
            </a:endParaRPr>
          </a:p>
          <a:p>
            <a:pPr lvl="2"/>
            <a:r>
              <a:rPr lang="zh-CN" altLang="en-US" dirty="0">
                <a:latin typeface="Microsoft YaHei" pitchFamily="34" charset="-122"/>
                <a:ea typeface="Microsoft YaHei" pitchFamily="34" charset="-122"/>
              </a:rPr>
              <a:t>投标，买地</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建筑设计师</a:t>
            </a:r>
            <a:endParaRPr lang="en-US" altLang="zh-CN" dirty="0">
              <a:latin typeface="Microsoft YaHei" pitchFamily="34" charset="-122"/>
              <a:ea typeface="Microsoft YaHei" pitchFamily="34" charset="-122"/>
            </a:endParaRPr>
          </a:p>
          <a:p>
            <a:pPr lvl="2"/>
            <a:r>
              <a:rPr lang="zh-CN" altLang="en-US" dirty="0">
                <a:latin typeface="Microsoft YaHei" pitchFamily="34" charset="-122"/>
                <a:ea typeface="Microsoft YaHei" pitchFamily="34" charset="-122"/>
              </a:rPr>
              <a:t>设计建筑</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土木工程师</a:t>
            </a:r>
            <a:endParaRPr lang="en-US" altLang="zh-CN" dirty="0">
              <a:latin typeface="Microsoft YaHei" pitchFamily="34" charset="-122"/>
              <a:ea typeface="Microsoft YaHei" pitchFamily="34" charset="-122"/>
            </a:endParaRPr>
          </a:p>
          <a:p>
            <a:pPr lvl="2"/>
            <a:r>
              <a:rPr lang="zh-CN" altLang="en-US" dirty="0">
                <a:latin typeface="Microsoft YaHei" pitchFamily="34" charset="-122"/>
                <a:ea typeface="Microsoft YaHei" pitchFamily="34" charset="-122"/>
              </a:rPr>
              <a:t>设计土木结构</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建筑工人</a:t>
            </a:r>
            <a:endParaRPr lang="en-US" altLang="zh-CN" dirty="0">
              <a:latin typeface="Microsoft YaHei" pitchFamily="34" charset="-122"/>
              <a:ea typeface="Microsoft YaHei" pitchFamily="34" charset="-122"/>
            </a:endParaRPr>
          </a:p>
          <a:p>
            <a:pPr lvl="2"/>
            <a:r>
              <a:rPr lang="zh-CN" altLang="en-US" dirty="0">
                <a:latin typeface="Microsoft YaHei" pitchFamily="34" charset="-122"/>
                <a:ea typeface="Microsoft YaHei" pitchFamily="34" charset="-122"/>
              </a:rPr>
              <a:t>具体建设</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工程监理</a:t>
            </a:r>
            <a:endParaRPr lang="en-US" altLang="zh-CN" dirty="0">
              <a:latin typeface="Microsoft YaHei" pitchFamily="34" charset="-122"/>
              <a:ea typeface="Microsoft YaHei" pitchFamily="34" charset="-122"/>
            </a:endParaRPr>
          </a:p>
          <a:p>
            <a:pPr lvl="2"/>
            <a:r>
              <a:rPr lang="zh-CN" altLang="en-US" dirty="0">
                <a:latin typeface="Microsoft YaHei" pitchFamily="34" charset="-122"/>
                <a:ea typeface="Microsoft YaHei" pitchFamily="34" charset="-122"/>
              </a:rPr>
              <a:t>监管质量</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装修工人</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楼房销售</a:t>
            </a:r>
            <a:endParaRPr lang="en-US" altLang="zh-CN" dirty="0">
              <a:latin typeface="Microsoft YaHei" pitchFamily="34" charset="-122"/>
              <a:ea typeface="Microsoft YaHei" pitchFamily="34" charset="-122"/>
            </a:endParaRPr>
          </a:p>
          <a:p>
            <a:pPr lvl="1"/>
            <a:r>
              <a:rPr lang="zh-CN" altLang="en-US" dirty="0">
                <a:latin typeface="Microsoft YaHei" pitchFamily="34" charset="-122"/>
                <a:ea typeface="Microsoft YaHei" pitchFamily="34" charset="-122"/>
              </a:rPr>
              <a:t>楼房中介</a:t>
            </a:r>
            <a:endParaRPr lang="en-US" altLang="zh-CN" dirty="0">
              <a:latin typeface="Microsoft YaHei" pitchFamily="34" charset="-122"/>
              <a:ea typeface="Microsoft YaHei" pitchFamily="34" charset="-122"/>
            </a:endParaRPr>
          </a:p>
          <a:p>
            <a:r>
              <a:rPr lang="en-US" altLang="zh-CN" dirty="0"/>
              <a:t>Should software engineering include elements of art?</a:t>
            </a:r>
            <a:endParaRPr lang="en-US" altLang="zh-CN" dirty="0">
              <a:latin typeface="Microsoft YaHei" pitchFamily="34" charset="-122"/>
              <a:ea typeface="Microsoft YaHei" pitchFamily="34" charset="-122"/>
            </a:endParaRPr>
          </a:p>
        </p:txBody>
      </p:sp>
      <p:sp>
        <p:nvSpPr>
          <p:cNvPr id="4" name="Right Bracket 3"/>
          <p:cNvSpPr/>
          <p:nvPr/>
        </p:nvSpPr>
        <p:spPr>
          <a:xfrm>
            <a:off x="5257800" y="2438400"/>
            <a:ext cx="1188720" cy="25146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705600" y="3352801"/>
            <a:ext cx="2819400" cy="646331"/>
          </a:xfrm>
          <a:prstGeom prst="rect">
            <a:avLst/>
          </a:prstGeom>
          <a:noFill/>
        </p:spPr>
        <p:txBody>
          <a:bodyPr wrap="square" rtlCol="0">
            <a:spAutoFit/>
          </a:bodyPr>
          <a:lstStyle/>
          <a:p>
            <a:r>
              <a:rPr lang="zh-CN" altLang="en-US" dirty="0"/>
              <a:t>软件工程师</a:t>
            </a:r>
            <a:r>
              <a:rPr lang="en-US" altLang="zh-CN" dirty="0"/>
              <a:t>/</a:t>
            </a:r>
            <a:r>
              <a:rPr lang="zh-CN" altLang="en-US" dirty="0"/>
              <a:t>码农</a:t>
            </a:r>
            <a:r>
              <a:rPr lang="en-US" altLang="zh-CN" dirty="0"/>
              <a:t> </a:t>
            </a:r>
          </a:p>
          <a:p>
            <a:r>
              <a:rPr lang="zh-CN" altLang="en-US" dirty="0"/>
              <a:t>要做的事情</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20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
                                            <p:txEl>
                                              <p:pRg st="14" end="14"/>
                                            </p:txEl>
                                          </p:spTgt>
                                        </p:tgtEl>
                                        <p:attrNameLst>
                                          <p:attrName>style.visibility</p:attrName>
                                        </p:attrNameLst>
                                      </p:cBhvr>
                                      <p:to>
                                        <p:strVal val="visible"/>
                                      </p:to>
                                    </p:set>
                                    <p:animEffect transition="in" filter="fade">
                                      <p:cBhvr>
                                        <p:cTn id="86"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Pragmatic Approach</a:t>
            </a:r>
          </a:p>
        </p:txBody>
      </p:sp>
      <p:sp>
        <p:nvSpPr>
          <p:cNvPr id="2" name="Content Placeholder 1"/>
          <p:cNvSpPr>
            <a:spLocks noGrp="1"/>
          </p:cNvSpPr>
          <p:nvPr>
            <p:ph idx="1"/>
          </p:nvPr>
        </p:nvSpPr>
        <p:spPr>
          <a:xfrm>
            <a:off x="1981200" y="1600200"/>
            <a:ext cx="4191000" cy="4876800"/>
          </a:xfrm>
        </p:spPr>
        <p:txBody>
          <a:bodyPr>
            <a:noAutofit/>
          </a:bodyPr>
          <a:lstStyle/>
          <a:p>
            <a:r>
              <a:rPr lang="en-US" sz="2000" dirty="0"/>
              <a:t>Book </a:t>
            </a:r>
            <a:r>
              <a:rPr lang="en-US" altLang="zh-CN" sz="2000" dirty="0"/>
              <a:t>-</a:t>
            </a:r>
            <a:r>
              <a:rPr lang="en-US" sz="2000" dirty="0"/>
              <a:t> </a:t>
            </a:r>
            <a:r>
              <a:rPr lang="en-US" altLang="zh-CN" sz="2000" dirty="0"/>
              <a:t>TPP</a:t>
            </a:r>
            <a:endParaRPr lang="en-US" sz="2000" dirty="0"/>
          </a:p>
          <a:p>
            <a:pPr lvl="1"/>
            <a:r>
              <a:rPr lang="en-US" sz="1400" i="1" dirty="0"/>
              <a:t>&lt;the </a:t>
            </a:r>
            <a:r>
              <a:rPr lang="en-US" altLang="zh-CN" sz="1400" i="1" dirty="0"/>
              <a:t>P</a:t>
            </a:r>
            <a:r>
              <a:rPr lang="en-US" sz="1400" i="1" dirty="0"/>
              <a:t>ragmatic Programmer – from Journeyman to Master&gt;</a:t>
            </a:r>
            <a:r>
              <a:rPr lang="en-US" sz="1800" dirty="0"/>
              <a:t> </a:t>
            </a:r>
          </a:p>
          <a:p>
            <a:r>
              <a:rPr lang="en-US" sz="2000" dirty="0"/>
              <a:t>How does TPP guide engineer in:</a:t>
            </a:r>
          </a:p>
          <a:p>
            <a:r>
              <a:rPr lang="en-US" sz="2000" dirty="0"/>
              <a:t>Planning</a:t>
            </a:r>
          </a:p>
          <a:p>
            <a:r>
              <a:rPr lang="en-US" altLang="zh-CN" sz="2000" dirty="0"/>
              <a:t>D</a:t>
            </a:r>
            <a:r>
              <a:rPr lang="en-US" sz="2000" dirty="0"/>
              <a:t>evelopment </a:t>
            </a:r>
          </a:p>
          <a:p>
            <a:pPr lvl="1"/>
            <a:r>
              <a:rPr lang="en-US" altLang="zh-CN" sz="1800" dirty="0"/>
              <a:t>D</a:t>
            </a:r>
            <a:r>
              <a:rPr lang="en-US" sz="1800" dirty="0"/>
              <a:t>esign, </a:t>
            </a:r>
          </a:p>
          <a:p>
            <a:pPr marL="887412" lvl="3" indent="-255588">
              <a:spcBef>
                <a:spcPts val="400"/>
              </a:spcBef>
              <a:buSzPct val="68000"/>
              <a:buFont typeface="Wingdings 3" pitchFamily="18" charset="2"/>
              <a:buChar char=""/>
            </a:pPr>
            <a:r>
              <a:rPr lang="en-US" dirty="0"/>
              <a:t>design review and code review</a:t>
            </a:r>
          </a:p>
          <a:p>
            <a:pPr marL="887412" lvl="3" indent="-255588">
              <a:spcBef>
                <a:spcPts val="400"/>
              </a:spcBef>
              <a:buSzPct val="68000"/>
              <a:buFont typeface="Wingdings 3" pitchFamily="18" charset="2"/>
              <a:buChar char=""/>
            </a:pPr>
            <a:r>
              <a:rPr lang="en-US" dirty="0"/>
              <a:t>coding standard</a:t>
            </a:r>
          </a:p>
          <a:p>
            <a:pPr lvl="1"/>
            <a:r>
              <a:rPr lang="en-US" sz="1800" dirty="0"/>
              <a:t>Coding</a:t>
            </a:r>
          </a:p>
          <a:p>
            <a:pPr lvl="2"/>
            <a:r>
              <a:rPr lang="en-US" altLang="zh-CN" sz="1600" dirty="0"/>
              <a:t>Performance analysis</a:t>
            </a:r>
            <a:endParaRPr lang="en-US" sz="1600" dirty="0"/>
          </a:p>
          <a:p>
            <a:pPr lvl="1"/>
            <a:r>
              <a:rPr lang="en-US" altLang="zh-CN" sz="1800" dirty="0"/>
              <a:t>T</a:t>
            </a:r>
            <a:r>
              <a:rPr lang="en-US" sz="1800" dirty="0"/>
              <a:t>est </a:t>
            </a:r>
          </a:p>
          <a:p>
            <a:r>
              <a:rPr lang="en-US" altLang="zh-CN" sz="2000" dirty="0"/>
              <a:t>P</a:t>
            </a:r>
            <a:r>
              <a:rPr lang="en-US" sz="2000" dirty="0"/>
              <a:t>ostmortem</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1600200"/>
            <a:ext cx="3527474" cy="4495800"/>
          </a:xfrm>
          <a:prstGeom prst="rect">
            <a:avLst/>
          </a:prstGeom>
          <a:noFill/>
          <a:ln>
            <a:noFill/>
          </a:ln>
          <a:effectLst>
            <a:outerShdw blurRad="127000" dist="38100" dir="2700000" sx="105000" sy="105000" algn="tl" rotWithShape="0">
              <a:schemeClr val="tx1">
                <a:lumMod val="50000"/>
                <a:lumOff val="50000"/>
                <a:alpha val="4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b="0" dirty="0"/>
              <a:t>案例：两个工程师的交付</a:t>
            </a:r>
            <a:endParaRPr lang="en-US" b="0" dirty="0"/>
          </a:p>
        </p:txBody>
      </p:sp>
      <p:sp>
        <p:nvSpPr>
          <p:cNvPr id="2" name="Content Placeholder 1"/>
          <p:cNvSpPr>
            <a:spLocks noGrp="1"/>
          </p:cNvSpPr>
          <p:nvPr>
            <p:ph idx="1"/>
          </p:nvPr>
        </p:nvSpPr>
        <p:spPr/>
        <p:txBody>
          <a:bodyPr/>
          <a:lstStyle/>
          <a:p>
            <a:r>
              <a:rPr lang="zh-CN" altLang="en-US" sz="2000" dirty="0"/>
              <a:t>考虑下面两个工程师 </a:t>
            </a:r>
            <a:r>
              <a:rPr lang="en-US" altLang="zh-CN" sz="2000" dirty="0"/>
              <a:t>Al, Bob</a:t>
            </a:r>
            <a:endParaRPr lang="en-US" sz="2000" dirty="0"/>
          </a:p>
          <a:p>
            <a:r>
              <a:rPr lang="zh-CN" altLang="en-US" sz="2000" dirty="0"/>
              <a:t>在任务</a:t>
            </a:r>
            <a:r>
              <a:rPr lang="en-US" altLang="zh-CN" sz="2000" dirty="0"/>
              <a:t>1, 2, 3</a:t>
            </a:r>
            <a:r>
              <a:rPr lang="zh-CN" altLang="en-US" sz="2000" dirty="0"/>
              <a:t>的时候， 两人都估计了</a:t>
            </a:r>
            <a:r>
              <a:rPr lang="en-US" altLang="zh-CN" sz="2000" dirty="0"/>
              <a:t>10</a:t>
            </a:r>
            <a:r>
              <a:rPr lang="zh-CN" altLang="en-US" sz="2000" dirty="0"/>
              <a:t>天。</a:t>
            </a:r>
            <a:endParaRPr lang="en-US" altLang="zh-CN" sz="2000" dirty="0"/>
          </a:p>
          <a:p>
            <a:r>
              <a:rPr lang="zh-CN" altLang="en-US" sz="2000" dirty="0"/>
              <a:t>在任务</a:t>
            </a:r>
            <a:r>
              <a:rPr lang="en-US" altLang="zh-CN" sz="2000" dirty="0"/>
              <a:t>4, 5, 6 </a:t>
            </a:r>
            <a:r>
              <a:rPr lang="zh-CN" altLang="en-US" sz="2000" dirty="0"/>
              <a:t>的时候，</a:t>
            </a:r>
            <a:endParaRPr lang="en-US" sz="2000" dirty="0"/>
          </a:p>
          <a:p>
            <a:pPr>
              <a:buNone/>
            </a:pPr>
            <a:endParaRPr lang="en-US" dirty="0"/>
          </a:p>
          <a:p>
            <a:pPr>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46464362"/>
              </p:ext>
            </p:extLst>
          </p:nvPr>
        </p:nvGraphicFramePr>
        <p:xfrm>
          <a:off x="2514600" y="3997180"/>
          <a:ext cx="7086600" cy="263222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517381">
                <a:tc>
                  <a:txBody>
                    <a:bodyPr/>
                    <a:lstStyle/>
                    <a:p>
                      <a:r>
                        <a:rPr lang="en-US" sz="1600" dirty="0"/>
                        <a:t>Assignment</a:t>
                      </a:r>
                    </a:p>
                  </a:txBody>
                  <a:tcPr/>
                </a:tc>
                <a:tc>
                  <a:txBody>
                    <a:bodyPr/>
                    <a:lstStyle/>
                    <a:p>
                      <a:r>
                        <a:rPr lang="en-US" sz="1600" dirty="0"/>
                        <a:t>Al’s estimation</a:t>
                      </a:r>
                    </a:p>
                  </a:txBody>
                  <a:tcPr/>
                </a:tc>
                <a:tc>
                  <a:txBody>
                    <a:bodyPr/>
                    <a:lstStyle/>
                    <a:p>
                      <a:r>
                        <a:rPr lang="en-US" sz="1600" dirty="0"/>
                        <a:t>Al’s delivery</a:t>
                      </a:r>
                    </a:p>
                  </a:txBody>
                  <a:tcPr/>
                </a:tc>
                <a:tc>
                  <a:txBody>
                    <a:bodyPr/>
                    <a:lstStyle/>
                    <a:p>
                      <a:r>
                        <a:rPr lang="en-US" sz="1600" dirty="0"/>
                        <a:t>Bob’s estimation</a:t>
                      </a:r>
                    </a:p>
                  </a:txBody>
                  <a:tcPr/>
                </a:tc>
                <a:tc>
                  <a:txBody>
                    <a:bodyPr/>
                    <a:lstStyle/>
                    <a:p>
                      <a:r>
                        <a:rPr lang="en-US" sz="1600" dirty="0"/>
                        <a:t>Bob’s delivery</a:t>
                      </a:r>
                    </a:p>
                  </a:txBody>
                  <a:tcPr/>
                </a:tc>
                <a:extLst>
                  <a:ext uri="{0D108BD9-81ED-4DB2-BD59-A6C34878D82A}">
                    <a16:rowId xmlns:a16="http://schemas.microsoft.com/office/drawing/2014/main" val="10000"/>
                  </a:ext>
                </a:extLst>
              </a:tr>
              <a:tr h="513275">
                <a:tc>
                  <a:txBody>
                    <a:bodyPr/>
                    <a:lstStyle/>
                    <a:p>
                      <a:r>
                        <a:rPr lang="en-US" dirty="0"/>
                        <a:t>1,2,</a:t>
                      </a:r>
                      <a:r>
                        <a:rPr lang="en-US" baseline="0" dirty="0"/>
                        <a:t>3</a:t>
                      </a:r>
                      <a:endParaRPr lang="en-US" dirty="0"/>
                    </a:p>
                  </a:txBody>
                  <a:tcPr/>
                </a:tc>
                <a:tc>
                  <a:txBody>
                    <a:bodyPr/>
                    <a:lstStyle/>
                    <a:p>
                      <a:r>
                        <a:rPr lang="en-US" dirty="0"/>
                        <a:t>10</a:t>
                      </a:r>
                      <a:r>
                        <a:rPr lang="en-US" baseline="0" dirty="0"/>
                        <a:t> days</a:t>
                      </a:r>
                      <a:endParaRPr lang="en-US" dirty="0"/>
                    </a:p>
                  </a:txBody>
                  <a:tcPr/>
                </a:tc>
                <a:tc>
                  <a:txBody>
                    <a:bodyPr/>
                    <a:lstStyle/>
                    <a:p>
                      <a:r>
                        <a:rPr lang="en-US" dirty="0"/>
                        <a:t>5,</a:t>
                      </a:r>
                      <a:r>
                        <a:rPr lang="en-US" baseline="0" dirty="0"/>
                        <a:t> 10, 15</a:t>
                      </a:r>
                      <a:endParaRPr lang="en-US" dirty="0"/>
                    </a:p>
                  </a:txBody>
                  <a:tcPr/>
                </a:tc>
                <a:tc>
                  <a:txBody>
                    <a:bodyPr/>
                    <a:lstStyle/>
                    <a:p>
                      <a:r>
                        <a:rPr lang="en-US" dirty="0"/>
                        <a:t>10 day</a:t>
                      </a:r>
                    </a:p>
                  </a:txBody>
                  <a:tcPr/>
                </a:tc>
                <a:tc>
                  <a:txBody>
                    <a:bodyPr/>
                    <a:lstStyle/>
                    <a:p>
                      <a:r>
                        <a:rPr lang="en-US" dirty="0"/>
                        <a:t>5,</a:t>
                      </a:r>
                      <a:r>
                        <a:rPr lang="en-US" baseline="0" dirty="0"/>
                        <a:t> 10, 15</a:t>
                      </a:r>
                      <a:endParaRPr lang="en-US" dirty="0"/>
                    </a:p>
                  </a:txBody>
                  <a:tcPr/>
                </a:tc>
                <a:extLst>
                  <a:ext uri="{0D108BD9-81ED-4DB2-BD59-A6C34878D82A}">
                    <a16:rowId xmlns:a16="http://schemas.microsoft.com/office/drawing/2014/main" val="10001"/>
                  </a:ext>
                </a:extLst>
              </a:tr>
              <a:tr h="513275">
                <a:tc>
                  <a:txBody>
                    <a:bodyPr/>
                    <a:lstStyle/>
                    <a:p>
                      <a:r>
                        <a:rPr lang="en-US" dirty="0"/>
                        <a:t>4,5,6</a:t>
                      </a:r>
                    </a:p>
                  </a:txBody>
                  <a:tcPr/>
                </a:tc>
                <a:tc>
                  <a:txBody>
                    <a:bodyPr/>
                    <a:lstStyle/>
                    <a:p>
                      <a:r>
                        <a:rPr lang="en-US" dirty="0"/>
                        <a:t>7</a:t>
                      </a:r>
                      <a:r>
                        <a:rPr lang="en-US" baseline="0" dirty="0"/>
                        <a:t> days</a:t>
                      </a:r>
                      <a:endParaRPr lang="en-US" dirty="0"/>
                    </a:p>
                  </a:txBody>
                  <a:tcPr/>
                </a:tc>
                <a:tc>
                  <a:txBody>
                    <a:bodyPr/>
                    <a:lstStyle/>
                    <a:p>
                      <a:r>
                        <a:rPr lang="en-US" dirty="0"/>
                        <a:t>1, 9, 11</a:t>
                      </a:r>
                    </a:p>
                  </a:txBody>
                  <a:tcPr/>
                </a:tc>
                <a:tc>
                  <a:txBody>
                    <a:bodyPr/>
                    <a:lstStyle/>
                    <a:p>
                      <a:r>
                        <a:rPr lang="en-US" dirty="0"/>
                        <a:t>8</a:t>
                      </a:r>
                      <a:r>
                        <a:rPr lang="en-US" baseline="0" dirty="0"/>
                        <a:t> days</a:t>
                      </a:r>
                      <a:endParaRPr lang="en-US" dirty="0"/>
                    </a:p>
                  </a:txBody>
                  <a:tcPr/>
                </a:tc>
                <a:tc>
                  <a:txBody>
                    <a:bodyPr/>
                    <a:lstStyle/>
                    <a:p>
                      <a:r>
                        <a:rPr lang="en-US" dirty="0"/>
                        <a:t>7,8,9</a:t>
                      </a:r>
                    </a:p>
                  </a:txBody>
                  <a:tcPr/>
                </a:tc>
                <a:extLst>
                  <a:ext uri="{0D108BD9-81ED-4DB2-BD59-A6C34878D82A}">
                    <a16:rowId xmlns:a16="http://schemas.microsoft.com/office/drawing/2014/main" val="10002"/>
                  </a:ext>
                </a:extLst>
              </a:tr>
              <a:tr h="513275">
                <a:tc>
                  <a:txBody>
                    <a:bodyPr/>
                    <a:lstStyle/>
                    <a:p>
                      <a:endParaRPr lang="en-US" dirty="0"/>
                    </a:p>
                  </a:txBody>
                  <a:tcPr/>
                </a:tc>
                <a:tc>
                  <a:txBody>
                    <a:bodyPr/>
                    <a:lstStyle/>
                    <a:p>
                      <a:endParaRPr lang="en-US" dirty="0"/>
                    </a:p>
                  </a:txBody>
                  <a:tcPr/>
                </a:tc>
                <a:tc>
                  <a:txBody>
                    <a:bodyPr/>
                    <a:lstStyle/>
                    <a:p>
                      <a:r>
                        <a:rPr lang="en-US" dirty="0"/>
                        <a:t>Average = 7</a:t>
                      </a:r>
                    </a:p>
                  </a:txBody>
                  <a:tcPr/>
                </a:tc>
                <a:tc>
                  <a:txBody>
                    <a:bodyPr/>
                    <a:lstStyle/>
                    <a:p>
                      <a:endParaRPr lang="en-US" dirty="0"/>
                    </a:p>
                  </a:txBody>
                  <a:tcPr/>
                </a:tc>
                <a:tc>
                  <a:txBody>
                    <a:bodyPr/>
                    <a:lstStyle/>
                    <a:p>
                      <a:r>
                        <a:rPr lang="en-US" dirty="0"/>
                        <a:t>Average=8</a:t>
                      </a:r>
                    </a:p>
                  </a:txBody>
                  <a:tcPr/>
                </a:tc>
                <a:extLst>
                  <a:ext uri="{0D108BD9-81ED-4DB2-BD59-A6C34878D82A}">
                    <a16:rowId xmlns:a16="http://schemas.microsoft.com/office/drawing/2014/main" val="10003"/>
                  </a:ext>
                </a:extLst>
              </a:tr>
              <a:tr h="513275">
                <a:tc>
                  <a:txBody>
                    <a:bodyPr/>
                    <a:lstStyle/>
                    <a:p>
                      <a:endParaRPr lang="en-US" dirty="0"/>
                    </a:p>
                  </a:txBody>
                  <a:tcPr/>
                </a:tc>
                <a:tc>
                  <a:txBody>
                    <a:bodyPr/>
                    <a:lstStyle/>
                    <a:p>
                      <a:endParaRPr lang="en-US" dirty="0"/>
                    </a:p>
                  </a:txBody>
                  <a:tcPr/>
                </a:tc>
                <a:tc>
                  <a:txBody>
                    <a:bodyPr/>
                    <a:lstStyle/>
                    <a:p>
                      <a:r>
                        <a:rPr lang="en-US" dirty="0" err="1"/>
                        <a:t>StdDev</a:t>
                      </a:r>
                      <a:r>
                        <a:rPr lang="en-US" dirty="0"/>
                        <a:t>=5.3</a:t>
                      </a:r>
                    </a:p>
                  </a:txBody>
                  <a:tcPr/>
                </a:tc>
                <a:tc>
                  <a:txBody>
                    <a:bodyPr/>
                    <a:lstStyle/>
                    <a:p>
                      <a:endParaRPr lang="en-US" dirty="0"/>
                    </a:p>
                  </a:txBody>
                  <a:tcPr/>
                </a:tc>
                <a:tc>
                  <a:txBody>
                    <a:bodyPr/>
                    <a:lstStyle/>
                    <a:p>
                      <a:r>
                        <a:rPr lang="en-US" dirty="0" err="1"/>
                        <a:t>StdDev</a:t>
                      </a:r>
                      <a:r>
                        <a:rPr lang="en-US" dirty="0"/>
                        <a:t>=1</a:t>
                      </a:r>
                    </a:p>
                  </a:txBody>
                  <a:tcPr/>
                </a:tc>
                <a:extLst>
                  <a:ext uri="{0D108BD9-81ED-4DB2-BD59-A6C34878D82A}">
                    <a16:rowId xmlns:a16="http://schemas.microsoft.com/office/drawing/2014/main" val="10004"/>
                  </a:ext>
                </a:extLst>
              </a:tr>
            </a:tbl>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Standard Deviation </a:t>
            </a:r>
            <a:r>
              <a:rPr lang="zh-CN" altLang="en-US" dirty="0"/>
              <a:t>标准差</a:t>
            </a:r>
            <a:endParaRPr lang="en-US" dirty="0"/>
          </a:p>
        </p:txBody>
      </p:sp>
      <p:sp>
        <p:nvSpPr>
          <p:cNvPr id="3" name="Content Placeholder 2"/>
          <p:cNvSpPr>
            <a:spLocks noGrp="1"/>
          </p:cNvSpPr>
          <p:nvPr>
            <p:ph idx="1"/>
          </p:nvPr>
        </p:nvSpPr>
        <p:spPr/>
        <p:txBody>
          <a:bodyPr/>
          <a:lstStyle/>
          <a:p>
            <a:pPr marL="118872" indent="0">
              <a:buNone/>
            </a:pPr>
            <a:r>
              <a:rPr lang="en-US" i="1" dirty="0"/>
              <a:t>Standard deviation is key to the quality of service, and key to build trust.   </a:t>
            </a:r>
          </a:p>
          <a:p>
            <a:pPr marL="274320" lvl="1" indent="0">
              <a:buNone/>
            </a:pPr>
            <a:r>
              <a:rPr lang="en-US" altLang="zh-CN" dirty="0"/>
              <a:t>		- Jack Welch</a:t>
            </a:r>
          </a:p>
          <a:p>
            <a:r>
              <a:rPr lang="en-US" altLang="zh-CN" dirty="0"/>
              <a:t>Estimation/Promise  vs.  Delivery</a:t>
            </a:r>
          </a:p>
          <a:p>
            <a:r>
              <a:rPr lang="zh-CN" altLang="en-US" dirty="0"/>
              <a:t>你交付工作的时候，也是忽快忽慢么？</a:t>
            </a:r>
            <a:endParaRPr lang="en-US" dirty="0"/>
          </a:p>
          <a:p>
            <a:endParaRPr lang="en-US" dirty="0"/>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9925-DD12-440D-8933-ED9C696D74D2}"/>
              </a:ext>
            </a:extLst>
          </p:cNvPr>
          <p:cNvSpPr>
            <a:spLocks noGrp="1"/>
          </p:cNvSpPr>
          <p:nvPr>
            <p:ph type="title"/>
          </p:nvPr>
        </p:nvSpPr>
        <p:spPr/>
        <p:txBody>
          <a:bodyPr/>
          <a:lstStyle/>
          <a:p>
            <a:r>
              <a:rPr lang="zh-CN" altLang="en-US" dirty="0"/>
              <a:t>软件工程师的成长</a:t>
            </a:r>
            <a:endParaRPr lang="en-US" dirty="0"/>
          </a:p>
        </p:txBody>
      </p:sp>
      <p:pic>
        <p:nvPicPr>
          <p:cNvPr id="4" name="Content Placeholder 3">
            <a:extLst>
              <a:ext uri="{FF2B5EF4-FFF2-40B4-BE49-F238E27FC236}">
                <a16:creationId xmlns:a16="http://schemas.microsoft.com/office/drawing/2014/main" id="{A6753D51-0347-49BA-B950-1932ED6F1AAF}"/>
              </a:ext>
            </a:extLst>
          </p:cNvPr>
          <p:cNvPicPr>
            <a:picLocks noGrp="1" noChangeAspect="1"/>
          </p:cNvPicPr>
          <p:nvPr>
            <p:ph idx="1"/>
          </p:nvPr>
        </p:nvPicPr>
        <p:blipFill>
          <a:blip r:embed="rId2"/>
          <a:stretch>
            <a:fillRect/>
          </a:stretch>
        </p:blipFill>
        <p:spPr>
          <a:xfrm>
            <a:off x="2437489" y="1825625"/>
            <a:ext cx="7599597" cy="4351338"/>
          </a:xfrm>
          <a:prstGeom prst="rect">
            <a:avLst/>
          </a:prstGeom>
        </p:spPr>
      </p:pic>
    </p:spTree>
    <p:extLst>
      <p:ext uri="{BB962C8B-B14F-4D97-AF65-F5344CB8AC3E}">
        <p14:creationId xmlns:p14="http://schemas.microsoft.com/office/powerpoint/2010/main" val="961310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A175D-6F43-4530-B64F-FCADB81EBA81}"/>
              </a:ext>
            </a:extLst>
          </p:cNvPr>
          <p:cNvSpPr>
            <a:spLocks noGrp="1"/>
          </p:cNvSpPr>
          <p:nvPr>
            <p:ph type="title"/>
          </p:nvPr>
        </p:nvSpPr>
        <p:spPr/>
        <p:txBody>
          <a:bodyPr/>
          <a:lstStyle/>
          <a:p>
            <a:r>
              <a:rPr lang="zh-CN" altLang="en-US" dirty="0"/>
              <a:t>如何衡量成长</a:t>
            </a:r>
            <a:endParaRPr lang="en-US" dirty="0"/>
          </a:p>
        </p:txBody>
      </p:sp>
      <p:sp>
        <p:nvSpPr>
          <p:cNvPr id="3" name="Content Placeholder 2">
            <a:extLst>
              <a:ext uri="{FF2B5EF4-FFF2-40B4-BE49-F238E27FC236}">
                <a16:creationId xmlns:a16="http://schemas.microsoft.com/office/drawing/2014/main" id="{63E977AD-DCFC-4342-A6FD-6185369E1083}"/>
              </a:ext>
            </a:extLst>
          </p:cNvPr>
          <p:cNvSpPr>
            <a:spLocks noGrp="1"/>
          </p:cNvSpPr>
          <p:nvPr>
            <p:ph idx="1"/>
          </p:nvPr>
        </p:nvSpPr>
        <p:spPr/>
        <p:txBody>
          <a:bodyPr>
            <a:normAutofit fontScale="55000" lnSpcReduction="20000"/>
          </a:bodyPr>
          <a:lstStyle/>
          <a:p>
            <a:pPr>
              <a:lnSpc>
                <a:spcPct val="120000"/>
              </a:lnSpc>
            </a:pPr>
            <a:r>
              <a:rPr lang="en-US" altLang="zh-CN" dirty="0"/>
              <a:t>1.  </a:t>
            </a:r>
            <a:r>
              <a:rPr lang="zh-CN" altLang="en-US" dirty="0"/>
              <a:t>积累软件开发相关的知识，提升技术技能</a:t>
            </a:r>
            <a:endParaRPr lang="en-US" altLang="zh-CN" dirty="0"/>
          </a:p>
          <a:p>
            <a:pPr lvl="1">
              <a:lnSpc>
                <a:spcPct val="120000"/>
              </a:lnSpc>
            </a:pPr>
            <a:r>
              <a:rPr lang="zh-CN" altLang="en-US" dirty="0"/>
              <a:t>（如对具体技术的掌握，动手能力）。例 如：对</a:t>
            </a:r>
            <a:r>
              <a:rPr lang="en-US" altLang="zh-CN" dirty="0"/>
              <a:t>Java</a:t>
            </a:r>
            <a:r>
              <a:rPr lang="zh-CN" altLang="en-US" dirty="0"/>
              <a:t>、</a:t>
            </a:r>
            <a:r>
              <a:rPr lang="en-US" altLang="zh-CN" dirty="0"/>
              <a:t>C/C++</a:t>
            </a:r>
            <a:r>
              <a:rPr lang="zh-CN" altLang="en-US" dirty="0"/>
              <a:t>、</a:t>
            </a:r>
            <a:r>
              <a:rPr lang="en-US" altLang="zh-CN" dirty="0"/>
              <a:t>C#</a:t>
            </a:r>
            <a:r>
              <a:rPr lang="zh-CN" altLang="en-US" dirty="0"/>
              <a:t>的掌握，诊断</a:t>
            </a:r>
            <a:r>
              <a:rPr lang="en-US" altLang="zh-CN" dirty="0"/>
              <a:t>/ </a:t>
            </a:r>
            <a:r>
              <a:rPr lang="zh-CN" altLang="en-US" dirty="0"/>
              <a:t>提高效能的技术，对设备驱动程序（</a:t>
            </a:r>
            <a:r>
              <a:rPr lang="en-US" altLang="zh-CN" dirty="0"/>
              <a:t>Device Driver</a:t>
            </a:r>
            <a:r>
              <a:rPr lang="zh-CN" altLang="en-US" dirty="0"/>
              <a:t>）、 内核调试器（</a:t>
            </a:r>
            <a:r>
              <a:rPr lang="en-US" altLang="zh-CN" dirty="0"/>
              <a:t>Kernel Debugger</a:t>
            </a:r>
            <a:r>
              <a:rPr lang="zh-CN" altLang="en-US" dirty="0"/>
              <a:t>）的掌握；对于某一开发平台的掌握。 </a:t>
            </a:r>
            <a:endParaRPr lang="en-US" altLang="zh-CN" dirty="0"/>
          </a:p>
          <a:p>
            <a:pPr>
              <a:lnSpc>
                <a:spcPct val="120000"/>
              </a:lnSpc>
            </a:pPr>
            <a:r>
              <a:rPr lang="en-US" altLang="zh-CN" dirty="0"/>
              <a:t>2.  </a:t>
            </a:r>
            <a:r>
              <a:rPr lang="zh-CN" altLang="en-US" dirty="0"/>
              <a:t>积累问题领域的知识和经验</a:t>
            </a:r>
            <a:endParaRPr lang="en-US" altLang="zh-CN" dirty="0"/>
          </a:p>
          <a:p>
            <a:pPr lvl="1">
              <a:lnSpc>
                <a:spcPct val="120000"/>
              </a:lnSpc>
            </a:pPr>
            <a:r>
              <a:rPr lang="zh-CN" altLang="en-US" dirty="0"/>
              <a:t>（例如：对游戏、医疗或金融行业的了解）。 第一点和第二点在很多简历上都可以看到，也可以比较容易地检测出来。随着经验的 增长，一个工程师可以掌握更广泛、更深入的技术和问题领域的知识</a:t>
            </a:r>
            <a:endParaRPr lang="en-US" altLang="zh-CN" dirty="0"/>
          </a:p>
          <a:p>
            <a:pPr>
              <a:lnSpc>
                <a:spcPct val="120000"/>
              </a:lnSpc>
            </a:pPr>
            <a:r>
              <a:rPr lang="zh-CN" altLang="en-US" dirty="0"/>
              <a:t> </a:t>
            </a:r>
            <a:r>
              <a:rPr lang="en-US" altLang="zh-CN" dirty="0"/>
              <a:t>3.  </a:t>
            </a:r>
            <a:r>
              <a:rPr lang="zh-CN" altLang="en-US" dirty="0"/>
              <a:t>对通用的软件设计思想和软件工程思想的理解。 </a:t>
            </a:r>
            <a:endParaRPr lang="en-US" altLang="zh-CN" dirty="0"/>
          </a:p>
          <a:p>
            <a:pPr lvl="1">
              <a:lnSpc>
                <a:spcPct val="120000"/>
              </a:lnSpc>
            </a:pPr>
            <a:r>
              <a:rPr lang="zh-CN" altLang="en-US" dirty="0"/>
              <a:t>什么是好的软件设计思想？什么是好的软件工程思想？一个工程 师开了博客，转发了很多别人的文章，这算有思想么？另一个工程师坚持做任何设计 都要画</a:t>
            </a:r>
            <a:r>
              <a:rPr lang="en-US" altLang="zh-CN" dirty="0"/>
              <a:t>UML</a:t>
            </a:r>
            <a:r>
              <a:rPr lang="zh-CN" altLang="en-US" dirty="0"/>
              <a:t>图，这算有思想么？</a:t>
            </a:r>
            <a:endParaRPr lang="en-US" altLang="zh-CN" dirty="0"/>
          </a:p>
          <a:p>
            <a:pPr>
              <a:lnSpc>
                <a:spcPct val="120000"/>
              </a:lnSpc>
            </a:pPr>
            <a:r>
              <a:rPr lang="zh-CN" altLang="en-US" dirty="0"/>
              <a:t> </a:t>
            </a:r>
            <a:r>
              <a:rPr lang="en-US" altLang="zh-CN" dirty="0"/>
              <a:t>4. </a:t>
            </a:r>
            <a:r>
              <a:rPr lang="zh-CN" altLang="en-US" dirty="0"/>
              <a:t>提升职业技能（区别于技术技能）。 </a:t>
            </a:r>
            <a:endParaRPr lang="en-US" altLang="zh-CN" dirty="0"/>
          </a:p>
          <a:p>
            <a:pPr lvl="1">
              <a:lnSpc>
                <a:spcPct val="120000"/>
              </a:lnSpc>
            </a:pPr>
            <a:r>
              <a:rPr lang="zh-CN" altLang="en-US" dirty="0"/>
              <a:t>职业技能包括：自我管理的能力，表达和交流的能力，与人合作的能力，按质按量完 成任务的执行力，这些能力在</a:t>
            </a:r>
            <a:r>
              <a:rPr lang="en-US" altLang="zh-CN" dirty="0"/>
              <a:t>IT</a:t>
            </a:r>
            <a:r>
              <a:rPr lang="zh-CN" altLang="en-US" dirty="0"/>
              <a:t>行业和其他行业都很重要。</a:t>
            </a:r>
            <a:endParaRPr lang="en-US" altLang="zh-CN" dirty="0"/>
          </a:p>
          <a:p>
            <a:pPr>
              <a:lnSpc>
                <a:spcPct val="120000"/>
              </a:lnSpc>
            </a:pPr>
            <a:r>
              <a:rPr lang="zh-CN" altLang="en-US" dirty="0"/>
              <a:t> </a:t>
            </a:r>
            <a:r>
              <a:rPr lang="en-US" altLang="zh-CN" dirty="0"/>
              <a:t>5.  </a:t>
            </a:r>
            <a:r>
              <a:rPr lang="zh-CN" altLang="en-US" dirty="0"/>
              <a:t>实际成果。 </a:t>
            </a:r>
            <a:endParaRPr lang="en-US" altLang="zh-CN" dirty="0"/>
          </a:p>
          <a:p>
            <a:pPr lvl="1">
              <a:lnSpc>
                <a:spcPct val="120000"/>
              </a:lnSpc>
            </a:pPr>
            <a:r>
              <a:rPr lang="zh-CN" altLang="en-US" dirty="0"/>
              <a:t>绝大部分软件工程师的工作成果都是可以公开的，你参与的产品用户评价如何？市场 占有率如何？对用户有多大价值？你在其中起了什么作用？行胜于言，这些实际的工作成果，是最重要的评价标准。</a:t>
            </a:r>
          </a:p>
          <a:p>
            <a:pPr marL="118872" indent="0">
              <a:lnSpc>
                <a:spcPct val="120000"/>
              </a:lnSpc>
              <a:buNone/>
            </a:pPr>
            <a:endParaRPr lang="en-US" dirty="0"/>
          </a:p>
        </p:txBody>
      </p:sp>
    </p:spTree>
    <p:extLst>
      <p:ext uri="{BB962C8B-B14F-4D97-AF65-F5344CB8AC3E}">
        <p14:creationId xmlns:p14="http://schemas.microsoft.com/office/powerpoint/2010/main" val="3142170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026B-2EFE-4060-882A-AE65C0C4D00B}"/>
              </a:ext>
            </a:extLst>
          </p:cNvPr>
          <p:cNvSpPr>
            <a:spLocks noGrp="1"/>
          </p:cNvSpPr>
          <p:nvPr>
            <p:ph type="title"/>
          </p:nvPr>
        </p:nvSpPr>
        <p:spPr/>
        <p:txBody>
          <a:bodyPr>
            <a:normAutofit/>
          </a:bodyPr>
          <a:lstStyle/>
          <a:p>
            <a:r>
              <a:rPr lang="zh-CN" altLang="en-US" dirty="0"/>
              <a:t>我不想做重复性的工作，我要创新！</a:t>
            </a:r>
            <a:endParaRPr lang="en-US" dirty="0"/>
          </a:p>
        </p:txBody>
      </p:sp>
      <p:sp>
        <p:nvSpPr>
          <p:cNvPr id="3" name="Content Placeholder 2">
            <a:extLst>
              <a:ext uri="{FF2B5EF4-FFF2-40B4-BE49-F238E27FC236}">
                <a16:creationId xmlns:a16="http://schemas.microsoft.com/office/drawing/2014/main" id="{82935234-AFFA-4D32-9A17-3F2F59285C68}"/>
              </a:ext>
            </a:extLst>
          </p:cNvPr>
          <p:cNvSpPr>
            <a:spLocks noGrp="1"/>
          </p:cNvSpPr>
          <p:nvPr>
            <p:ph idx="1"/>
          </p:nvPr>
        </p:nvSpPr>
        <p:spPr/>
        <p:txBody>
          <a:bodyPr>
            <a:normAutofit fontScale="77500" lnSpcReduction="20000"/>
          </a:bodyPr>
          <a:lstStyle/>
          <a:p>
            <a:pPr>
              <a:lnSpc>
                <a:spcPct val="120000"/>
              </a:lnSpc>
            </a:pPr>
            <a:r>
              <a:rPr lang="zh-CN" altLang="en-US" dirty="0"/>
              <a:t>软件工程师不能按时交付的原因之一，是他们有时候不满足于“解决目前直接的问题”，而是 想“解决问题背后的问题”，或者“解决通用的、不直接的、但有重大意义的问题”。</a:t>
            </a:r>
            <a:endParaRPr lang="en-US" altLang="zh-CN" dirty="0"/>
          </a:p>
          <a:p>
            <a:pPr>
              <a:lnSpc>
                <a:spcPct val="120000"/>
              </a:lnSpc>
            </a:pPr>
            <a:r>
              <a:rPr lang="zh-CN" altLang="en-US" dirty="0"/>
              <a:t>软件项目的确需要创造性，需要一些意外，一些惊喜。但是，</a:t>
            </a:r>
            <a:r>
              <a:rPr lang="zh-CN" altLang="en-US" b="1" dirty="0"/>
              <a:t>更多的是常规的、可重复的任 务</a:t>
            </a:r>
            <a:endParaRPr lang="en-US" altLang="zh-CN" b="1" dirty="0"/>
          </a:p>
          <a:p>
            <a:pPr>
              <a:lnSpc>
                <a:spcPct val="120000"/>
              </a:lnSpc>
            </a:pPr>
            <a:r>
              <a:rPr lang="zh-CN" altLang="en-US" dirty="0"/>
              <a:t>软件工程的奠基人之一瓦茨</a:t>
            </a:r>
            <a:r>
              <a:rPr lang="en-US" altLang="zh-CN" dirty="0"/>
              <a:t>·</a:t>
            </a:r>
            <a:r>
              <a:rPr lang="zh-CN" altLang="en-US" dirty="0"/>
              <a:t>汉弗雷总结说，软件领域可以分为两个方面：</a:t>
            </a:r>
            <a:endParaRPr lang="en-US" altLang="zh-CN" dirty="0"/>
          </a:p>
          <a:p>
            <a:pPr lvl="1">
              <a:lnSpc>
                <a:spcPct val="120000"/>
              </a:lnSpc>
            </a:pPr>
            <a:r>
              <a:rPr lang="zh-CN" altLang="en-US" dirty="0"/>
              <a:t>一方面是技艺创新的大爆发；而另一方面是坚持不懈的工程工作，包括软件的改善、维护和测试等，这一方 面占了</a:t>
            </a:r>
            <a:r>
              <a:rPr lang="en-US" altLang="zh-CN" dirty="0"/>
              <a:t>90%—95%</a:t>
            </a:r>
            <a:r>
              <a:rPr lang="zh-CN" altLang="en-US" dirty="0"/>
              <a:t>的比例</a:t>
            </a:r>
            <a:endParaRPr lang="en-US" altLang="zh-CN" dirty="0"/>
          </a:p>
          <a:p>
            <a:pPr>
              <a:lnSpc>
                <a:spcPct val="120000"/>
              </a:lnSpc>
            </a:pPr>
            <a:r>
              <a:rPr lang="zh-CN" altLang="en-US" dirty="0"/>
              <a:t>一个成熟的软件工程师应该能够降低任务交付时 间的标准方差。如果你能长时间稳定而按时地交付工作的结果，内部和外部的顾客就会对你的 工作有信心，更喜欢与你合作。</a:t>
            </a:r>
            <a:endParaRPr lang="en-US" dirty="0"/>
          </a:p>
        </p:txBody>
      </p:sp>
    </p:spTree>
    <p:extLst>
      <p:ext uri="{BB962C8B-B14F-4D97-AF65-F5344CB8AC3E}">
        <p14:creationId xmlns:p14="http://schemas.microsoft.com/office/powerpoint/2010/main" val="37366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8483-0F71-4391-B196-18C3E1BE3B0B}"/>
              </a:ext>
            </a:extLst>
          </p:cNvPr>
          <p:cNvSpPr>
            <a:spLocks noGrp="1"/>
          </p:cNvSpPr>
          <p:nvPr>
            <p:ph type="title"/>
          </p:nvPr>
        </p:nvSpPr>
        <p:spPr/>
        <p:txBody>
          <a:bodyPr/>
          <a:lstStyle/>
          <a:p>
            <a:r>
              <a:rPr lang="zh-CN" altLang="en-US" dirty="0"/>
              <a:t>我想加入一个成功的团队</a:t>
            </a:r>
            <a:endParaRPr lang="en-US" dirty="0"/>
          </a:p>
        </p:txBody>
      </p:sp>
      <p:sp>
        <p:nvSpPr>
          <p:cNvPr id="3" name="Content Placeholder 2">
            <a:extLst>
              <a:ext uri="{FF2B5EF4-FFF2-40B4-BE49-F238E27FC236}">
                <a16:creationId xmlns:a16="http://schemas.microsoft.com/office/drawing/2014/main" id="{55E0976A-1108-44FE-B28E-89297F048DD1}"/>
              </a:ext>
            </a:extLst>
          </p:cNvPr>
          <p:cNvSpPr>
            <a:spLocks noGrp="1"/>
          </p:cNvSpPr>
          <p:nvPr>
            <p:ph idx="1"/>
          </p:nvPr>
        </p:nvSpPr>
        <p:spPr/>
        <p:txBody>
          <a:bodyPr/>
          <a:lstStyle/>
          <a:p>
            <a:r>
              <a:rPr lang="zh-CN" altLang="en-US" dirty="0"/>
              <a:t>团队叫我做啥就做啥，和团队一起成功</a:t>
            </a:r>
            <a:endParaRPr lang="en-US" altLang="zh-CN" dirty="0"/>
          </a:p>
          <a:p>
            <a:endParaRPr lang="en-US" dirty="0"/>
          </a:p>
          <a:p>
            <a:r>
              <a:rPr lang="zh-CN" altLang="en-US" dirty="0"/>
              <a:t>团队对你也有期望值</a:t>
            </a:r>
            <a:endParaRPr lang="en-US" altLang="zh-CN" dirty="0"/>
          </a:p>
          <a:p>
            <a:pPr lvl="1"/>
            <a:r>
              <a:rPr lang="en-US" altLang="zh-CN" dirty="0"/>
              <a:t>TSP</a:t>
            </a:r>
            <a:r>
              <a:rPr lang="zh-CN" altLang="en-US" dirty="0"/>
              <a:t>（</a:t>
            </a:r>
            <a:r>
              <a:rPr lang="en-US" altLang="zh-CN" dirty="0"/>
              <a:t>Team Software Process</a:t>
            </a:r>
            <a:r>
              <a:rPr lang="zh-CN" altLang="en-US" dirty="0"/>
              <a:t>）， </a:t>
            </a:r>
            <a:r>
              <a:rPr lang="en-US" altLang="zh-CN" dirty="0"/>
              <a:t>TSP</a:t>
            </a:r>
            <a:r>
              <a:rPr lang="zh-CN" altLang="en-US" dirty="0"/>
              <a:t>对团队成员也有要求</a:t>
            </a:r>
            <a:endParaRPr lang="en-US" altLang="zh-CN" dirty="0"/>
          </a:p>
          <a:p>
            <a:pPr marL="118872" indent="0">
              <a:buNone/>
            </a:pPr>
            <a:endParaRPr lang="en-US" dirty="0"/>
          </a:p>
        </p:txBody>
      </p:sp>
    </p:spTree>
    <p:extLst>
      <p:ext uri="{BB962C8B-B14F-4D97-AF65-F5344CB8AC3E}">
        <p14:creationId xmlns:p14="http://schemas.microsoft.com/office/powerpoint/2010/main" val="224053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5598-4CD3-4C35-8C3F-AAC62F930BFB}"/>
              </a:ext>
            </a:extLst>
          </p:cNvPr>
          <p:cNvSpPr>
            <a:spLocks noGrp="1"/>
          </p:cNvSpPr>
          <p:nvPr>
            <p:ph type="title"/>
          </p:nvPr>
        </p:nvSpPr>
        <p:spPr/>
        <p:txBody>
          <a:bodyPr>
            <a:normAutofit/>
          </a:bodyPr>
          <a:lstStyle/>
          <a:p>
            <a:r>
              <a:rPr lang="zh-CN" altLang="en-US" dirty="0"/>
              <a:t>团队对个人的期望</a:t>
            </a:r>
            <a:endParaRPr lang="en-US" dirty="0"/>
          </a:p>
        </p:txBody>
      </p:sp>
      <p:sp>
        <p:nvSpPr>
          <p:cNvPr id="3" name="Content Placeholder 2">
            <a:extLst>
              <a:ext uri="{FF2B5EF4-FFF2-40B4-BE49-F238E27FC236}">
                <a16:creationId xmlns:a16="http://schemas.microsoft.com/office/drawing/2014/main" id="{9F449120-2354-4B84-892E-F00A42C74A5D}"/>
              </a:ext>
            </a:extLst>
          </p:cNvPr>
          <p:cNvSpPr>
            <a:spLocks noGrp="1"/>
          </p:cNvSpPr>
          <p:nvPr>
            <p:ph idx="1"/>
          </p:nvPr>
        </p:nvSpPr>
        <p:spPr/>
        <p:txBody>
          <a:bodyPr>
            <a:normAutofit fontScale="47500" lnSpcReduction="20000"/>
          </a:bodyPr>
          <a:lstStyle/>
          <a:p>
            <a:pPr>
              <a:lnSpc>
                <a:spcPct val="120000"/>
              </a:lnSpc>
            </a:pPr>
            <a:r>
              <a:rPr lang="en-US" altLang="zh-CN" dirty="0"/>
              <a:t>1.  </a:t>
            </a:r>
            <a:r>
              <a:rPr lang="zh-CN" altLang="en-US" dirty="0"/>
              <a:t>交流：</a:t>
            </a:r>
            <a:endParaRPr lang="en-US" altLang="zh-CN" dirty="0"/>
          </a:p>
          <a:p>
            <a:pPr lvl="1">
              <a:lnSpc>
                <a:spcPct val="120000"/>
              </a:lnSpc>
            </a:pPr>
            <a:r>
              <a:rPr lang="zh-CN" altLang="en-US" dirty="0"/>
              <a:t>能有效地和其他队员交流，从大的技术方向，到看似微小的问题。 </a:t>
            </a:r>
            <a:endParaRPr lang="en-US" altLang="zh-CN" dirty="0"/>
          </a:p>
          <a:p>
            <a:pPr>
              <a:lnSpc>
                <a:spcPct val="120000"/>
              </a:lnSpc>
            </a:pPr>
            <a:r>
              <a:rPr lang="en-US" altLang="zh-CN" dirty="0"/>
              <a:t>2.  </a:t>
            </a:r>
            <a:r>
              <a:rPr lang="zh-CN" altLang="en-US" dirty="0"/>
              <a:t>说到做到：</a:t>
            </a:r>
            <a:endParaRPr lang="en-US" altLang="zh-CN" dirty="0"/>
          </a:p>
          <a:p>
            <a:pPr lvl="1">
              <a:lnSpc>
                <a:spcPct val="120000"/>
              </a:lnSpc>
            </a:pPr>
            <a:r>
              <a:rPr lang="zh-CN" altLang="en-US" dirty="0"/>
              <a:t>“按时交付”。 </a:t>
            </a:r>
            <a:endParaRPr lang="en-US" altLang="zh-CN" dirty="0"/>
          </a:p>
          <a:p>
            <a:pPr>
              <a:lnSpc>
                <a:spcPct val="120000"/>
              </a:lnSpc>
            </a:pPr>
            <a:r>
              <a:rPr lang="en-US" altLang="zh-CN" dirty="0"/>
              <a:t>3.  </a:t>
            </a:r>
            <a:r>
              <a:rPr lang="zh-CN" altLang="en-US" dirty="0"/>
              <a:t>接受团队赋予的角色并按角色要求工作：</a:t>
            </a:r>
            <a:endParaRPr lang="en-US" altLang="zh-CN" dirty="0"/>
          </a:p>
          <a:p>
            <a:pPr lvl="1">
              <a:lnSpc>
                <a:spcPct val="120000"/>
              </a:lnSpc>
            </a:pPr>
            <a:r>
              <a:rPr lang="zh-CN" altLang="en-US" dirty="0"/>
              <a:t>团队要完成任务，有很多事情要做，是否能 接受不同的任务并高质量完成？ </a:t>
            </a:r>
            <a:endParaRPr lang="en-US" altLang="zh-CN" dirty="0"/>
          </a:p>
          <a:p>
            <a:pPr>
              <a:lnSpc>
                <a:spcPct val="120000"/>
              </a:lnSpc>
            </a:pPr>
            <a:r>
              <a:rPr lang="en-US" altLang="zh-CN" dirty="0"/>
              <a:t>4.  </a:t>
            </a:r>
            <a:r>
              <a:rPr lang="zh-CN" altLang="en-US" dirty="0"/>
              <a:t>全力投入团队的活动：</a:t>
            </a:r>
            <a:endParaRPr lang="en-US" altLang="zh-CN" dirty="0"/>
          </a:p>
          <a:p>
            <a:pPr lvl="1">
              <a:lnSpc>
                <a:spcPct val="120000"/>
              </a:lnSpc>
            </a:pPr>
            <a:r>
              <a:rPr lang="zh-CN" altLang="en-US" dirty="0"/>
              <a:t>就像一些评审会议，代码复审，都要全力以赴地参加，而不是 游离于团队之外。 </a:t>
            </a:r>
            <a:endParaRPr lang="en-US" altLang="zh-CN" dirty="0"/>
          </a:p>
          <a:p>
            <a:pPr>
              <a:lnSpc>
                <a:spcPct val="120000"/>
              </a:lnSpc>
            </a:pPr>
            <a:r>
              <a:rPr lang="en-US" altLang="zh-CN" dirty="0"/>
              <a:t>5.  </a:t>
            </a:r>
            <a:r>
              <a:rPr lang="zh-CN" altLang="en-US" dirty="0"/>
              <a:t>按照团队流程的要求工作：</a:t>
            </a:r>
            <a:endParaRPr lang="en-US" altLang="zh-CN" dirty="0"/>
          </a:p>
          <a:p>
            <a:pPr lvl="1">
              <a:lnSpc>
                <a:spcPct val="120000"/>
              </a:lnSpc>
            </a:pPr>
            <a:r>
              <a:rPr lang="zh-CN" altLang="en-US" dirty="0"/>
              <a:t>团队有自己的流程（见“团队和流程”一章），个人的能 力即使很强，也要按照团队制定的流程工作，而不要认为自己不受流程约束。 </a:t>
            </a:r>
            <a:endParaRPr lang="en-US" altLang="zh-CN" dirty="0"/>
          </a:p>
          <a:p>
            <a:pPr>
              <a:lnSpc>
                <a:spcPct val="120000"/>
              </a:lnSpc>
            </a:pPr>
            <a:r>
              <a:rPr lang="en-US" altLang="zh-CN" dirty="0"/>
              <a:t>6.  </a:t>
            </a:r>
            <a:r>
              <a:rPr lang="zh-CN" altLang="en-US" dirty="0"/>
              <a:t>准备：</a:t>
            </a:r>
            <a:endParaRPr lang="en-US" altLang="zh-CN" dirty="0"/>
          </a:p>
          <a:p>
            <a:pPr lvl="1">
              <a:lnSpc>
                <a:spcPct val="120000"/>
              </a:lnSpc>
            </a:pPr>
            <a:r>
              <a:rPr lang="zh-CN" altLang="en-US" dirty="0"/>
              <a:t>在开会讨论之前，开始一个新功能之前，一个新项目之前，都要做好准备工作。 </a:t>
            </a:r>
            <a:endParaRPr lang="en-US" altLang="zh-CN" dirty="0"/>
          </a:p>
          <a:p>
            <a:pPr>
              <a:lnSpc>
                <a:spcPct val="120000"/>
              </a:lnSpc>
            </a:pPr>
            <a:r>
              <a:rPr lang="en-US" altLang="zh-CN" dirty="0"/>
              <a:t>7.  </a:t>
            </a:r>
            <a:r>
              <a:rPr lang="zh-CN" altLang="en-US" dirty="0"/>
              <a:t>理性地工作：</a:t>
            </a:r>
            <a:endParaRPr lang="en-US" altLang="zh-CN" dirty="0"/>
          </a:p>
          <a:p>
            <a:pPr lvl="1">
              <a:lnSpc>
                <a:spcPct val="120000"/>
              </a:lnSpc>
            </a:pPr>
            <a:r>
              <a:rPr lang="zh-CN" altLang="en-US" dirty="0"/>
              <a:t>软件开发有很多个人的、感情驱动的因素，但是一个成熟的团队成员必 须从事实和数据出发，按照流程，理性地工作。</a:t>
            </a:r>
            <a:endParaRPr lang="en-US" dirty="0"/>
          </a:p>
        </p:txBody>
      </p:sp>
    </p:spTree>
    <p:extLst>
      <p:ext uri="{BB962C8B-B14F-4D97-AF65-F5344CB8AC3E}">
        <p14:creationId xmlns:p14="http://schemas.microsoft.com/office/powerpoint/2010/main" val="1469810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64B9B-A74F-4934-81F4-ACDA5F2EEB9D}"/>
              </a:ext>
            </a:extLst>
          </p:cNvPr>
          <p:cNvSpPr>
            <a:spLocks noGrp="1"/>
          </p:cNvSpPr>
          <p:nvPr>
            <p:ph type="title"/>
          </p:nvPr>
        </p:nvSpPr>
        <p:spPr/>
        <p:txBody>
          <a:bodyPr/>
          <a:lstStyle/>
          <a:p>
            <a:r>
              <a:rPr lang="zh-CN" altLang="en-US" dirty="0"/>
              <a:t>我有了灵感才工作！</a:t>
            </a:r>
            <a:endParaRPr lang="en-US" dirty="0"/>
          </a:p>
        </p:txBody>
      </p:sp>
      <p:sp>
        <p:nvSpPr>
          <p:cNvPr id="3" name="Content Placeholder 2">
            <a:extLst>
              <a:ext uri="{FF2B5EF4-FFF2-40B4-BE49-F238E27FC236}">
                <a16:creationId xmlns:a16="http://schemas.microsoft.com/office/drawing/2014/main" id="{62EB2482-9CFE-4BA5-87D1-6F24EB602CB8}"/>
              </a:ext>
            </a:extLst>
          </p:cNvPr>
          <p:cNvSpPr>
            <a:spLocks noGrp="1"/>
          </p:cNvSpPr>
          <p:nvPr>
            <p:ph idx="1"/>
          </p:nvPr>
        </p:nvSpPr>
        <p:spPr>
          <a:xfrm>
            <a:off x="838200" y="1690688"/>
            <a:ext cx="5867400" cy="4625609"/>
          </a:xfrm>
        </p:spPr>
        <p:txBody>
          <a:bodyPr>
            <a:normAutofit/>
          </a:bodyPr>
          <a:lstStyle/>
          <a:p>
            <a:r>
              <a:rPr lang="zh-CN" altLang="en-US" dirty="0"/>
              <a:t>很多人认为自己需要灵感和激情，才 能为宏大的目标奋斗，才能成为专业人士。</a:t>
            </a:r>
            <a:endParaRPr lang="en-US" altLang="zh-CN" dirty="0"/>
          </a:p>
          <a:p>
            <a:r>
              <a:rPr lang="en-US" altLang="zh-CN" dirty="0"/>
              <a:t>Chuck Close</a:t>
            </a:r>
            <a:r>
              <a:rPr lang="zh-CN" altLang="en-US" dirty="0"/>
              <a:t>：</a:t>
            </a:r>
            <a:endParaRPr lang="en-US" altLang="zh-CN" dirty="0"/>
          </a:p>
          <a:p>
            <a:pPr lvl="1"/>
            <a:r>
              <a:rPr lang="zh-CN" altLang="en-US" dirty="0"/>
              <a:t>我总觉得灵感是属于业余爱好者的。我们职业人士只是每天持续工作。今天你继续昨天的工 作，明天你继续今天的工作，最终你会有所成就。</a:t>
            </a:r>
            <a:endParaRPr lang="en-US" dirty="0"/>
          </a:p>
          <a:p>
            <a:endParaRPr lang="en-US" dirty="0"/>
          </a:p>
        </p:txBody>
      </p:sp>
      <p:pic>
        <p:nvPicPr>
          <p:cNvPr id="1026" name="Picture 2" descr="æ¥åÂ·åæ´æ¯ãå¾çï¼Courtesy of Getty Images.">
            <a:extLst>
              <a:ext uri="{FF2B5EF4-FFF2-40B4-BE49-F238E27FC236}">
                <a16:creationId xmlns:a16="http://schemas.microsoft.com/office/drawing/2014/main" id="{1380D148-CC6F-40C1-8380-92D9216CF3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8048" y="1524000"/>
            <a:ext cx="3683494"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523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5F66-C581-4BB1-9C74-6D06BDFA7204}"/>
              </a:ext>
            </a:extLst>
          </p:cNvPr>
          <p:cNvSpPr>
            <a:spLocks noGrp="1"/>
          </p:cNvSpPr>
          <p:nvPr>
            <p:ph type="title"/>
          </p:nvPr>
        </p:nvSpPr>
        <p:spPr/>
        <p:txBody>
          <a:bodyPr/>
          <a:lstStyle/>
          <a:p>
            <a:r>
              <a:rPr lang="zh-CN" altLang="en-US" dirty="0"/>
              <a:t>软件工程师的思维误区</a:t>
            </a:r>
            <a:endParaRPr lang="en-US" dirty="0"/>
          </a:p>
        </p:txBody>
      </p:sp>
      <p:sp>
        <p:nvSpPr>
          <p:cNvPr id="3" name="Content Placeholder 2">
            <a:extLst>
              <a:ext uri="{FF2B5EF4-FFF2-40B4-BE49-F238E27FC236}">
                <a16:creationId xmlns:a16="http://schemas.microsoft.com/office/drawing/2014/main" id="{891A0752-746C-4640-BAB7-6364138D2C96}"/>
              </a:ext>
            </a:extLst>
          </p:cNvPr>
          <p:cNvSpPr>
            <a:spLocks noGrp="1"/>
          </p:cNvSpPr>
          <p:nvPr>
            <p:ph idx="1"/>
          </p:nvPr>
        </p:nvSpPr>
        <p:spPr/>
        <p:txBody>
          <a:bodyPr>
            <a:normAutofit/>
          </a:bodyPr>
          <a:lstStyle/>
          <a:p>
            <a:r>
              <a:rPr lang="zh-CN" altLang="en-US" dirty="0"/>
              <a:t>分析麻痹</a:t>
            </a:r>
            <a:endParaRPr lang="en-US" altLang="zh-CN" dirty="0"/>
          </a:p>
          <a:p>
            <a:pPr lvl="1"/>
            <a:r>
              <a:rPr lang="zh-CN" altLang="en-US" dirty="0"/>
              <a:t>篮球场上，有</a:t>
            </a:r>
            <a:r>
              <a:rPr lang="en-US" altLang="zh-CN" dirty="0"/>
              <a:t>100%</a:t>
            </a:r>
            <a:r>
              <a:rPr lang="zh-CN" altLang="en-US" dirty="0"/>
              <a:t>的把握再出手</a:t>
            </a:r>
            <a:endParaRPr lang="en-US" altLang="zh-CN" dirty="0"/>
          </a:p>
          <a:p>
            <a:pPr lvl="1"/>
            <a:r>
              <a:rPr lang="en-US" dirty="0"/>
              <a:t>There is a hole in my bucket</a:t>
            </a:r>
          </a:p>
          <a:p>
            <a:pPr lvl="1"/>
            <a:endParaRPr lang="en-US" dirty="0"/>
          </a:p>
          <a:p>
            <a:pPr lvl="1"/>
            <a:endParaRPr lang="en-US" dirty="0"/>
          </a:p>
          <a:p>
            <a:pPr lvl="1"/>
            <a:endParaRPr lang="en-US" dirty="0"/>
          </a:p>
          <a:p>
            <a:pPr lvl="1"/>
            <a:endParaRPr lang="en-US" dirty="0"/>
          </a:p>
          <a:p>
            <a:pPr lvl="1"/>
            <a:endParaRPr lang="en-US" dirty="0"/>
          </a:p>
          <a:p>
            <a:pPr lvl="1"/>
            <a:r>
              <a:rPr lang="zh-CN" altLang="en-US" dirty="0"/>
              <a:t>请举一个生活中的例子</a:t>
            </a:r>
            <a:endParaRPr lang="en-US" dirty="0"/>
          </a:p>
          <a:p>
            <a:pPr lvl="1"/>
            <a:endParaRPr lang="en-US" dirty="0"/>
          </a:p>
        </p:txBody>
      </p:sp>
      <p:pic>
        <p:nvPicPr>
          <p:cNvPr id="4" name="Picture 3">
            <a:hlinkClick r:id="rId2"/>
            <a:extLst>
              <a:ext uri="{FF2B5EF4-FFF2-40B4-BE49-F238E27FC236}">
                <a16:creationId xmlns:a16="http://schemas.microsoft.com/office/drawing/2014/main" id="{75463CFF-537B-43C4-9208-178321B74503}"/>
              </a:ext>
            </a:extLst>
          </p:cNvPr>
          <p:cNvPicPr>
            <a:picLocks noChangeAspect="1"/>
          </p:cNvPicPr>
          <p:nvPr/>
        </p:nvPicPr>
        <p:blipFill>
          <a:blip r:embed="rId3"/>
          <a:stretch>
            <a:fillRect/>
          </a:stretch>
        </p:blipFill>
        <p:spPr>
          <a:xfrm>
            <a:off x="5715000" y="3048000"/>
            <a:ext cx="4343400" cy="1792853"/>
          </a:xfrm>
          <a:prstGeom prst="rect">
            <a:avLst/>
          </a:prstGeom>
        </p:spPr>
      </p:pic>
    </p:spTree>
    <p:extLst>
      <p:ext uri="{BB962C8B-B14F-4D97-AF65-F5344CB8AC3E}">
        <p14:creationId xmlns:p14="http://schemas.microsoft.com/office/powerpoint/2010/main" val="1735068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A3F4-908E-47FE-8D82-8D7634E72B42}"/>
              </a:ext>
            </a:extLst>
          </p:cNvPr>
          <p:cNvSpPr>
            <a:spLocks noGrp="1"/>
          </p:cNvSpPr>
          <p:nvPr>
            <p:ph type="title"/>
          </p:nvPr>
        </p:nvSpPr>
        <p:spPr/>
        <p:txBody>
          <a:bodyPr>
            <a:normAutofit/>
          </a:bodyPr>
          <a:lstStyle/>
          <a:p>
            <a:r>
              <a:rPr lang="zh-CN" altLang="en-US" dirty="0"/>
              <a:t>工程师的思维误区 </a:t>
            </a:r>
            <a:r>
              <a:rPr lang="en-US" altLang="zh-CN" dirty="0"/>
              <a:t>– </a:t>
            </a:r>
            <a:r>
              <a:rPr lang="zh-CN" altLang="en-US" dirty="0"/>
              <a:t>依赖链条过长</a:t>
            </a:r>
            <a:endParaRPr lang="en-US" dirty="0"/>
          </a:p>
        </p:txBody>
      </p:sp>
      <p:sp>
        <p:nvSpPr>
          <p:cNvPr id="3" name="Content Placeholder 2">
            <a:extLst>
              <a:ext uri="{FF2B5EF4-FFF2-40B4-BE49-F238E27FC236}">
                <a16:creationId xmlns:a16="http://schemas.microsoft.com/office/drawing/2014/main" id="{3953811D-FB60-4427-9B84-943EB8BDA8CD}"/>
              </a:ext>
            </a:extLst>
          </p:cNvPr>
          <p:cNvSpPr>
            <a:spLocks noGrp="1"/>
          </p:cNvSpPr>
          <p:nvPr>
            <p:ph idx="1"/>
          </p:nvPr>
        </p:nvSpPr>
        <p:spPr/>
        <p:txBody>
          <a:bodyPr>
            <a:normAutofit fontScale="55000" lnSpcReduction="20000"/>
          </a:bodyPr>
          <a:lstStyle/>
          <a:p>
            <a:pPr>
              <a:lnSpc>
                <a:spcPct val="120000"/>
              </a:lnSpc>
            </a:pPr>
            <a:r>
              <a:rPr lang="zh-CN" altLang="en-US" dirty="0"/>
              <a:t>不分主次，想解决所有问题 </a:t>
            </a:r>
            <a:r>
              <a:rPr lang="en-US" altLang="zh-CN" dirty="0">
                <a:hlinkClick r:id="rId2"/>
              </a:rPr>
              <a:t>Yak Shaving</a:t>
            </a:r>
            <a:r>
              <a:rPr lang="en-US" altLang="zh-CN" dirty="0"/>
              <a:t> (</a:t>
            </a:r>
            <a:r>
              <a:rPr lang="en-US" altLang="zh-CN" dirty="0">
                <a:hlinkClick r:id="rId3"/>
              </a:rPr>
              <a:t>source</a:t>
            </a:r>
            <a:r>
              <a:rPr lang="en-US" altLang="zh-CN" dirty="0"/>
              <a:t>) (</a:t>
            </a:r>
            <a:r>
              <a:rPr lang="en-US" altLang="zh-CN" dirty="0">
                <a:hlinkClick r:id="rId4"/>
              </a:rPr>
              <a:t>video</a:t>
            </a:r>
            <a:r>
              <a:rPr lang="en-US" altLang="zh-CN" dirty="0"/>
              <a:t>) (</a:t>
            </a:r>
            <a:r>
              <a:rPr lang="en-US" altLang="zh-CN" dirty="0">
                <a:hlinkClick r:id="rId5"/>
              </a:rPr>
              <a:t>article</a:t>
            </a:r>
            <a:r>
              <a:rPr lang="en-US" altLang="zh-CN" dirty="0"/>
              <a:t>)</a:t>
            </a:r>
          </a:p>
          <a:p>
            <a:pPr>
              <a:lnSpc>
                <a:spcPct val="120000"/>
              </a:lnSpc>
            </a:pPr>
            <a:endParaRPr lang="en-US" altLang="zh-CN" dirty="0"/>
          </a:p>
          <a:p>
            <a:pPr>
              <a:lnSpc>
                <a:spcPct val="120000"/>
              </a:lnSpc>
            </a:pPr>
            <a:r>
              <a:rPr lang="zh-CN" altLang="en-US" dirty="0"/>
              <a:t>小飞早上醒来之后，发现宿舍的哥们都</a:t>
            </a:r>
            <a:r>
              <a:rPr lang="zh-CN" altLang="en-US" dirty="0">
                <a:highlight>
                  <a:srgbClr val="0000FF"/>
                </a:highlight>
              </a:rPr>
              <a:t>出门学习</a:t>
            </a:r>
            <a:r>
              <a:rPr lang="zh-CN" altLang="en-US" dirty="0"/>
              <a:t>去了，他想起昨晚下决心要和哥几个一起每天去图书馆自习</a:t>
            </a:r>
            <a:endParaRPr lang="en-US" altLang="zh-CN" dirty="0"/>
          </a:p>
          <a:p>
            <a:pPr>
              <a:lnSpc>
                <a:spcPct val="120000"/>
              </a:lnSpc>
            </a:pPr>
            <a:r>
              <a:rPr lang="zh-CN" altLang="en-US" dirty="0"/>
              <a:t>他拎着书包出了门，发现</a:t>
            </a:r>
            <a:r>
              <a:rPr lang="zh-CN" altLang="en-US" dirty="0">
                <a:highlight>
                  <a:srgbClr val="0000FF"/>
                </a:highlight>
              </a:rPr>
              <a:t>自行车轮胎气不足</a:t>
            </a:r>
            <a:r>
              <a:rPr lang="zh-CN" altLang="en-US" dirty="0"/>
              <a:t>，于是就去找隔壁宿舍的果冻同学借</a:t>
            </a:r>
            <a:r>
              <a:rPr lang="zh-CN" altLang="en-US" dirty="0">
                <a:highlight>
                  <a:srgbClr val="0000FF"/>
                </a:highlight>
              </a:rPr>
              <a:t>打气筒</a:t>
            </a:r>
            <a:r>
              <a:rPr lang="zh-CN" altLang="en-US" dirty="0"/>
              <a:t>。</a:t>
            </a:r>
            <a:endParaRPr lang="en-US" altLang="zh-CN" dirty="0"/>
          </a:p>
          <a:p>
            <a:pPr>
              <a:lnSpc>
                <a:spcPct val="120000"/>
              </a:lnSpc>
            </a:pPr>
            <a:r>
              <a:rPr lang="zh-CN" altLang="en-US" dirty="0"/>
              <a:t>果冻说他的打气筒昨天拿到他</a:t>
            </a:r>
            <a:r>
              <a:rPr lang="zh-CN" altLang="en-US" dirty="0">
                <a:highlight>
                  <a:srgbClr val="0000FF"/>
                </a:highlight>
              </a:rPr>
              <a:t>女朋友荔荔</a:t>
            </a:r>
            <a:r>
              <a:rPr lang="zh-CN" altLang="en-US" dirty="0"/>
              <a:t>那里去了，但 是他们俩昨晚吵架了，打气筒还在荔荔的</a:t>
            </a:r>
            <a:r>
              <a:rPr lang="zh-CN" altLang="en-US" dirty="0">
                <a:highlight>
                  <a:srgbClr val="0000FF"/>
                </a:highlight>
              </a:rPr>
              <a:t>宿舍</a:t>
            </a:r>
            <a:r>
              <a:rPr lang="zh-CN" altLang="en-US" dirty="0"/>
              <a:t>里。</a:t>
            </a:r>
            <a:endParaRPr lang="en-US" altLang="zh-CN" dirty="0"/>
          </a:p>
          <a:p>
            <a:pPr>
              <a:lnSpc>
                <a:spcPct val="120000"/>
              </a:lnSpc>
            </a:pPr>
            <a:r>
              <a:rPr lang="zh-CN" altLang="en-US" dirty="0"/>
              <a:t>小飞说我可以去拿！果冻说最好带个</a:t>
            </a:r>
            <a:r>
              <a:rPr lang="zh-CN" altLang="en-US" dirty="0">
                <a:highlight>
                  <a:srgbClr val="0000FF"/>
                </a:highlight>
              </a:rPr>
              <a:t>小礼物 </a:t>
            </a:r>
            <a:r>
              <a:rPr lang="zh-CN" altLang="en-US" dirty="0"/>
              <a:t>去，小飞问带什么礼物呢？</a:t>
            </a:r>
            <a:endParaRPr lang="en-US" altLang="zh-CN" dirty="0"/>
          </a:p>
          <a:p>
            <a:pPr>
              <a:lnSpc>
                <a:spcPct val="120000"/>
              </a:lnSpc>
            </a:pPr>
            <a:r>
              <a:rPr lang="zh-CN" altLang="en-US" dirty="0"/>
              <a:t>果冻说荔荔说过她想要</a:t>
            </a:r>
            <a:r>
              <a:rPr lang="zh-CN" altLang="en-US" dirty="0">
                <a:highlight>
                  <a:srgbClr val="0000FF"/>
                </a:highlight>
              </a:rPr>
              <a:t>手织的围巾</a:t>
            </a:r>
            <a:r>
              <a:rPr lang="zh-CN" altLang="en-US" dirty="0"/>
              <a:t>，小飞想</a:t>
            </a:r>
            <a:r>
              <a:rPr lang="zh-CN" altLang="en-US" dirty="0">
                <a:highlight>
                  <a:srgbClr val="0000FF"/>
                </a:highlight>
              </a:rPr>
              <a:t>牦牛毛</a:t>
            </a:r>
            <a:r>
              <a:rPr lang="zh-CN" altLang="en-US" dirty="0"/>
              <a:t>的围巾最好了， 于是小飞就开始</a:t>
            </a:r>
            <a:r>
              <a:rPr lang="zh-CN" altLang="en-US" dirty="0">
                <a:highlight>
                  <a:srgbClr val="0000FF"/>
                </a:highlight>
              </a:rPr>
              <a:t>剪牦牛的毛 </a:t>
            </a:r>
          </a:p>
          <a:p>
            <a:pPr>
              <a:lnSpc>
                <a:spcPct val="120000"/>
              </a:lnSpc>
            </a:pPr>
            <a:endParaRPr lang="en-US" altLang="zh-CN" dirty="0"/>
          </a:p>
          <a:p>
            <a:pPr>
              <a:lnSpc>
                <a:spcPct val="120000"/>
              </a:lnSpc>
            </a:pPr>
            <a:r>
              <a:rPr lang="zh-CN" altLang="en-US" dirty="0"/>
              <a:t>过了大半天，同学们自习回来了，看到小飞，就问：你为啥要</a:t>
            </a:r>
            <a:r>
              <a:rPr lang="zh-CN" altLang="en-US" dirty="0">
                <a:highlight>
                  <a:srgbClr val="FF0000"/>
                </a:highlight>
              </a:rPr>
              <a:t>追着牦牛跑</a:t>
            </a:r>
            <a:r>
              <a:rPr lang="zh-CN" altLang="en-US" dirty="0"/>
              <a:t>啊？小飞摸了摸脸上 的汗水，喃喃地说，我也忘了，我本来是要去上自习的</a:t>
            </a:r>
            <a:r>
              <a:rPr lang="en-US" altLang="zh-CN" dirty="0"/>
              <a:t>……</a:t>
            </a:r>
          </a:p>
          <a:p>
            <a:pPr>
              <a:lnSpc>
                <a:spcPct val="120000"/>
              </a:lnSpc>
            </a:pPr>
            <a:endParaRPr lang="en-US" altLang="zh-CN" dirty="0"/>
          </a:p>
          <a:p>
            <a:pPr>
              <a:lnSpc>
                <a:spcPct val="120000"/>
              </a:lnSpc>
            </a:pPr>
            <a:r>
              <a:rPr lang="zh-CN" altLang="en-US" b="1" dirty="0"/>
              <a:t>请举一个你生活中的例子</a:t>
            </a:r>
            <a:endParaRPr lang="en-US" altLang="zh-CN" b="1" dirty="0"/>
          </a:p>
          <a:p>
            <a:pPr>
              <a:lnSpc>
                <a:spcPct val="120000"/>
              </a:lnSpc>
            </a:pPr>
            <a:endParaRPr lang="en-US" altLang="zh-CN" dirty="0"/>
          </a:p>
          <a:p>
            <a:pPr>
              <a:lnSpc>
                <a:spcPct val="120000"/>
              </a:lnSpc>
            </a:pPr>
            <a:endParaRPr lang="en-US" dirty="0"/>
          </a:p>
        </p:txBody>
      </p:sp>
    </p:spTree>
    <p:extLst>
      <p:ext uri="{BB962C8B-B14F-4D97-AF65-F5344CB8AC3E}">
        <p14:creationId xmlns:p14="http://schemas.microsoft.com/office/powerpoint/2010/main" val="164786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2C3E-FCDF-4D04-9831-BB36DB39F392}"/>
              </a:ext>
            </a:extLst>
          </p:cNvPr>
          <p:cNvSpPr>
            <a:spLocks noGrp="1"/>
          </p:cNvSpPr>
          <p:nvPr>
            <p:ph type="title"/>
          </p:nvPr>
        </p:nvSpPr>
        <p:spPr/>
        <p:txBody>
          <a:bodyPr/>
          <a:lstStyle/>
          <a:p>
            <a:r>
              <a:rPr lang="zh-CN" altLang="en-US" dirty="0"/>
              <a:t>思维误区 </a:t>
            </a:r>
            <a:r>
              <a:rPr lang="en-US" altLang="zh-CN" dirty="0"/>
              <a:t>– </a:t>
            </a:r>
            <a:r>
              <a:rPr lang="zh-CN" altLang="en-US" dirty="0"/>
              <a:t>过早优化</a:t>
            </a:r>
            <a:endParaRPr lang="en-US" dirty="0"/>
          </a:p>
        </p:txBody>
      </p:sp>
      <p:sp>
        <p:nvSpPr>
          <p:cNvPr id="3" name="Content Placeholder 2">
            <a:extLst>
              <a:ext uri="{FF2B5EF4-FFF2-40B4-BE49-F238E27FC236}">
                <a16:creationId xmlns:a16="http://schemas.microsoft.com/office/drawing/2014/main" id="{FCAC2359-F7D4-4211-ADAB-6DAE8ED42820}"/>
              </a:ext>
            </a:extLst>
          </p:cNvPr>
          <p:cNvSpPr>
            <a:spLocks noGrp="1"/>
          </p:cNvSpPr>
          <p:nvPr>
            <p:ph idx="1"/>
          </p:nvPr>
        </p:nvSpPr>
        <p:spPr>
          <a:xfrm>
            <a:off x="381000" y="1752600"/>
            <a:ext cx="5334000" cy="4625609"/>
          </a:xfrm>
        </p:spPr>
        <p:txBody>
          <a:bodyPr>
            <a:normAutofit fontScale="70000" lnSpcReduction="20000"/>
          </a:bodyPr>
          <a:lstStyle/>
          <a:p>
            <a:pPr>
              <a:lnSpc>
                <a:spcPct val="120000"/>
              </a:lnSpc>
            </a:pPr>
            <a:r>
              <a:rPr lang="zh-CN" altLang="en-US" dirty="0"/>
              <a:t>王屋村软件学院的小飞同学在下雨的时候经常打着一把很精巧的小雨伞，和同学们一起匆匆赶 路。同学们提醒他：</a:t>
            </a:r>
          </a:p>
          <a:p>
            <a:pPr lvl="1">
              <a:lnSpc>
                <a:spcPct val="120000"/>
              </a:lnSpc>
            </a:pPr>
            <a:r>
              <a:rPr lang="zh-CN" altLang="en-US" dirty="0"/>
              <a:t>小飞，你这雨伞太小了，你的裤腿都湿了！</a:t>
            </a:r>
          </a:p>
          <a:p>
            <a:pPr>
              <a:lnSpc>
                <a:spcPct val="120000"/>
              </a:lnSpc>
            </a:pPr>
            <a:r>
              <a:rPr lang="zh-CN" altLang="en-US" dirty="0"/>
              <a:t>但是小飞还是打着这把小雨伞。几年过去了，在毕业酒会上，大家又谈起这个故事。女同学小 李说：有一次我没有带伞，他邀请我和他一起走，但是他的伞太小了，我就没答应。小飞红着脸解释了原因：</a:t>
            </a:r>
          </a:p>
          <a:p>
            <a:pPr>
              <a:lnSpc>
                <a:spcPct val="120000"/>
              </a:lnSpc>
            </a:pPr>
            <a:r>
              <a:rPr lang="zh-CN" altLang="en-US" dirty="0"/>
              <a:t>我原来想，如果有女朋友的话，两人在雨中打着很小的雨伞，她就会离我近一些。现在我还是 单身，我想起了“过早优化是一切烦恼的根源”。</a:t>
            </a:r>
          </a:p>
          <a:p>
            <a:pPr>
              <a:lnSpc>
                <a:spcPct val="120000"/>
              </a:lnSpc>
            </a:pPr>
            <a:endParaRPr lang="en-US" dirty="0"/>
          </a:p>
        </p:txBody>
      </p:sp>
      <p:sp>
        <p:nvSpPr>
          <p:cNvPr id="4" name="TextBox 3">
            <a:extLst>
              <a:ext uri="{FF2B5EF4-FFF2-40B4-BE49-F238E27FC236}">
                <a16:creationId xmlns:a16="http://schemas.microsoft.com/office/drawing/2014/main" id="{636875EA-935F-44BA-9DA1-6A1CC1CEC348}"/>
              </a:ext>
            </a:extLst>
          </p:cNvPr>
          <p:cNvSpPr txBox="1"/>
          <p:nvPr/>
        </p:nvSpPr>
        <p:spPr>
          <a:xfrm>
            <a:off x="6324600" y="4800600"/>
            <a:ext cx="5181600" cy="1477328"/>
          </a:xfrm>
          <a:prstGeom prst="rect">
            <a:avLst/>
          </a:prstGeom>
          <a:noFill/>
        </p:spPr>
        <p:txBody>
          <a:bodyPr wrap="square" rtlCol="0">
            <a:spAutoFit/>
          </a:bodyPr>
          <a:lstStyle/>
          <a:p>
            <a:r>
              <a:rPr lang="en-US" dirty="0"/>
              <a:t>The real problem is that programmers have spent far too much time worrying about efficiency in the wrong places and at the wrong times; </a:t>
            </a:r>
            <a:r>
              <a:rPr lang="en-US" b="1" dirty="0"/>
              <a:t>premature optimization is the root of all evil (or at least most of it) in programming</a:t>
            </a:r>
            <a:r>
              <a:rPr lang="en-US" dirty="0"/>
              <a:t>.</a:t>
            </a:r>
          </a:p>
        </p:txBody>
      </p:sp>
      <p:pic>
        <p:nvPicPr>
          <p:cNvPr id="2050" name="Picture 2" descr="https://upload.wikimedia.org/wikipedia/commons/4/4f/KnuthAtOpenContentAlliance.jpg">
            <a:extLst>
              <a:ext uri="{FF2B5EF4-FFF2-40B4-BE49-F238E27FC236}">
                <a16:creationId xmlns:a16="http://schemas.microsoft.com/office/drawing/2014/main" id="{1C7E2AEC-7B5D-4FFB-AA24-F6E1E43EF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1786835"/>
            <a:ext cx="2466975" cy="2917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106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13153-A66C-4BEE-AD57-324BE397291E}"/>
              </a:ext>
            </a:extLst>
          </p:cNvPr>
          <p:cNvSpPr>
            <a:spLocks noGrp="1"/>
          </p:cNvSpPr>
          <p:nvPr>
            <p:ph type="title"/>
          </p:nvPr>
        </p:nvSpPr>
        <p:spPr/>
        <p:txBody>
          <a:bodyPr/>
          <a:lstStyle/>
          <a:p>
            <a:r>
              <a:rPr lang="zh-CN" altLang="en-US" dirty="0"/>
              <a:t>过早泛化 </a:t>
            </a:r>
            <a:r>
              <a:rPr lang="en-US" altLang="zh-CN" dirty="0"/>
              <a:t>Generalization</a:t>
            </a:r>
            <a:endParaRPr lang="en-US" dirty="0"/>
          </a:p>
        </p:txBody>
      </p:sp>
      <p:sp>
        <p:nvSpPr>
          <p:cNvPr id="3" name="Content Placeholder 2">
            <a:extLst>
              <a:ext uri="{FF2B5EF4-FFF2-40B4-BE49-F238E27FC236}">
                <a16:creationId xmlns:a16="http://schemas.microsoft.com/office/drawing/2014/main" id="{C9F998A9-C3A7-466C-92A1-62E643270429}"/>
              </a:ext>
            </a:extLst>
          </p:cNvPr>
          <p:cNvSpPr>
            <a:spLocks noGrp="1"/>
          </p:cNvSpPr>
          <p:nvPr>
            <p:ph idx="1"/>
          </p:nvPr>
        </p:nvSpPr>
        <p:spPr/>
        <p:txBody>
          <a:bodyPr>
            <a:normAutofit/>
          </a:bodyPr>
          <a:lstStyle/>
          <a:p>
            <a:r>
              <a:rPr lang="zh-CN" altLang="en-US" dirty="0">
                <a:hlinkClick r:id="rId2"/>
              </a:rPr>
              <a:t>画扇面</a:t>
            </a:r>
            <a:endParaRPr lang="en-US" altLang="zh-CN" dirty="0"/>
          </a:p>
          <a:p>
            <a:r>
              <a:rPr lang="zh-CN" altLang="en-US" dirty="0"/>
              <a:t>很多学生学了一些编程语言，读了一些技术博客，都豪情万丈。他们做一个项目恨不得展 现自己平生所学，再加上前沿技术，做一个轰动的创新。这固然值得鼓励，不过实践表明，这 些往往都不能成功。</a:t>
            </a:r>
            <a:endParaRPr lang="en-US" altLang="zh-CN" dirty="0"/>
          </a:p>
          <a:p>
            <a:r>
              <a:rPr lang="zh-CN" altLang="en-US" b="1" dirty="0"/>
              <a:t>现场：举一个例子</a:t>
            </a:r>
            <a:endParaRPr lang="en-US" altLang="zh-CN" b="1" dirty="0"/>
          </a:p>
          <a:p>
            <a:endParaRPr lang="en-US" dirty="0"/>
          </a:p>
        </p:txBody>
      </p:sp>
      <p:pic>
        <p:nvPicPr>
          <p:cNvPr id="4" name="Picture 3">
            <a:extLst>
              <a:ext uri="{FF2B5EF4-FFF2-40B4-BE49-F238E27FC236}">
                <a16:creationId xmlns:a16="http://schemas.microsoft.com/office/drawing/2014/main" id="{237F48E3-111F-434A-9FF4-74609C59D4BD}"/>
              </a:ext>
            </a:extLst>
          </p:cNvPr>
          <p:cNvPicPr>
            <a:picLocks noChangeAspect="1"/>
          </p:cNvPicPr>
          <p:nvPr/>
        </p:nvPicPr>
        <p:blipFill>
          <a:blip r:embed="rId3"/>
          <a:stretch>
            <a:fillRect/>
          </a:stretch>
        </p:blipFill>
        <p:spPr>
          <a:xfrm>
            <a:off x="4648200" y="4297953"/>
            <a:ext cx="7093365" cy="2269029"/>
          </a:xfrm>
          <a:prstGeom prst="rect">
            <a:avLst/>
          </a:prstGeom>
        </p:spPr>
      </p:pic>
    </p:spTree>
    <p:extLst>
      <p:ext uri="{BB962C8B-B14F-4D97-AF65-F5344CB8AC3E}">
        <p14:creationId xmlns:p14="http://schemas.microsoft.com/office/powerpoint/2010/main" val="2111016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EDE4-BB76-48B6-83A2-D7CA600CBC75}"/>
              </a:ext>
            </a:extLst>
          </p:cNvPr>
          <p:cNvSpPr>
            <a:spLocks noGrp="1"/>
          </p:cNvSpPr>
          <p:nvPr>
            <p:ph type="title"/>
          </p:nvPr>
        </p:nvSpPr>
        <p:spPr/>
        <p:txBody>
          <a:bodyPr/>
          <a:lstStyle/>
          <a:p>
            <a:r>
              <a:rPr lang="zh-CN" altLang="en-US" dirty="0"/>
              <a:t>职业发展阶段 </a:t>
            </a:r>
            <a:r>
              <a:rPr lang="en-US" altLang="zh-CN" dirty="0"/>
              <a:t>– </a:t>
            </a:r>
            <a:r>
              <a:rPr lang="zh-CN" altLang="en-US" dirty="0"/>
              <a:t>动力</a:t>
            </a:r>
            <a:endParaRPr lang="en-US" dirty="0"/>
          </a:p>
        </p:txBody>
      </p:sp>
      <p:sp>
        <p:nvSpPr>
          <p:cNvPr id="3" name="Content Placeholder 2">
            <a:extLst>
              <a:ext uri="{FF2B5EF4-FFF2-40B4-BE49-F238E27FC236}">
                <a16:creationId xmlns:a16="http://schemas.microsoft.com/office/drawing/2014/main" id="{8BBB6F6F-81CF-4431-AF56-035DB7A8F17C}"/>
              </a:ext>
            </a:extLst>
          </p:cNvPr>
          <p:cNvSpPr>
            <a:spLocks noGrp="1"/>
          </p:cNvSpPr>
          <p:nvPr>
            <p:ph idx="1"/>
          </p:nvPr>
        </p:nvSpPr>
        <p:spPr/>
        <p:txBody>
          <a:bodyPr>
            <a:normAutofit fontScale="55000" lnSpcReduction="20000"/>
          </a:bodyPr>
          <a:lstStyle/>
          <a:p>
            <a:pPr>
              <a:lnSpc>
                <a:spcPct val="120000"/>
              </a:lnSpc>
            </a:pPr>
            <a:r>
              <a:rPr lang="zh-CN" altLang="en-US" dirty="0"/>
              <a:t>临时的寄托或工作 </a:t>
            </a:r>
            <a:r>
              <a:rPr lang="en-US" altLang="zh-CN" dirty="0"/>
              <a:t>( Temporary Work) </a:t>
            </a:r>
          </a:p>
          <a:p>
            <a:pPr marL="925830" lvl="1" indent="-514350">
              <a:lnSpc>
                <a:spcPct val="120000"/>
              </a:lnSpc>
            </a:pPr>
            <a:r>
              <a:rPr lang="zh-CN" altLang="en-US" dirty="0"/>
              <a:t>他们处于低动力、 低技能的状态。 </a:t>
            </a:r>
            <a:endParaRPr lang="en-US" altLang="zh-CN" dirty="0"/>
          </a:p>
          <a:p>
            <a:pPr marL="925830" lvl="1" indent="-514350">
              <a:lnSpc>
                <a:spcPct val="120000"/>
              </a:lnSpc>
            </a:pPr>
            <a:r>
              <a:rPr lang="zh-CN" altLang="en-US" dirty="0"/>
              <a:t>“</a:t>
            </a:r>
            <a:r>
              <a:rPr lang="zh-CN" altLang="en-US" b="1" dirty="0"/>
              <a:t>老师，我学这个专业就是为了文凭。我毕业了就去做公务员</a:t>
            </a:r>
            <a:r>
              <a:rPr lang="en-US" altLang="zh-CN" b="1" dirty="0"/>
              <a:t>…</a:t>
            </a:r>
            <a:r>
              <a:rPr lang="zh-CN" altLang="en-US" b="1" dirty="0"/>
              <a:t>让我混过去就行</a:t>
            </a:r>
            <a:r>
              <a:rPr lang="zh-CN" altLang="en-US" dirty="0"/>
              <a:t>”</a:t>
            </a:r>
            <a:endParaRPr lang="en-US" altLang="zh-CN" dirty="0"/>
          </a:p>
          <a:p>
            <a:pPr>
              <a:lnSpc>
                <a:spcPct val="120000"/>
              </a:lnSpc>
            </a:pPr>
            <a:r>
              <a:rPr lang="zh-CN" altLang="en-US" dirty="0"/>
              <a:t>工作 （</a:t>
            </a:r>
            <a:r>
              <a:rPr lang="en-US" altLang="zh-CN" dirty="0"/>
              <a:t>Job</a:t>
            </a:r>
            <a:r>
              <a:rPr lang="zh-CN" altLang="en-US" dirty="0"/>
              <a:t>） </a:t>
            </a:r>
            <a:endParaRPr lang="en-US" altLang="zh-CN" dirty="0"/>
          </a:p>
          <a:p>
            <a:pPr marL="925830" lvl="1" indent="-514350">
              <a:lnSpc>
                <a:spcPct val="120000"/>
              </a:lnSpc>
            </a:pPr>
            <a:r>
              <a:rPr lang="zh-CN" altLang="en-US" dirty="0"/>
              <a:t>一些 人留在这个职业里，只不过是因为他不会做别的。</a:t>
            </a:r>
            <a:endParaRPr lang="en-US" altLang="zh-CN" dirty="0"/>
          </a:p>
          <a:p>
            <a:pPr>
              <a:lnSpc>
                <a:spcPct val="120000"/>
              </a:lnSpc>
            </a:pPr>
            <a:r>
              <a:rPr lang="zh-CN" altLang="en-US" dirty="0"/>
              <a:t>职业 （</a:t>
            </a:r>
            <a:r>
              <a:rPr lang="en-US" altLang="zh-CN" dirty="0"/>
              <a:t>Profession</a:t>
            </a:r>
            <a:r>
              <a:rPr lang="zh-CN" altLang="en-US" dirty="0"/>
              <a:t>） </a:t>
            </a:r>
            <a:endParaRPr lang="en-US" altLang="zh-CN" dirty="0"/>
          </a:p>
          <a:p>
            <a:pPr marL="925830" lvl="1" indent="-514350">
              <a:lnSpc>
                <a:spcPct val="120000"/>
              </a:lnSpc>
            </a:pPr>
            <a:r>
              <a:rPr lang="zh-CN" altLang="en-US" dirty="0"/>
              <a:t>在工作的基础上，如果有足够的职业道德和职业规划，那么工作就是一个“职业”。只 有在这个层次上可以开始谈有意义的“职业发展”。职业人士对“</a:t>
            </a:r>
            <a:r>
              <a:rPr lang="en-US" altLang="zh-CN" dirty="0"/>
              <a:t>30</a:t>
            </a:r>
            <a:r>
              <a:rPr lang="zh-CN" altLang="en-US" dirty="0"/>
              <a:t>岁以后”、“</a:t>
            </a:r>
            <a:r>
              <a:rPr lang="en-US" altLang="zh-CN" dirty="0"/>
              <a:t>35</a:t>
            </a:r>
            <a:r>
              <a:rPr lang="zh-CN" altLang="en-US" dirty="0"/>
              <a:t>岁 以后”都有一定的打算。 </a:t>
            </a:r>
            <a:endParaRPr lang="en-US" altLang="zh-CN" dirty="0"/>
          </a:p>
          <a:p>
            <a:pPr>
              <a:lnSpc>
                <a:spcPct val="120000"/>
              </a:lnSpc>
            </a:pPr>
            <a:r>
              <a:rPr lang="zh-CN" altLang="en-US" dirty="0"/>
              <a:t>投身的事业 （</a:t>
            </a:r>
            <a:r>
              <a:rPr lang="en-US" altLang="zh-CN" dirty="0"/>
              <a:t>Commitment / vocation</a:t>
            </a:r>
            <a:r>
              <a:rPr lang="zh-CN" altLang="en-US" dirty="0"/>
              <a:t>） </a:t>
            </a:r>
            <a:endParaRPr lang="en-US" altLang="zh-CN" dirty="0"/>
          </a:p>
          <a:p>
            <a:pPr marL="925830" lvl="1" indent="-514350">
              <a:lnSpc>
                <a:spcPct val="120000"/>
              </a:lnSpc>
            </a:pPr>
            <a:r>
              <a:rPr lang="zh-CN" altLang="en-US" dirty="0"/>
              <a:t>把软件项目相关的目标作为长期的承诺，碰到困难也不退缩，一直坚持到完成任务。 </a:t>
            </a:r>
            <a:endParaRPr lang="en-US" altLang="zh-CN" dirty="0"/>
          </a:p>
          <a:p>
            <a:pPr>
              <a:lnSpc>
                <a:spcPct val="120000"/>
              </a:lnSpc>
            </a:pPr>
            <a:r>
              <a:rPr lang="zh-CN" altLang="en-US" dirty="0"/>
              <a:t>理想的呼唤（</a:t>
            </a:r>
            <a:r>
              <a:rPr lang="en-US" altLang="zh-CN" dirty="0"/>
              <a:t>Calling</a:t>
            </a:r>
            <a:r>
              <a:rPr lang="zh-CN" altLang="en-US" dirty="0"/>
              <a:t>） </a:t>
            </a:r>
            <a:endParaRPr lang="en-US" altLang="zh-CN" dirty="0"/>
          </a:p>
          <a:p>
            <a:pPr marL="925830" lvl="1" indent="-514350">
              <a:lnSpc>
                <a:spcPct val="120000"/>
              </a:lnSpc>
            </a:pPr>
            <a:r>
              <a:rPr lang="zh-CN" altLang="en-US" dirty="0"/>
              <a:t>通过软件可以改变世界，他们主动寻找机会，实现自己 的理想。</a:t>
            </a:r>
            <a:endParaRPr lang="en-US" altLang="zh-CN" dirty="0"/>
          </a:p>
          <a:p>
            <a:pPr marL="633222" indent="-514350">
              <a:lnSpc>
                <a:spcPct val="120000"/>
              </a:lnSpc>
            </a:pPr>
            <a:r>
              <a:rPr lang="zh-CN" altLang="en-US" dirty="0"/>
              <a:t>职业只是人生的一部分</a:t>
            </a:r>
            <a:endParaRPr lang="en-US" altLang="zh-CN" dirty="0"/>
          </a:p>
        </p:txBody>
      </p:sp>
    </p:spTree>
    <p:extLst>
      <p:ext uri="{BB962C8B-B14F-4D97-AF65-F5344CB8AC3E}">
        <p14:creationId xmlns:p14="http://schemas.microsoft.com/office/powerpoint/2010/main" val="2300063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E581D-1C3A-4D84-9BB3-E1E6A48645E8}"/>
              </a:ext>
            </a:extLst>
          </p:cNvPr>
          <p:cNvSpPr>
            <a:spLocks noGrp="1"/>
          </p:cNvSpPr>
          <p:nvPr>
            <p:ph type="title"/>
          </p:nvPr>
        </p:nvSpPr>
        <p:spPr/>
        <p:txBody>
          <a:bodyPr/>
          <a:lstStyle/>
          <a:p>
            <a:r>
              <a:rPr lang="zh-CN" altLang="en-US" dirty="0"/>
              <a:t>全栈  </a:t>
            </a:r>
            <a:r>
              <a:rPr lang="en-US" altLang="zh-CN" dirty="0"/>
              <a:t>+ AI?</a:t>
            </a:r>
            <a:endParaRPr lang="en-US" dirty="0"/>
          </a:p>
        </p:txBody>
      </p:sp>
      <p:pic>
        <p:nvPicPr>
          <p:cNvPr id="5" name="Content Placeholder 4" descr="A screenshot of a cell phone&#10;&#10;Description generated with very high confidence">
            <a:extLst>
              <a:ext uri="{FF2B5EF4-FFF2-40B4-BE49-F238E27FC236}">
                <a16:creationId xmlns:a16="http://schemas.microsoft.com/office/drawing/2014/main" id="{56C10E46-038D-4453-954F-4E1ACF587B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76400"/>
            <a:ext cx="5734050" cy="2838450"/>
          </a:xfrm>
          <a:ln>
            <a:solidFill>
              <a:schemeClr val="accent1"/>
            </a:solidFill>
          </a:ln>
        </p:spPr>
      </p:pic>
      <p:pic>
        <p:nvPicPr>
          <p:cNvPr id="6" name="Picture 5">
            <a:extLst>
              <a:ext uri="{FF2B5EF4-FFF2-40B4-BE49-F238E27FC236}">
                <a16:creationId xmlns:a16="http://schemas.microsoft.com/office/drawing/2014/main" id="{45334B2E-393A-4523-ACF7-68CB31302DC5}"/>
              </a:ext>
            </a:extLst>
          </p:cNvPr>
          <p:cNvPicPr>
            <a:picLocks noChangeAspect="1"/>
          </p:cNvPicPr>
          <p:nvPr/>
        </p:nvPicPr>
        <p:blipFill>
          <a:blip r:embed="rId3"/>
          <a:stretch>
            <a:fillRect/>
          </a:stretch>
        </p:blipFill>
        <p:spPr>
          <a:xfrm>
            <a:off x="6324600" y="4038600"/>
            <a:ext cx="5520708" cy="2567677"/>
          </a:xfrm>
          <a:prstGeom prst="rect">
            <a:avLst/>
          </a:prstGeom>
          <a:ln>
            <a:solidFill>
              <a:schemeClr val="accent1"/>
            </a:solidFill>
          </a:ln>
        </p:spPr>
      </p:pic>
      <p:sp>
        <p:nvSpPr>
          <p:cNvPr id="7" name="TextBox 6">
            <a:extLst>
              <a:ext uri="{FF2B5EF4-FFF2-40B4-BE49-F238E27FC236}">
                <a16:creationId xmlns:a16="http://schemas.microsoft.com/office/drawing/2014/main" id="{D4465468-0AD9-417C-9815-8E2D3AB86EDE}"/>
              </a:ext>
            </a:extLst>
          </p:cNvPr>
          <p:cNvSpPr txBox="1"/>
          <p:nvPr/>
        </p:nvSpPr>
        <p:spPr>
          <a:xfrm>
            <a:off x="6629400" y="1905000"/>
            <a:ext cx="5105400" cy="369332"/>
          </a:xfrm>
          <a:prstGeom prst="rect">
            <a:avLst/>
          </a:prstGeom>
          <a:noFill/>
        </p:spPr>
        <p:txBody>
          <a:bodyPr wrap="square" rtlCol="0">
            <a:spAutoFit/>
          </a:bodyPr>
          <a:lstStyle/>
          <a:p>
            <a:r>
              <a:rPr lang="en-US" dirty="0"/>
              <a:t>AI </a:t>
            </a:r>
            <a:r>
              <a:rPr lang="zh-CN" altLang="en-US" dirty="0"/>
              <a:t>应该在哪一个层面上呢？</a:t>
            </a:r>
            <a:endParaRPr lang="en-US" dirty="0"/>
          </a:p>
        </p:txBody>
      </p:sp>
    </p:spTree>
    <p:extLst>
      <p:ext uri="{BB962C8B-B14F-4D97-AF65-F5344CB8AC3E}">
        <p14:creationId xmlns:p14="http://schemas.microsoft.com/office/powerpoint/2010/main" val="2324583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3260-D3B2-467A-9605-1567B03BC767}"/>
              </a:ext>
            </a:extLst>
          </p:cNvPr>
          <p:cNvSpPr>
            <a:spLocks noGrp="1"/>
          </p:cNvSpPr>
          <p:nvPr>
            <p:ph type="title"/>
          </p:nvPr>
        </p:nvSpPr>
        <p:spPr/>
        <p:txBody>
          <a:bodyPr/>
          <a:lstStyle/>
          <a:p>
            <a:r>
              <a:rPr lang="zh-CN" altLang="en-US" dirty="0"/>
              <a:t>专和广的关系</a:t>
            </a:r>
            <a:endParaRPr lang="en-US" dirty="0"/>
          </a:p>
        </p:txBody>
      </p:sp>
      <p:pic>
        <p:nvPicPr>
          <p:cNvPr id="5" name="Content Placeholder 4" descr="A picture containing photo&#10;&#10;Description generated with very high confidence">
            <a:extLst>
              <a:ext uri="{FF2B5EF4-FFF2-40B4-BE49-F238E27FC236}">
                <a16:creationId xmlns:a16="http://schemas.microsoft.com/office/drawing/2014/main" id="{9B6DC81D-1AF6-41E5-BF33-87EE08AB62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6477000" cy="1942751"/>
          </a:xfrm>
        </p:spPr>
      </p:pic>
      <p:pic>
        <p:nvPicPr>
          <p:cNvPr id="7" name="Picture 6" descr="A picture containing photo, showing, different&#10;&#10;Description generated with very high confidence">
            <a:extLst>
              <a:ext uri="{FF2B5EF4-FFF2-40B4-BE49-F238E27FC236}">
                <a16:creationId xmlns:a16="http://schemas.microsoft.com/office/drawing/2014/main" id="{CF7246D8-CDB3-458A-9C98-2C4163664A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810000"/>
            <a:ext cx="6514342" cy="1942751"/>
          </a:xfrm>
          <a:prstGeom prst="rect">
            <a:avLst/>
          </a:prstGeom>
        </p:spPr>
      </p:pic>
      <p:sp>
        <p:nvSpPr>
          <p:cNvPr id="8" name="TextBox 7">
            <a:extLst>
              <a:ext uri="{FF2B5EF4-FFF2-40B4-BE49-F238E27FC236}">
                <a16:creationId xmlns:a16="http://schemas.microsoft.com/office/drawing/2014/main" id="{7EFD9301-16B7-4DB9-BE5C-86698CD44A14}"/>
              </a:ext>
            </a:extLst>
          </p:cNvPr>
          <p:cNvSpPr txBox="1"/>
          <p:nvPr/>
        </p:nvSpPr>
        <p:spPr>
          <a:xfrm>
            <a:off x="7543800" y="1981200"/>
            <a:ext cx="4419600" cy="3693319"/>
          </a:xfrm>
          <a:prstGeom prst="rect">
            <a:avLst/>
          </a:prstGeom>
          <a:noFill/>
        </p:spPr>
        <p:txBody>
          <a:bodyPr wrap="square" rtlCol="0">
            <a:spAutoFit/>
          </a:bodyPr>
          <a:lstStyle/>
          <a:p>
            <a:r>
              <a:rPr lang="zh-CN" altLang="en-US" dirty="0"/>
              <a:t>软件工程师：手工劳动 </a:t>
            </a:r>
            <a:r>
              <a:rPr lang="en-US" altLang="zh-CN" dirty="0"/>
              <a:t>vs </a:t>
            </a:r>
            <a:r>
              <a:rPr lang="zh-CN" altLang="en-US" dirty="0"/>
              <a:t>设计</a:t>
            </a:r>
            <a:endParaRPr lang="en-US" altLang="zh-CN" dirty="0"/>
          </a:p>
          <a:p>
            <a:endParaRPr lang="en-US" dirty="0"/>
          </a:p>
          <a:p>
            <a:r>
              <a:rPr lang="zh-CN" altLang="en-US" dirty="0"/>
              <a:t>作曲家在写交响乐时，他对各种乐器都很了解，全栈？</a:t>
            </a:r>
            <a:endParaRPr lang="en-US" altLang="zh-CN" dirty="0"/>
          </a:p>
          <a:p>
            <a:endParaRPr lang="en-US" dirty="0"/>
          </a:p>
          <a:p>
            <a:r>
              <a:rPr lang="zh-CN" altLang="en-US" dirty="0"/>
              <a:t>交响乐在演奏是，指挥了解所有乐器，但是并不是一个人奔波演奏各个乐器。</a:t>
            </a:r>
            <a:endParaRPr lang="en-US" altLang="zh-CN" dirty="0"/>
          </a:p>
          <a:p>
            <a:endParaRPr lang="en-US" altLang="zh-CN" dirty="0"/>
          </a:p>
          <a:p>
            <a:r>
              <a:rPr lang="zh-CN" altLang="en-US" dirty="0"/>
              <a:t>全栈工程师为何要全栈？ </a:t>
            </a:r>
            <a:endParaRPr lang="en-US" altLang="zh-CN" dirty="0"/>
          </a:p>
          <a:p>
            <a:endParaRPr lang="en-US" altLang="zh-CN" dirty="0"/>
          </a:p>
          <a:p>
            <a:r>
              <a:rPr lang="zh-CN" altLang="en-US" dirty="0"/>
              <a:t>软件工设计程师 </a:t>
            </a:r>
            <a:r>
              <a:rPr lang="en-US" altLang="zh-CN" dirty="0"/>
              <a:t>= </a:t>
            </a:r>
            <a:r>
              <a:rPr lang="zh-CN" altLang="en-US" dirty="0"/>
              <a:t>作曲家？</a:t>
            </a:r>
            <a:endParaRPr lang="en-US" altLang="zh-CN" dirty="0"/>
          </a:p>
          <a:p>
            <a:r>
              <a:rPr lang="zh-CN" altLang="en-US" dirty="0"/>
              <a:t>项目经理 </a:t>
            </a:r>
            <a:r>
              <a:rPr lang="en-US" altLang="zh-CN" dirty="0"/>
              <a:t>= </a:t>
            </a:r>
            <a:r>
              <a:rPr lang="zh-CN" altLang="en-US" dirty="0"/>
              <a:t>指挥家？</a:t>
            </a:r>
            <a:endParaRPr lang="en-US" altLang="zh-CN" dirty="0"/>
          </a:p>
          <a:p>
            <a:endParaRPr lang="en-US" altLang="zh-CN" dirty="0"/>
          </a:p>
        </p:txBody>
      </p:sp>
    </p:spTree>
    <p:extLst>
      <p:ext uri="{BB962C8B-B14F-4D97-AF65-F5344CB8AC3E}">
        <p14:creationId xmlns:p14="http://schemas.microsoft.com/office/powerpoint/2010/main" val="8520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1F3B1-E8CF-412B-8E5A-F0AA062CD54D}"/>
              </a:ext>
            </a:extLst>
          </p:cNvPr>
          <p:cNvSpPr>
            <a:spLocks noGrp="1"/>
          </p:cNvSpPr>
          <p:nvPr>
            <p:ph type="title"/>
          </p:nvPr>
        </p:nvSpPr>
        <p:spPr/>
        <p:txBody>
          <a:bodyPr/>
          <a:lstStyle/>
          <a:p>
            <a:r>
              <a:rPr lang="zh-CN" altLang="en-US" dirty="0"/>
              <a:t>即使 “增删改查” 也不简单</a:t>
            </a:r>
            <a:endParaRPr lang="en-US" dirty="0"/>
          </a:p>
        </p:txBody>
      </p:sp>
      <p:pic>
        <p:nvPicPr>
          <p:cNvPr id="4" name="Content Placeholder 3">
            <a:extLst>
              <a:ext uri="{FF2B5EF4-FFF2-40B4-BE49-F238E27FC236}">
                <a16:creationId xmlns:a16="http://schemas.microsoft.com/office/drawing/2014/main" id="{BFD6E818-E535-4091-B8A3-9135B124C9F4}"/>
              </a:ext>
            </a:extLst>
          </p:cNvPr>
          <p:cNvPicPr>
            <a:picLocks noGrp="1" noChangeAspect="1"/>
          </p:cNvPicPr>
          <p:nvPr>
            <p:ph idx="1"/>
          </p:nvPr>
        </p:nvPicPr>
        <p:blipFill>
          <a:blip r:embed="rId2"/>
          <a:stretch>
            <a:fillRect/>
          </a:stretch>
        </p:blipFill>
        <p:spPr>
          <a:xfrm>
            <a:off x="1977523" y="1825625"/>
            <a:ext cx="8519528" cy="4351338"/>
          </a:xfrm>
          <a:prstGeom prst="rect">
            <a:avLst/>
          </a:prstGeom>
        </p:spPr>
      </p:pic>
    </p:spTree>
    <p:extLst>
      <p:ext uri="{BB962C8B-B14F-4D97-AF65-F5344CB8AC3E}">
        <p14:creationId xmlns:p14="http://schemas.microsoft.com/office/powerpoint/2010/main" val="1015395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BCE9-2E20-4101-BCFE-AC298CC1B610}"/>
              </a:ext>
            </a:extLst>
          </p:cNvPr>
          <p:cNvSpPr>
            <a:spLocks noGrp="1"/>
          </p:cNvSpPr>
          <p:nvPr>
            <p:ph type="title"/>
          </p:nvPr>
        </p:nvSpPr>
        <p:spPr/>
        <p:txBody>
          <a:bodyPr/>
          <a:lstStyle/>
          <a:p>
            <a:r>
              <a:rPr lang="zh-CN" altLang="en-US" dirty="0"/>
              <a:t>职业成长 </a:t>
            </a:r>
            <a:r>
              <a:rPr lang="en-US" altLang="zh-CN" dirty="0"/>
              <a:t>– </a:t>
            </a:r>
            <a:r>
              <a:rPr lang="zh-CN" altLang="en-US" dirty="0"/>
              <a:t>考级之路</a:t>
            </a:r>
            <a:r>
              <a:rPr lang="en-US" altLang="zh-CN" dirty="0"/>
              <a:t> </a:t>
            </a:r>
            <a:endParaRPr lang="en-US" dirty="0"/>
          </a:p>
        </p:txBody>
      </p:sp>
      <p:sp>
        <p:nvSpPr>
          <p:cNvPr id="3" name="Content Placeholder 2">
            <a:extLst>
              <a:ext uri="{FF2B5EF4-FFF2-40B4-BE49-F238E27FC236}">
                <a16:creationId xmlns:a16="http://schemas.microsoft.com/office/drawing/2014/main" id="{F876E99F-11C0-4993-8B59-8472014E7D55}"/>
              </a:ext>
            </a:extLst>
          </p:cNvPr>
          <p:cNvSpPr>
            <a:spLocks noGrp="1"/>
          </p:cNvSpPr>
          <p:nvPr>
            <p:ph idx="1"/>
          </p:nvPr>
        </p:nvSpPr>
        <p:spPr/>
        <p:txBody>
          <a:bodyPr>
            <a:normAutofit fontScale="47500" lnSpcReduction="20000"/>
          </a:bodyPr>
          <a:lstStyle/>
          <a:p>
            <a:pPr>
              <a:lnSpc>
                <a:spcPct val="120000"/>
              </a:lnSpc>
            </a:pPr>
            <a:r>
              <a:rPr lang="zh-CN" altLang="en-US" dirty="0"/>
              <a:t>在中国，软件工程师的职业资格考试有：</a:t>
            </a:r>
            <a:endParaRPr lang="en-US" altLang="zh-CN" dirty="0"/>
          </a:p>
          <a:p>
            <a:pPr lvl="1">
              <a:lnSpc>
                <a:spcPct val="120000"/>
              </a:lnSpc>
            </a:pPr>
            <a:r>
              <a:rPr lang="zh-CN" altLang="en-US" dirty="0"/>
              <a:t>计算机等级考试</a:t>
            </a:r>
            <a:endParaRPr lang="en-US" altLang="zh-CN" dirty="0"/>
          </a:p>
          <a:p>
            <a:pPr lvl="1">
              <a:lnSpc>
                <a:spcPct val="120000"/>
              </a:lnSpc>
            </a:pPr>
            <a:r>
              <a:rPr lang="zh-CN" altLang="en-US" dirty="0"/>
              <a:t>全国计算机技术与软件专业技术资格考试</a:t>
            </a:r>
          </a:p>
          <a:p>
            <a:pPr>
              <a:lnSpc>
                <a:spcPct val="120000"/>
              </a:lnSpc>
            </a:pPr>
            <a:r>
              <a:rPr lang="zh-CN" altLang="en-US" dirty="0"/>
              <a:t>好处</a:t>
            </a:r>
            <a:endParaRPr lang="en-US" altLang="zh-CN" dirty="0"/>
          </a:p>
          <a:p>
            <a:pPr lvl="1">
              <a:lnSpc>
                <a:spcPct val="120000"/>
              </a:lnSpc>
            </a:pPr>
            <a:r>
              <a:rPr lang="zh-CN" altLang="en-US" dirty="0"/>
              <a:t>国家认证，有一定的权威性和通用性</a:t>
            </a:r>
            <a:endParaRPr lang="en-US" altLang="zh-CN" dirty="0"/>
          </a:p>
          <a:p>
            <a:pPr lvl="1">
              <a:lnSpc>
                <a:spcPct val="120000"/>
              </a:lnSpc>
            </a:pPr>
            <a:r>
              <a:rPr lang="zh-CN" altLang="en-US" dirty="0"/>
              <a:t>任何人都可以参与</a:t>
            </a:r>
          </a:p>
          <a:p>
            <a:pPr>
              <a:lnSpc>
                <a:spcPct val="120000"/>
              </a:lnSpc>
            </a:pPr>
            <a:r>
              <a:rPr lang="zh-CN" altLang="en-US" dirty="0"/>
              <a:t>局限性：</a:t>
            </a:r>
            <a:endParaRPr lang="en-US" altLang="zh-CN" dirty="0"/>
          </a:p>
          <a:p>
            <a:pPr lvl="1">
              <a:lnSpc>
                <a:spcPct val="120000"/>
              </a:lnSpc>
            </a:pPr>
            <a:r>
              <a:rPr lang="zh-CN" altLang="en-US" dirty="0"/>
              <a:t>以答题</a:t>
            </a:r>
            <a:r>
              <a:rPr lang="en-US" altLang="zh-CN" dirty="0"/>
              <a:t>/ </a:t>
            </a:r>
            <a:r>
              <a:rPr lang="zh-CN" altLang="en-US" dirty="0"/>
              <a:t>评分为主要考试形式，没有面对面的口试</a:t>
            </a:r>
          </a:p>
          <a:p>
            <a:pPr lvl="1">
              <a:lnSpc>
                <a:spcPct val="120000"/>
              </a:lnSpc>
            </a:pPr>
            <a:r>
              <a:rPr lang="zh-CN" altLang="en-US" dirty="0"/>
              <a:t>考试中每个人单独行动，不能考量团队合作能力</a:t>
            </a:r>
            <a:endParaRPr lang="en-US" altLang="zh-CN" dirty="0"/>
          </a:p>
          <a:p>
            <a:pPr lvl="1">
              <a:lnSpc>
                <a:spcPct val="120000"/>
              </a:lnSpc>
            </a:pPr>
            <a:r>
              <a:rPr lang="zh-CN" altLang="en-US" dirty="0"/>
              <a:t>考题内容相对滞后于工业界的发展，部分内容相当滞后</a:t>
            </a:r>
            <a:endParaRPr lang="en-US" altLang="zh-CN" dirty="0"/>
          </a:p>
          <a:p>
            <a:pPr>
              <a:lnSpc>
                <a:spcPct val="120000"/>
              </a:lnSpc>
            </a:pPr>
            <a:r>
              <a:rPr lang="zh-CN" altLang="en-US" dirty="0"/>
              <a:t>职业资格认证</a:t>
            </a:r>
            <a:endParaRPr lang="en-US" altLang="zh-CN" dirty="0"/>
          </a:p>
          <a:p>
            <a:pPr lvl="1">
              <a:lnSpc>
                <a:spcPct val="120000"/>
              </a:lnSpc>
            </a:pPr>
            <a:r>
              <a:rPr lang="en-US" altLang="zh-CN" dirty="0">
                <a:hlinkClick r:id="rId2"/>
              </a:rPr>
              <a:t>http://cspro.ccf.org.cn</a:t>
            </a:r>
            <a:r>
              <a:rPr lang="en-US" altLang="zh-CN" dirty="0"/>
              <a:t> </a:t>
            </a:r>
            <a:r>
              <a:rPr lang="zh-CN" altLang="en-US" dirty="0"/>
              <a:t>（中国计算机协会）</a:t>
            </a:r>
            <a:endParaRPr lang="en-US" altLang="zh-CN" dirty="0"/>
          </a:p>
          <a:p>
            <a:pPr lvl="1">
              <a:lnSpc>
                <a:spcPct val="120000"/>
              </a:lnSpc>
            </a:pPr>
            <a:r>
              <a:rPr lang="en-US" altLang="zh-CN" dirty="0">
                <a:hlinkClick r:id="rId3"/>
              </a:rPr>
              <a:t>http://pat.zju.edu.cn</a:t>
            </a:r>
            <a:r>
              <a:rPr lang="en-US" altLang="zh-CN" dirty="0"/>
              <a:t> (</a:t>
            </a:r>
            <a:r>
              <a:rPr lang="zh-CN" altLang="en-US" dirty="0"/>
              <a:t>浙江大学开发）</a:t>
            </a:r>
            <a:endParaRPr lang="en-US" altLang="zh-CN" dirty="0"/>
          </a:p>
          <a:p>
            <a:pPr>
              <a:lnSpc>
                <a:spcPct val="120000"/>
              </a:lnSpc>
            </a:pPr>
            <a:r>
              <a:rPr lang="zh-CN" altLang="en-US" dirty="0"/>
              <a:t>企业认证</a:t>
            </a:r>
            <a:endParaRPr lang="en-US" altLang="zh-CN" dirty="0"/>
          </a:p>
          <a:p>
            <a:pPr lvl="1">
              <a:lnSpc>
                <a:spcPct val="120000"/>
              </a:lnSpc>
            </a:pPr>
            <a:r>
              <a:rPr lang="en-US" altLang="zh-CN" dirty="0"/>
              <a:t>Microsoft Certified Professional, etc. </a:t>
            </a:r>
          </a:p>
        </p:txBody>
      </p:sp>
      <p:pic>
        <p:nvPicPr>
          <p:cNvPr id="4" name="Picture 3">
            <a:extLst>
              <a:ext uri="{FF2B5EF4-FFF2-40B4-BE49-F238E27FC236}">
                <a16:creationId xmlns:a16="http://schemas.microsoft.com/office/drawing/2014/main" id="{25861AAB-F464-4090-8DC9-BFE6E0655A4F}"/>
              </a:ext>
            </a:extLst>
          </p:cNvPr>
          <p:cNvPicPr>
            <a:picLocks noChangeAspect="1"/>
          </p:cNvPicPr>
          <p:nvPr/>
        </p:nvPicPr>
        <p:blipFill>
          <a:blip r:embed="rId4"/>
          <a:stretch>
            <a:fillRect/>
          </a:stretch>
        </p:blipFill>
        <p:spPr>
          <a:xfrm>
            <a:off x="6128657" y="1794786"/>
            <a:ext cx="5659554" cy="2964337"/>
          </a:xfrm>
          <a:prstGeom prst="rect">
            <a:avLst/>
          </a:prstGeom>
        </p:spPr>
      </p:pic>
    </p:spTree>
    <p:extLst>
      <p:ext uri="{BB962C8B-B14F-4D97-AF65-F5344CB8AC3E}">
        <p14:creationId xmlns:p14="http://schemas.microsoft.com/office/powerpoint/2010/main" val="41145946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9C9C-D443-489E-A0C5-7EC2B17D18AB}"/>
              </a:ext>
            </a:extLst>
          </p:cNvPr>
          <p:cNvSpPr>
            <a:spLocks noGrp="1"/>
          </p:cNvSpPr>
          <p:nvPr>
            <p:ph type="title"/>
          </p:nvPr>
        </p:nvSpPr>
        <p:spPr/>
        <p:txBody>
          <a:bodyPr/>
          <a:lstStyle/>
          <a:p>
            <a:r>
              <a:rPr lang="zh-CN" altLang="en-US" dirty="0"/>
              <a:t>职业成长 </a:t>
            </a:r>
            <a:r>
              <a:rPr lang="en-US" altLang="zh-CN" dirty="0"/>
              <a:t>– </a:t>
            </a:r>
            <a:r>
              <a:rPr lang="zh-CN" altLang="en-US" dirty="0"/>
              <a:t>公司</a:t>
            </a:r>
            <a:endParaRPr lang="en-US" dirty="0"/>
          </a:p>
        </p:txBody>
      </p:sp>
      <p:sp>
        <p:nvSpPr>
          <p:cNvPr id="3" name="Content Placeholder 2">
            <a:extLst>
              <a:ext uri="{FF2B5EF4-FFF2-40B4-BE49-F238E27FC236}">
                <a16:creationId xmlns:a16="http://schemas.microsoft.com/office/drawing/2014/main" id="{406BD772-20A0-42CA-8865-8FBCE242C12A}"/>
              </a:ext>
            </a:extLst>
          </p:cNvPr>
          <p:cNvSpPr>
            <a:spLocks noGrp="1"/>
          </p:cNvSpPr>
          <p:nvPr>
            <p:ph idx="1"/>
          </p:nvPr>
        </p:nvSpPr>
        <p:spPr/>
        <p:txBody>
          <a:bodyPr/>
          <a:lstStyle/>
          <a:p>
            <a:r>
              <a:rPr lang="en-US" altLang="zh-CN" dirty="0" err="1"/>
              <a:t>Construx</a:t>
            </a:r>
            <a:r>
              <a:rPr lang="en-US" altLang="zh-CN" dirty="0"/>
              <a:t> Co.</a:t>
            </a:r>
            <a:r>
              <a:rPr lang="zh-CN" altLang="en-US" dirty="0"/>
              <a:t> </a:t>
            </a:r>
            <a:r>
              <a:rPr lang="en-US" altLang="zh-CN" dirty="0"/>
              <a:t>: Professional Development Ladder</a:t>
            </a:r>
          </a:p>
          <a:p>
            <a:r>
              <a:rPr lang="en-US" altLang="zh-CN" dirty="0"/>
              <a:t>Microsoft</a:t>
            </a:r>
          </a:p>
          <a:p>
            <a:pPr marL="118872" indent="0">
              <a:buNone/>
            </a:pPr>
            <a:endParaRPr lang="en-US" altLang="zh-CN" dirty="0"/>
          </a:p>
        </p:txBody>
      </p:sp>
      <p:pic>
        <p:nvPicPr>
          <p:cNvPr id="4" name="Picture 3">
            <a:extLst>
              <a:ext uri="{FF2B5EF4-FFF2-40B4-BE49-F238E27FC236}">
                <a16:creationId xmlns:a16="http://schemas.microsoft.com/office/drawing/2014/main" id="{CC7A7975-767A-4493-86EC-7B0A63AA8B7B}"/>
              </a:ext>
            </a:extLst>
          </p:cNvPr>
          <p:cNvPicPr>
            <a:picLocks noChangeAspect="1"/>
          </p:cNvPicPr>
          <p:nvPr/>
        </p:nvPicPr>
        <p:blipFill>
          <a:blip r:embed="rId2"/>
          <a:stretch>
            <a:fillRect/>
          </a:stretch>
        </p:blipFill>
        <p:spPr>
          <a:xfrm>
            <a:off x="609600" y="3048000"/>
            <a:ext cx="11437730" cy="3466486"/>
          </a:xfrm>
          <a:prstGeom prst="rect">
            <a:avLst/>
          </a:prstGeom>
        </p:spPr>
      </p:pic>
    </p:spTree>
    <p:extLst>
      <p:ext uri="{BB962C8B-B14F-4D97-AF65-F5344CB8AC3E}">
        <p14:creationId xmlns:p14="http://schemas.microsoft.com/office/powerpoint/2010/main" val="40834505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2FF8-9FC2-4C26-9C43-08F83C140D51}"/>
              </a:ext>
            </a:extLst>
          </p:cNvPr>
          <p:cNvSpPr>
            <a:spLocks noGrp="1"/>
          </p:cNvSpPr>
          <p:nvPr>
            <p:ph type="title"/>
          </p:nvPr>
        </p:nvSpPr>
        <p:spPr/>
        <p:txBody>
          <a:bodyPr/>
          <a:lstStyle/>
          <a:p>
            <a:r>
              <a:rPr lang="zh-CN" altLang="en-US" dirty="0"/>
              <a:t>如何证明能力</a:t>
            </a:r>
            <a:r>
              <a:rPr lang="en-US" altLang="zh-CN" dirty="0"/>
              <a:t>?</a:t>
            </a:r>
            <a:endParaRPr lang="en-US" dirty="0"/>
          </a:p>
        </p:txBody>
      </p:sp>
      <p:sp>
        <p:nvSpPr>
          <p:cNvPr id="3" name="Content Placeholder 2">
            <a:extLst>
              <a:ext uri="{FF2B5EF4-FFF2-40B4-BE49-F238E27FC236}">
                <a16:creationId xmlns:a16="http://schemas.microsoft.com/office/drawing/2014/main" id="{8F410D44-6CD5-4A59-973A-E621E87AF488}"/>
              </a:ext>
            </a:extLst>
          </p:cNvPr>
          <p:cNvSpPr>
            <a:spLocks noGrp="1"/>
          </p:cNvSpPr>
          <p:nvPr>
            <p:ph idx="1"/>
          </p:nvPr>
        </p:nvSpPr>
        <p:spPr/>
        <p:txBody>
          <a:bodyPr>
            <a:normAutofit fontScale="92500" lnSpcReduction="20000"/>
          </a:bodyPr>
          <a:lstStyle/>
          <a:p>
            <a:pPr>
              <a:lnSpc>
                <a:spcPct val="110000"/>
              </a:lnSpc>
            </a:pPr>
            <a:r>
              <a:rPr lang="zh-CN" altLang="en-US" dirty="0"/>
              <a:t>发布过什么产品？</a:t>
            </a:r>
            <a:endParaRPr lang="en-US" altLang="zh-CN" dirty="0"/>
          </a:p>
          <a:p>
            <a:pPr>
              <a:lnSpc>
                <a:spcPct val="110000"/>
              </a:lnSpc>
            </a:pPr>
            <a:r>
              <a:rPr lang="zh-CN" altLang="en-US" dirty="0"/>
              <a:t>你当过新员工的导师么？他们后来都遵从你的种种教诲么？ </a:t>
            </a:r>
            <a:endParaRPr lang="en-US" altLang="zh-CN" dirty="0"/>
          </a:p>
          <a:p>
            <a:pPr>
              <a:lnSpc>
                <a:spcPct val="110000"/>
              </a:lnSpc>
            </a:pPr>
            <a:r>
              <a:rPr lang="zh-CN" altLang="en-US" dirty="0"/>
              <a:t>你是否成为别人的榜样？</a:t>
            </a:r>
            <a:endParaRPr lang="en-US" altLang="zh-CN" dirty="0"/>
          </a:p>
          <a:p>
            <a:pPr lvl="1">
              <a:lnSpc>
                <a:spcPct val="110000"/>
              </a:lnSpc>
            </a:pPr>
            <a:r>
              <a:rPr lang="zh-CN" altLang="en-US" dirty="0"/>
              <a:t>（写的代码，做的设计，别人可以拿来重用） </a:t>
            </a:r>
            <a:endParaRPr lang="en-US" altLang="zh-CN" dirty="0"/>
          </a:p>
          <a:p>
            <a:pPr>
              <a:lnSpc>
                <a:spcPct val="110000"/>
              </a:lnSpc>
            </a:pPr>
            <a:r>
              <a:rPr lang="zh-CN" altLang="en-US" dirty="0"/>
              <a:t>你在招人方面是否有心得，并能言传身教，让大家都认识到面试的重要性，同时掌握 各种面试技巧？</a:t>
            </a:r>
            <a:endParaRPr lang="en-US" altLang="zh-CN" dirty="0"/>
          </a:p>
          <a:p>
            <a:pPr>
              <a:lnSpc>
                <a:spcPct val="110000"/>
              </a:lnSpc>
            </a:pPr>
            <a:r>
              <a:rPr lang="zh-CN" altLang="en-US" dirty="0"/>
              <a:t>你是否创立</a:t>
            </a:r>
            <a:r>
              <a:rPr lang="en-US" altLang="zh-CN" dirty="0"/>
              <a:t>/</a:t>
            </a:r>
            <a:r>
              <a:rPr lang="zh-CN" altLang="en-US" dirty="0"/>
              <a:t>改进</a:t>
            </a:r>
            <a:r>
              <a:rPr lang="en-US" altLang="zh-CN" dirty="0"/>
              <a:t>/</a:t>
            </a:r>
            <a:r>
              <a:rPr lang="zh-CN" altLang="en-US" dirty="0"/>
              <a:t>推动了一些流程，而且这些流程不需要你亲自参与，也能流传下去？ </a:t>
            </a:r>
            <a:endParaRPr lang="en-US" altLang="zh-CN" dirty="0"/>
          </a:p>
          <a:p>
            <a:pPr>
              <a:lnSpc>
                <a:spcPct val="110000"/>
              </a:lnSpc>
            </a:pPr>
            <a:r>
              <a:rPr lang="zh-CN" altLang="en-US" dirty="0"/>
              <a:t>在和别的角色（例如</a:t>
            </a:r>
            <a:r>
              <a:rPr lang="en-US" altLang="zh-CN" dirty="0"/>
              <a:t>UX/PM/QA</a:t>
            </a:r>
            <a:r>
              <a:rPr lang="zh-CN" altLang="en-US" dirty="0"/>
              <a:t>）打交道的时候，你是否往往都能赢得别人的支持， 而不是和别人反复争执，抱怨不休？</a:t>
            </a:r>
          </a:p>
        </p:txBody>
      </p:sp>
    </p:spTree>
    <p:extLst>
      <p:ext uri="{BB962C8B-B14F-4D97-AF65-F5344CB8AC3E}">
        <p14:creationId xmlns:p14="http://schemas.microsoft.com/office/powerpoint/2010/main" val="2827362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技能是什么？</a:t>
            </a:r>
            <a:endParaRPr lang="en-US" dirty="0"/>
          </a:p>
        </p:txBody>
      </p:sp>
      <p:sp>
        <p:nvSpPr>
          <p:cNvPr id="3" name="Content Placeholder 2"/>
          <p:cNvSpPr>
            <a:spLocks noGrp="1"/>
          </p:cNvSpPr>
          <p:nvPr>
            <p:ph idx="1"/>
          </p:nvPr>
        </p:nvSpPr>
        <p:spPr/>
        <p:txBody>
          <a:bodyPr>
            <a:normAutofit fontScale="92500" lnSpcReduction="20000"/>
          </a:bodyPr>
          <a:lstStyle/>
          <a:p>
            <a:r>
              <a:rPr lang="zh-CN" altLang="en-US" dirty="0"/>
              <a:t>当你说你有技能，具体意味着什么？</a:t>
            </a:r>
            <a:endParaRPr lang="en-US" altLang="zh-CN" dirty="0"/>
          </a:p>
          <a:p>
            <a:pPr lvl="1"/>
            <a:r>
              <a:rPr lang="en-US" dirty="0"/>
              <a:t>When can you claim you have the skill?</a:t>
            </a:r>
          </a:p>
          <a:p>
            <a:r>
              <a:rPr lang="zh-CN" altLang="en-US" dirty="0"/>
              <a:t>技能的反面是？</a:t>
            </a:r>
            <a:r>
              <a:rPr lang="en-US" dirty="0"/>
              <a:t>What’s the opposite of skill?</a:t>
            </a:r>
          </a:p>
          <a:p>
            <a:pPr lvl="1"/>
            <a:r>
              <a:rPr lang="en-US" dirty="0"/>
              <a:t>Unskilled?</a:t>
            </a:r>
          </a:p>
          <a:p>
            <a:pPr lvl="1"/>
            <a:r>
              <a:rPr lang="en-US" dirty="0"/>
              <a:t>“problem solving”</a:t>
            </a:r>
          </a:p>
          <a:p>
            <a:endParaRPr lang="en-US" dirty="0"/>
          </a:p>
          <a:p>
            <a:r>
              <a:rPr lang="en-US" dirty="0">
                <a:hlinkClick r:id="rId2"/>
              </a:rPr>
              <a:t>http://www.billbuxton.com/xc.html</a:t>
            </a:r>
            <a:endParaRPr lang="en-US" dirty="0"/>
          </a:p>
          <a:p>
            <a:endParaRPr lang="en-US" dirty="0"/>
          </a:p>
          <a:p>
            <a:r>
              <a:rPr lang="en-US" dirty="0"/>
              <a:t>Quality vs. Quantity</a:t>
            </a:r>
          </a:p>
          <a:p>
            <a:pPr lvl="1"/>
            <a:r>
              <a:rPr lang="zh-CN" altLang="en-US" dirty="0"/>
              <a:t>陶艺课的故事</a:t>
            </a:r>
            <a:r>
              <a:rPr lang="en-US" dirty="0"/>
              <a:t>,  the “quantity group” vs. “quality group”</a:t>
            </a:r>
          </a:p>
          <a:p>
            <a:r>
              <a:rPr lang="en-US" altLang="zh-CN" dirty="0">
                <a:hlinkClick r:id="rId3"/>
              </a:rPr>
              <a:t>http://www.cnblogs.com/codingcrazy/archive/2011/02/28/1967503.html</a:t>
            </a:r>
            <a:endParaRPr lang="en-US" altLang="zh-CN" dirty="0"/>
          </a:p>
          <a:p>
            <a:pPr marL="118872" indent="0">
              <a:buNone/>
            </a:pPr>
            <a:endParaRPr lang="en-US" dirty="0"/>
          </a:p>
        </p:txBody>
      </p:sp>
    </p:spTree>
    <p:extLst>
      <p:ext uri="{BB962C8B-B14F-4D97-AF65-F5344CB8AC3E}">
        <p14:creationId xmlns:p14="http://schemas.microsoft.com/office/powerpoint/2010/main" val="3413591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不同层次的问题</a:t>
            </a:r>
            <a:endParaRPr lang="en-US" dirty="0"/>
          </a:p>
        </p:txBody>
      </p:sp>
      <p:pic>
        <p:nvPicPr>
          <p:cNvPr id="4" name="Content Placeholder 3"/>
          <p:cNvPicPr>
            <a:picLocks noGrp="1" noChangeAspect="1"/>
          </p:cNvPicPr>
          <p:nvPr>
            <p:ph idx="1"/>
          </p:nvPr>
        </p:nvPicPr>
        <p:blipFill>
          <a:blip r:embed="rId2"/>
          <a:stretch>
            <a:fillRect/>
          </a:stretch>
        </p:blipFill>
        <p:spPr>
          <a:xfrm>
            <a:off x="3295544" y="1624828"/>
            <a:ext cx="5600913" cy="4852172"/>
          </a:xfrm>
          <a:prstGeom prst="rect">
            <a:avLst/>
          </a:prstGeom>
        </p:spPr>
      </p:pic>
    </p:spTree>
    <p:extLst>
      <p:ext uri="{BB962C8B-B14F-4D97-AF65-F5344CB8AC3E}">
        <p14:creationId xmlns:p14="http://schemas.microsoft.com/office/powerpoint/2010/main" val="27888186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“精通”魔方</a:t>
            </a:r>
            <a:endParaRPr lang="en-US" dirty="0"/>
          </a:p>
        </p:txBody>
      </p:sp>
      <p:sp>
        <p:nvSpPr>
          <p:cNvPr id="3" name="Content Placeholder 2"/>
          <p:cNvSpPr>
            <a:spLocks noGrp="1"/>
          </p:cNvSpPr>
          <p:nvPr>
            <p:ph idx="1"/>
          </p:nvPr>
        </p:nvSpPr>
        <p:spPr/>
        <p:txBody>
          <a:bodyPr/>
          <a:lstStyle/>
          <a:p>
            <a:r>
              <a:rPr lang="zh-CN" altLang="en-US" dirty="0"/>
              <a:t>那怎么才能考察出一个人是否“精通”魔方呢</a:t>
            </a:r>
            <a:r>
              <a:rPr lang="en-US" altLang="zh-CN" dirty="0"/>
              <a:t>?  </a:t>
            </a:r>
          </a:p>
          <a:p>
            <a:pPr lvl="1"/>
            <a:r>
              <a:rPr lang="en-US" altLang="zh-CN" dirty="0"/>
              <a:t>a) </a:t>
            </a:r>
            <a:r>
              <a:rPr lang="zh-CN" altLang="en-US" dirty="0"/>
              <a:t>给面试者一个各面打乱颜色的魔方； </a:t>
            </a:r>
          </a:p>
          <a:p>
            <a:pPr lvl="1"/>
            <a:r>
              <a:rPr lang="en-US" altLang="zh-CN" dirty="0"/>
              <a:t>b) </a:t>
            </a:r>
            <a:r>
              <a:rPr lang="zh-CN" altLang="en-US" dirty="0"/>
              <a:t>要求他把六面还原； </a:t>
            </a:r>
          </a:p>
          <a:p>
            <a:pPr lvl="1"/>
            <a:r>
              <a:rPr lang="en-US" altLang="zh-CN" dirty="0"/>
              <a:t>c) </a:t>
            </a:r>
            <a:r>
              <a:rPr lang="zh-CN" altLang="en-US" dirty="0"/>
              <a:t>如果还原了</a:t>
            </a:r>
            <a:r>
              <a:rPr lang="en-US" altLang="zh-CN" dirty="0"/>
              <a:t>, </a:t>
            </a:r>
            <a:r>
              <a:rPr lang="zh-CN" altLang="en-US" dirty="0"/>
              <a:t>要求他把魔方恢复成我最初给他的那个混乱的局面</a:t>
            </a:r>
            <a:r>
              <a:rPr lang="en-US" altLang="zh-CN" dirty="0"/>
              <a:t>, </a:t>
            </a:r>
            <a:r>
              <a:rPr lang="zh-CN" altLang="en-US" dirty="0"/>
              <a:t>必须一模一样。</a:t>
            </a:r>
            <a:endParaRPr lang="en-US" altLang="zh-CN" dirty="0"/>
          </a:p>
          <a:p>
            <a:pPr marL="457200" lvl="1" indent="0">
              <a:buNone/>
            </a:pPr>
            <a:endParaRPr lang="zh-CN" altLang="en-US" dirty="0"/>
          </a:p>
          <a:p>
            <a:r>
              <a:rPr lang="zh-CN" altLang="en-US" dirty="0"/>
              <a:t>精通魔方的同学</a:t>
            </a:r>
            <a:r>
              <a:rPr lang="en-US" altLang="zh-CN" dirty="0"/>
              <a:t>, </a:t>
            </a:r>
            <a:r>
              <a:rPr lang="zh-CN" altLang="en-US" dirty="0"/>
              <a:t>来吧。 </a:t>
            </a:r>
            <a:endParaRPr lang="en-US" dirty="0"/>
          </a:p>
        </p:txBody>
      </p:sp>
    </p:spTree>
    <p:extLst>
      <p:ext uri="{BB962C8B-B14F-4D97-AF65-F5344CB8AC3E}">
        <p14:creationId xmlns:p14="http://schemas.microsoft.com/office/powerpoint/2010/main" val="2540468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高级工程师 和 初级爱好者的区别</a:t>
            </a:r>
            <a:endParaRPr lang="en-US" dirty="0"/>
          </a:p>
        </p:txBody>
      </p:sp>
      <p:sp>
        <p:nvSpPr>
          <p:cNvPr id="3" name="内容占位符 2"/>
          <p:cNvSpPr>
            <a:spLocks noGrp="1"/>
          </p:cNvSpPr>
          <p:nvPr>
            <p:ph idx="1"/>
          </p:nvPr>
        </p:nvSpPr>
        <p:spPr/>
        <p:txBody>
          <a:bodyPr>
            <a:normAutofit/>
          </a:bodyPr>
          <a:lstStyle/>
          <a:p>
            <a:r>
              <a:rPr lang="zh-CN" altLang="en-US" dirty="0"/>
              <a:t>能够计划，并按时交付</a:t>
            </a:r>
            <a:endParaRPr lang="en-US" altLang="zh-CN" dirty="0"/>
          </a:p>
          <a:p>
            <a:r>
              <a:rPr lang="zh-CN" altLang="en-US" dirty="0"/>
              <a:t>能够通过单元测试等实践来保证质量</a:t>
            </a:r>
            <a:endParaRPr lang="en-US" altLang="zh-CN" dirty="0"/>
          </a:p>
          <a:p>
            <a:r>
              <a:rPr lang="zh-CN" altLang="en-US" dirty="0"/>
              <a:t>能够使用工具，做程序的效能分析</a:t>
            </a:r>
            <a:endParaRPr lang="en-US" altLang="zh-CN" dirty="0"/>
          </a:p>
          <a:p>
            <a:r>
              <a:rPr lang="zh-CN" altLang="en-US" dirty="0"/>
              <a:t>能“精通”一些领域，在此基础上发挥效率并创新。</a:t>
            </a:r>
            <a:endParaRPr lang="en-US" altLang="zh-CN" dirty="0"/>
          </a:p>
          <a:p>
            <a:r>
              <a:rPr lang="zh-CN" altLang="en-US" dirty="0"/>
              <a:t>结合中国软件行业的特点，我们可以归纳出在中国</a:t>
            </a:r>
            <a:r>
              <a:rPr lang="en-US" altLang="zh-CN" dirty="0"/>
              <a:t>IT </a:t>
            </a:r>
            <a:r>
              <a:rPr lang="zh-CN" altLang="en-US" dirty="0"/>
              <a:t>行业“好工程师”的要素，并做成一个自我评价清单（</a:t>
            </a:r>
            <a:r>
              <a:rPr lang="en-US" altLang="zh-CN" dirty="0"/>
              <a:t>Check-list</a:t>
            </a:r>
            <a:r>
              <a:rPr lang="zh-CN" altLang="en-US" dirty="0"/>
              <a:t>）</a:t>
            </a:r>
            <a:endParaRPr lang="en-US" altLang="zh-CN" dirty="0"/>
          </a:p>
          <a:p>
            <a:pPr marL="118872" indent="0">
              <a:buNone/>
            </a:pPr>
            <a:r>
              <a:rPr lang="en-US" altLang="zh-CN" dirty="0">
                <a:hlinkClick r:id="rId2"/>
              </a:rPr>
              <a:t>http://www.cnblogs.com/xinz/p/3852177.html</a:t>
            </a:r>
            <a:r>
              <a:rPr lang="en-US" altLang="zh-CN" dirty="0"/>
              <a:t> </a:t>
            </a:r>
            <a:endParaRPr lang="en-US" dirty="0"/>
          </a:p>
        </p:txBody>
      </p:sp>
    </p:spTree>
    <p:extLst>
      <p:ext uri="{BB962C8B-B14F-4D97-AF65-F5344CB8AC3E}">
        <p14:creationId xmlns:p14="http://schemas.microsoft.com/office/powerpoint/2010/main" val="4135875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Homework</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a:hlinkClick r:id="rId2"/>
              </a:rPr>
              <a:t>http://www.cnblogs.com/xinz/p/3803109.html</a:t>
            </a:r>
            <a:endParaRPr lang="en-US" altLang="zh-CN"/>
          </a:p>
          <a:p>
            <a:endParaRPr lang="en-US" altLang="zh-CN"/>
          </a:p>
          <a:p>
            <a:r>
              <a:rPr lang="en-US" altLang="zh-CN" dirty="0"/>
              <a:t>how do you measure the performance of each team member?</a:t>
            </a:r>
          </a:p>
          <a:p>
            <a:pPr lvl="1"/>
            <a:r>
              <a:rPr lang="zh-CN" altLang="en-US" sz="2200" dirty="0"/>
              <a:t>一群人把一堆砖头从</a:t>
            </a:r>
            <a:r>
              <a:rPr lang="en-US" altLang="zh-CN" sz="2200" dirty="0"/>
              <a:t>A</a:t>
            </a:r>
            <a:r>
              <a:rPr lang="zh-CN" altLang="en-US" sz="2200" dirty="0"/>
              <a:t>地搬到</a:t>
            </a:r>
            <a:r>
              <a:rPr lang="en-US" altLang="zh-CN" sz="2200" dirty="0"/>
              <a:t>B</a:t>
            </a:r>
            <a:r>
              <a:rPr lang="zh-CN" altLang="en-US" sz="2200" dirty="0"/>
              <a:t>地</a:t>
            </a:r>
            <a:endParaRPr lang="en-US" altLang="zh-CN" sz="2200" dirty="0"/>
          </a:p>
          <a:p>
            <a:pPr lvl="1"/>
            <a:r>
              <a:rPr lang="zh-CN" altLang="en-US" sz="2200" dirty="0"/>
              <a:t>一个剧组排演话剧</a:t>
            </a:r>
            <a:endParaRPr lang="en-US" altLang="zh-CN" sz="2200" dirty="0"/>
          </a:p>
          <a:p>
            <a:pPr lvl="1"/>
            <a:r>
              <a:rPr lang="zh-CN" altLang="en-US" sz="2200" dirty="0"/>
              <a:t>爵士乐小组的演奏 </a:t>
            </a:r>
            <a:r>
              <a:rPr lang="en-US" altLang="zh-CN" sz="2200" dirty="0"/>
              <a:t>/ </a:t>
            </a:r>
            <a:r>
              <a:rPr lang="zh-CN" altLang="en-US" sz="2200" dirty="0"/>
              <a:t>交响乐团成员的演奏</a:t>
            </a:r>
            <a:endParaRPr lang="en-US" altLang="zh-CN" sz="2200" dirty="0"/>
          </a:p>
          <a:p>
            <a:pPr lvl="2"/>
            <a:r>
              <a:rPr lang="zh-CN" altLang="en-US" dirty="0"/>
              <a:t>推荐 </a:t>
            </a:r>
            <a:r>
              <a:rPr lang="en-US" altLang="zh-CN" dirty="0"/>
              <a:t>Miles Davis </a:t>
            </a:r>
            <a:r>
              <a:rPr lang="zh-CN" altLang="en-US" dirty="0"/>
              <a:t>爵士乐队的演奏</a:t>
            </a:r>
            <a:endParaRPr lang="en-US" altLang="zh-CN" dirty="0"/>
          </a:p>
          <a:p>
            <a:pPr lvl="1"/>
            <a:r>
              <a:rPr lang="zh-CN" altLang="en-US" sz="2200" dirty="0"/>
              <a:t>一群队员在职业球队踢球</a:t>
            </a:r>
            <a:endParaRPr lang="en-US" altLang="zh-CN" sz="2200" dirty="0"/>
          </a:p>
          <a:p>
            <a:pPr lvl="1"/>
            <a:r>
              <a:rPr lang="zh-CN" altLang="en-US" sz="2200" dirty="0"/>
              <a:t>医生</a:t>
            </a:r>
            <a:r>
              <a:rPr lang="en-US" altLang="zh-CN" sz="2200" dirty="0"/>
              <a:t>, </a:t>
            </a:r>
            <a:r>
              <a:rPr lang="zh-CN" altLang="en-US" sz="2200" dirty="0"/>
              <a:t>护士</a:t>
            </a:r>
            <a:r>
              <a:rPr lang="en-US" altLang="zh-CN" sz="2200" dirty="0"/>
              <a:t>, </a:t>
            </a:r>
            <a:r>
              <a:rPr lang="zh-CN" altLang="en-US" sz="2200" dirty="0"/>
              <a:t>麻醉师做手术</a:t>
            </a:r>
            <a:endParaRPr lang="en-US" altLang="zh-CN" sz="2200" dirty="0"/>
          </a:p>
          <a:p>
            <a:pPr lvl="1"/>
            <a:r>
              <a:rPr lang="zh-CN" altLang="en-US" sz="2200" dirty="0"/>
              <a:t>一群画家合作“万里长城</a:t>
            </a:r>
            <a:r>
              <a:rPr lang="en-US" altLang="zh-CN" sz="2200" dirty="0"/>
              <a:t>” </a:t>
            </a:r>
            <a:r>
              <a:rPr lang="zh-CN" altLang="en-US" sz="2200" dirty="0"/>
              <a:t>画卷</a:t>
            </a:r>
            <a:endParaRPr lang="en-US" altLang="zh-CN" sz="2200" dirty="0"/>
          </a:p>
          <a:p>
            <a:pPr lvl="1"/>
            <a:r>
              <a:rPr lang="zh-CN" altLang="en-US" sz="2200" dirty="0"/>
              <a:t>计算机系的一群老师教课</a:t>
            </a:r>
            <a:endParaRPr lang="en-US" altLang="zh-CN" sz="2200" dirty="0"/>
          </a:p>
          <a:p>
            <a:pPr lvl="1"/>
            <a:r>
              <a:rPr lang="zh-CN" altLang="en-US" sz="2200" b="1" dirty="0"/>
              <a:t>一群学生做软工项目 </a:t>
            </a:r>
            <a:r>
              <a:rPr lang="en-US" altLang="zh-CN" sz="2200" b="1" dirty="0"/>
              <a:t>(</a:t>
            </a:r>
            <a:r>
              <a:rPr lang="en-US" altLang="zh-CN" sz="2000" b="1" dirty="0"/>
              <a:t>PM, Dev, Test</a:t>
            </a:r>
            <a:r>
              <a:rPr lang="en-US" altLang="zh-CN" sz="2200" b="1" dirty="0"/>
              <a:t>)</a:t>
            </a:r>
            <a:r>
              <a:rPr lang="zh-CN" altLang="en-US" sz="2200" b="1" dirty="0"/>
              <a:t> </a:t>
            </a:r>
            <a:r>
              <a:rPr lang="en-US" altLang="zh-CN" sz="2200" b="1" dirty="0"/>
              <a:t>(this is your focus)</a:t>
            </a:r>
          </a:p>
          <a:p>
            <a:pPr>
              <a:buNone/>
            </a:pPr>
            <a:endParaRPr lang="en-US" altLang="zh-CN" sz="2400" dirty="0"/>
          </a:p>
          <a:p>
            <a:pPr>
              <a:buNone/>
            </a:pPr>
            <a:r>
              <a:rPr lang="zh-CN" altLang="en-US" sz="2400" dirty="0"/>
              <a:t>如何衡量个人在各自团队的效率和绩效？</a:t>
            </a:r>
            <a:endParaRPr lang="en-US" altLang="zh-CN" sz="2400" dirty="0"/>
          </a:p>
          <a:p>
            <a:pPr>
              <a:buNone/>
            </a:pPr>
            <a:r>
              <a:rPr lang="zh-CN" altLang="en-US" sz="2400" dirty="0"/>
              <a:t>团队有 </a:t>
            </a:r>
            <a:r>
              <a:rPr lang="en-US" altLang="zh-CN" sz="2400" dirty="0"/>
              <a:t>(n </a:t>
            </a:r>
            <a:r>
              <a:rPr lang="zh-CN" altLang="en-US" sz="2400" dirty="0"/>
              <a:t>* </a:t>
            </a:r>
            <a:r>
              <a:rPr lang="en-US" altLang="zh-CN" sz="2400" dirty="0"/>
              <a:t>30) </a:t>
            </a:r>
            <a:r>
              <a:rPr lang="zh-CN" altLang="en-US" sz="2400" dirty="0"/>
              <a:t>分浮动分数，如何分配</a:t>
            </a:r>
            <a:r>
              <a:rPr lang="en-US" altLang="zh-CN" sz="2400" dirty="0"/>
              <a:t>?</a:t>
            </a:r>
          </a:p>
          <a:p>
            <a:pPr>
              <a:buNone/>
            </a:pPr>
            <a:r>
              <a:rPr lang="en-US" altLang="zh-CN" sz="2400" dirty="0"/>
              <a:t>Write a blog </a:t>
            </a:r>
            <a:r>
              <a:rPr lang="en-US" altLang="zh-CN" sz="2400" dirty="0">
                <a:sym typeface="Wingdings" pitchFamily="2" charset="2"/>
              </a:rPr>
              <a:t></a:t>
            </a:r>
            <a:endParaRPr lang="en-US" sz="2000" dirty="0"/>
          </a:p>
        </p:txBody>
      </p:sp>
    </p:spTree>
    <p:extLst>
      <p:ext uri="{BB962C8B-B14F-4D97-AF65-F5344CB8AC3E}">
        <p14:creationId xmlns:p14="http://schemas.microsoft.com/office/powerpoint/2010/main" val="3555601642"/>
      </p:ext>
    </p:extLst>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and Answer</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0880860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77D88-E090-464B-BC87-D60EE9128A0F}"/>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3402149D-B9D8-49F7-8135-09433B6F86C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1325156"/>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B0C391-DDE3-4D99-8DB2-DCB9F2C707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AC38B70B-68EE-413F-8243-C962F94ACA6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768B0E8-F7C4-4929-B0A1-8ECCA4ABBF9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14918</TotalTime>
  <Words>4326</Words>
  <Application>Microsoft Office PowerPoint</Application>
  <PresentationFormat>宽屏</PresentationFormat>
  <Paragraphs>475</Paragraphs>
  <Slides>45</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45</vt:i4>
      </vt:variant>
    </vt:vector>
  </HeadingPairs>
  <TitlesOfParts>
    <vt:vector size="52" baseType="lpstr">
      <vt:lpstr>Microsoft YaHei</vt:lpstr>
      <vt:lpstr>Arial</vt:lpstr>
      <vt:lpstr>Calibri</vt:lpstr>
      <vt:lpstr>Calibri Light</vt:lpstr>
      <vt:lpstr>Wingdings</vt:lpstr>
      <vt:lpstr>Wingdings 3</vt:lpstr>
      <vt:lpstr>Depth</vt:lpstr>
      <vt:lpstr>个人软件流程和工程师的成长</vt:lpstr>
      <vt:lpstr>软件工程包括什么</vt:lpstr>
      <vt:lpstr>足球为例 </vt:lpstr>
      <vt:lpstr>个人在软件开发流程中</vt:lpstr>
      <vt:lpstr>个人的表现</vt:lpstr>
      <vt:lpstr>我们怎么 “学” 知识</vt:lpstr>
      <vt:lpstr>PSP 的演化</vt:lpstr>
      <vt:lpstr>PSP Evolution (cont.)</vt:lpstr>
      <vt:lpstr>PSP 衡量什么:</vt:lpstr>
      <vt:lpstr>衡量</vt:lpstr>
      <vt:lpstr>PSP 的弱点</vt:lpstr>
      <vt:lpstr>PSP data (大三学生 vs. 工作三年的工程师）</vt:lpstr>
      <vt:lpstr>续表</vt:lpstr>
      <vt:lpstr>大三 vs. 研究生毕业+工作三年</vt:lpstr>
      <vt:lpstr>PSP ISSUES (cont.)</vt:lpstr>
      <vt:lpstr>PSP ISSUES (cont.)</vt:lpstr>
      <vt:lpstr>Art vs. Follow the rules</vt:lpstr>
      <vt:lpstr>What is SE</vt:lpstr>
      <vt:lpstr>The Pragmatic Approach</vt:lpstr>
      <vt:lpstr>案例：两个工程师的交付</vt:lpstr>
      <vt:lpstr>Standard Deviation 标准差</vt:lpstr>
      <vt:lpstr>软件工程师的成长</vt:lpstr>
      <vt:lpstr>如何衡量成长</vt:lpstr>
      <vt:lpstr>我不想做重复性的工作，我要创新！</vt:lpstr>
      <vt:lpstr>我想加入一个成功的团队</vt:lpstr>
      <vt:lpstr>团队对个人的期望</vt:lpstr>
      <vt:lpstr>我有了灵感才工作！</vt:lpstr>
      <vt:lpstr>软件工程师的思维误区</vt:lpstr>
      <vt:lpstr>工程师的思维误区 – 依赖链条过长</vt:lpstr>
      <vt:lpstr>思维误区 – 过早优化</vt:lpstr>
      <vt:lpstr>过早泛化 Generalization</vt:lpstr>
      <vt:lpstr>职业发展阶段 – 动力</vt:lpstr>
      <vt:lpstr>全栈  + AI?</vt:lpstr>
      <vt:lpstr>专和广的关系</vt:lpstr>
      <vt:lpstr>即使 “增删改查” 也不简单</vt:lpstr>
      <vt:lpstr>职业成长 – 考级之路 </vt:lpstr>
      <vt:lpstr>职业成长 – 公司</vt:lpstr>
      <vt:lpstr>如何证明能力?</vt:lpstr>
      <vt:lpstr>技能是什么？</vt:lpstr>
      <vt:lpstr>不同层次的问题</vt:lpstr>
      <vt:lpstr>“精通”魔方</vt:lpstr>
      <vt:lpstr>高级工程师 和 初级爱好者的区别</vt:lpstr>
      <vt:lpstr>Homework</vt:lpstr>
      <vt:lpstr>Questions and Answer</vt:lpstr>
      <vt:lpstr>appendix</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XP, and TDD</dc:title>
  <dc:creator>xin zou</dc:creator>
  <cp:lastModifiedBy>Xin Zou</cp:lastModifiedBy>
  <cp:revision>134</cp:revision>
  <dcterms:created xsi:type="dcterms:W3CDTF">2007-10-15T02:17:14Z</dcterms:created>
  <dcterms:modified xsi:type="dcterms:W3CDTF">2025-10-15T11:35:43Z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0x0101006371182FA640024E8A2815D490E1EF25</vt:lpwstr>
  </property>
  <property fmtid="{D5CDD505-2E9C-101B-9397-08002B2CF9AE}" pid="3" name="IsMyDocuments">
    <vt:bool>true</vt:bool>
  </property>
  <property fmtid="{D5CDD505-2E9C-101B-9397-08002B2CF9AE}" pid="4" name="MSIP_Label_f42aa342-8706-4288-bd11-ebb85995028c_Enabled">
    <vt:lpwstr>True</vt:lpwstr>
  </property>
  <property fmtid="{D5CDD505-2E9C-101B-9397-08002B2CF9AE}" pid="5" name="MSIP_Label_f42aa342-8706-4288-bd11-ebb85995028c_SiteId">
    <vt:lpwstr>72f988bf-86f1-41af-91ab-2d7cd011db47</vt:lpwstr>
  </property>
  <property fmtid="{D5CDD505-2E9C-101B-9397-08002B2CF9AE}" pid="6" name="MSIP_Label_f42aa342-8706-4288-bd11-ebb85995028c_Owner">
    <vt:lpwstr>xinz@microsoft.com</vt:lpwstr>
  </property>
  <property fmtid="{D5CDD505-2E9C-101B-9397-08002B2CF9AE}" pid="7" name="MSIP_Label_f42aa342-8706-4288-bd11-ebb85995028c_SetDate">
    <vt:lpwstr>2018-10-08T05:44:02.1718439Z</vt:lpwstr>
  </property>
  <property fmtid="{D5CDD505-2E9C-101B-9397-08002B2CF9AE}" pid="8" name="MSIP_Label_f42aa342-8706-4288-bd11-ebb85995028c_Name">
    <vt:lpwstr>General</vt:lpwstr>
  </property>
  <property fmtid="{D5CDD505-2E9C-101B-9397-08002B2CF9AE}" pid="9" name="MSIP_Label_f42aa342-8706-4288-bd11-ebb85995028c_Application">
    <vt:lpwstr>Microsoft Azure Information Protection</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ies>
</file>