
<file path=[Content_Types].xml><?xml version="1.0" encoding="utf-8"?>
<Types xmlns="http://schemas.openxmlformats.org/package/2006/content-types">
  <Default Extension="xml" ContentType="application/xml"/>
  <Default Extension="vml" ContentType="application/vnd.openxmlformats-officedocument.vmlDrawing"/>
  <Default Extension="docx" ContentType="application/vnd.openxmlformats-officedocument.wordprocessingml.document"/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2" r:id="rId6"/>
    <p:sldId id="404" r:id="rId7"/>
    <p:sldId id="260" r:id="rId8"/>
    <p:sldId id="259" r:id="rId9"/>
    <p:sldId id="274" r:id="rId10"/>
    <p:sldId id="277" r:id="rId11"/>
    <p:sldId id="279" r:id="rId12"/>
    <p:sldId id="278" r:id="rId13"/>
    <p:sldId id="275" r:id="rId14"/>
    <p:sldId id="282" r:id="rId15"/>
    <p:sldId id="293" r:id="rId16"/>
    <p:sldId id="294" r:id="rId17"/>
    <p:sldId id="295" r:id="rId18"/>
    <p:sldId id="281" r:id="rId19"/>
    <p:sldId id="283" r:id="rId20"/>
    <p:sldId id="285" r:id="rId21"/>
    <p:sldId id="296" r:id="rId22"/>
    <p:sldId id="305" r:id="rId23"/>
    <p:sldId id="284" r:id="rId24"/>
    <p:sldId id="286" r:id="rId25"/>
    <p:sldId id="268" r:id="rId26"/>
    <p:sldId id="292" r:id="rId27"/>
    <p:sldId id="287" r:id="rId28"/>
    <p:sldId id="288" r:id="rId29"/>
    <p:sldId id="289" r:id="rId30"/>
    <p:sldId id="290" r:id="rId31"/>
    <p:sldId id="307" r:id="rId32"/>
    <p:sldId id="309" r:id="rId33"/>
    <p:sldId id="308" r:id="rId34"/>
    <p:sldId id="298" r:id="rId35"/>
    <p:sldId id="299" r:id="rId36"/>
    <p:sldId id="300" r:id="rId37"/>
    <p:sldId id="301" r:id="rId38"/>
    <p:sldId id="302" r:id="rId39"/>
    <p:sldId id="297" r:id="rId40"/>
    <p:sldId id="271" r:id="rId41"/>
    <p:sldId id="280" r:id="rId42"/>
    <p:sldId id="310" r:id="rId43"/>
    <p:sldId id="304" r:id="rId44"/>
    <p:sldId id="306" r:id="rId45"/>
    <p:sldId id="311" r:id="rId46"/>
    <p:sldId id="403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562" autoAdjust="0"/>
  </p:normalViewPr>
  <p:slideViewPr>
    <p:cSldViewPr showGuides="1">
      <p:cViewPr varScale="1">
        <p:scale>
          <a:sx n="86" d="100"/>
          <a:sy n="86" d="100"/>
        </p:scale>
        <p:origin x="533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3" Type="http://schemas.openxmlformats.org/officeDocument/2006/relationships/customXml" Target="../customXml/item3.xml"/><Relationship Id="rId52" Type="http://schemas.openxmlformats.org/officeDocument/2006/relationships/customXml" Target="../customXml/item2.xml"/><Relationship Id="rId51" Type="http://schemas.openxmlformats.org/officeDocument/2006/relationships/customXml" Target="../customXml/item1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650A2-B221-45B7-8BFD-302FFBB7179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7179E1-1FAE-4667-A618-B3C44D7B1E8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179E1-1FAE-4667-A618-B3C44D7B1E8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179E1-1FAE-4667-A618-B3C44D7B1E8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a crowded market quality can be used to distinguish yourself from the competition.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179E1-1FAE-4667-A618-B3C44D7B1E8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179E1-1FAE-4667-A618-B3C44D7B1E8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is</a:t>
            </a:r>
            <a:r>
              <a:rPr lang="en-US" baseline="0" dirty="0"/>
              <a:t> there a separate discipline for Test? I.e., why don’t the developers do the testing?</a:t>
            </a:r>
            <a:endParaRPr lang="en-US" baseline="0" dirty="0"/>
          </a:p>
          <a:p>
            <a:r>
              <a:rPr lang="en-US" baseline="0" dirty="0"/>
              <a:t>Many developers are poor testers,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179E1-1FAE-4667-A618-B3C44D7B1E8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image" Target="../media/image4.png"/><Relationship Id="rId21" Type="http://schemas.openxmlformats.org/officeDocument/2006/relationships/image" Target="../media/image3.png"/><Relationship Id="rId20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.pn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71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emf"/><Relationship Id="rId1" Type="http://schemas.openxmlformats.org/officeDocument/2006/relationships/package" Target="../embeddings/Document1.docx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#_ftnref1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5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cnblogs.com/xinz/p/3856332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软件测试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邹欣</a:t>
            </a:r>
            <a:endParaRPr lang="en-US" altLang="zh-CN" dirty="0"/>
          </a:p>
          <a:p>
            <a:r>
              <a:rPr lang="zh-CN" altLang="en-US" dirty="0"/>
              <a:t>构建之法 </a:t>
            </a:r>
            <a:r>
              <a:rPr lang="en-US" altLang="zh-CN" dirty="0"/>
              <a:t>– </a:t>
            </a:r>
            <a:r>
              <a:rPr lang="zh-CN" altLang="en-US" dirty="0"/>
              <a:t>现代软件工程  第</a:t>
            </a:r>
            <a:r>
              <a:rPr lang="en-US" altLang="zh-CN" dirty="0"/>
              <a:t> 13 </a:t>
            </a:r>
            <a:r>
              <a:rPr lang="zh-CN" altLang="en-US" dirty="0"/>
              <a:t>章</a:t>
            </a:r>
            <a:endParaRPr lang="en-US" dirty="0"/>
          </a:p>
          <a:p>
            <a:r>
              <a:rPr lang="en-US" dirty="0"/>
              <a:t>2019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定义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Testing (</a:t>
            </a:r>
            <a:r>
              <a:rPr lang="zh-CN" altLang="en-US" dirty="0"/>
              <a:t>测试</a:t>
            </a:r>
            <a:r>
              <a:rPr lang="en-US" dirty="0"/>
              <a:t>) – provide input, measure output against expectation. </a:t>
            </a:r>
            <a:endParaRPr lang="en-US" dirty="0"/>
          </a:p>
          <a:p>
            <a:pPr lvl="1"/>
            <a:r>
              <a:rPr lang="en-US" dirty="0"/>
              <a:t>The planning happens around the same time as design</a:t>
            </a:r>
            <a:endParaRPr lang="en-US" dirty="0"/>
          </a:p>
          <a:p>
            <a:pPr lvl="1"/>
            <a:r>
              <a:rPr lang="en-US" dirty="0"/>
              <a:t>The action happens post-implementation.</a:t>
            </a:r>
            <a:endParaRPr lang="en-US" dirty="0"/>
          </a:p>
          <a:p>
            <a:pPr lvl="2"/>
            <a:r>
              <a:rPr lang="en-US" dirty="0"/>
              <a:t>Unit Testing</a:t>
            </a:r>
            <a:endParaRPr lang="en-US" dirty="0"/>
          </a:p>
          <a:p>
            <a:pPr lvl="2"/>
            <a:r>
              <a:rPr lang="en-US" dirty="0"/>
              <a:t>Black Box Testing</a:t>
            </a:r>
            <a:endParaRPr lang="en-US" dirty="0"/>
          </a:p>
          <a:p>
            <a:pPr lvl="2"/>
            <a:r>
              <a:rPr lang="en-US" dirty="0"/>
              <a:t>White Box Testing</a:t>
            </a:r>
            <a:endParaRPr lang="en-US" dirty="0"/>
          </a:p>
          <a:p>
            <a:r>
              <a:rPr lang="en-US" dirty="0"/>
              <a:t>Quality Assurance </a:t>
            </a:r>
            <a:r>
              <a:rPr lang="en-US" altLang="zh-CN" dirty="0"/>
              <a:t>(</a:t>
            </a:r>
            <a:r>
              <a:rPr lang="zh-CN" altLang="en-US" dirty="0"/>
              <a:t>质量保障</a:t>
            </a:r>
            <a:r>
              <a:rPr lang="en-US" altLang="zh-CN" dirty="0"/>
              <a:t>)</a:t>
            </a:r>
            <a:r>
              <a:rPr lang="en-US" dirty="0"/>
              <a:t> – all activities that increase confidence in quality</a:t>
            </a:r>
            <a:endParaRPr lang="en-US" dirty="0"/>
          </a:p>
          <a:p>
            <a:pPr lvl="1"/>
            <a:r>
              <a:rPr lang="en-US" dirty="0"/>
              <a:t>Testing is only one activity of Quality Assurance </a:t>
            </a:r>
            <a:r>
              <a:rPr lang="zh-CN" altLang="en-US" dirty="0"/>
              <a:t>（测试只是质量保障的一部分）</a:t>
            </a:r>
            <a:endParaRPr lang="en-US" dirty="0"/>
          </a:p>
          <a:p>
            <a:pPr lvl="1"/>
            <a:r>
              <a:rPr lang="en-US" dirty="0"/>
              <a:t>Quality Assurance encompasses all phases, including planning, and support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质量为何重要</a:t>
            </a:r>
            <a:r>
              <a:rPr lang="en-US" dirty="0"/>
              <a:t>? </a:t>
            </a:r>
            <a:r>
              <a:rPr lang="zh-CN" altLang="en-US" dirty="0"/>
              <a:t>（这还用问）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低质量的软件更难于维护和支持</a:t>
            </a:r>
            <a:endParaRPr lang="en-US" dirty="0"/>
          </a:p>
          <a:p>
            <a:pPr lvl="1"/>
            <a:r>
              <a:rPr lang="zh-CN" altLang="en-US" dirty="0"/>
              <a:t>用户抱怨更多，需要更多人手来做客服</a:t>
            </a:r>
            <a:endParaRPr lang="en-US" dirty="0"/>
          </a:p>
          <a:p>
            <a:pPr lvl="1"/>
            <a:r>
              <a:rPr lang="zh-CN" altLang="en-US" dirty="0"/>
              <a:t>不断给软件打补丁</a:t>
            </a:r>
            <a:endParaRPr lang="en-US" dirty="0"/>
          </a:p>
          <a:p>
            <a:pPr lvl="1"/>
            <a:r>
              <a:rPr lang="zh-CN" altLang="en-US" dirty="0"/>
              <a:t>安排额外的发布 </a:t>
            </a:r>
            <a:r>
              <a:rPr lang="en-US" dirty="0"/>
              <a:t> (Vx.1)</a:t>
            </a:r>
            <a:endParaRPr lang="en-US" dirty="0"/>
          </a:p>
          <a:p>
            <a:r>
              <a:rPr lang="zh-CN" altLang="en-US" dirty="0"/>
              <a:t>低质量的软件导致法律问题 </a:t>
            </a:r>
            <a:r>
              <a:rPr lang="en-US" altLang="zh-CN" dirty="0"/>
              <a:t>– </a:t>
            </a:r>
            <a:r>
              <a:rPr lang="zh-CN" altLang="en-US" dirty="0"/>
              <a:t>用户会告你</a:t>
            </a:r>
            <a:endParaRPr lang="en-US" dirty="0"/>
          </a:p>
          <a:p>
            <a:r>
              <a:rPr lang="zh-CN" altLang="en-US" dirty="0"/>
              <a:t>低质量的软件会降低公司声誉，很难挽回</a:t>
            </a:r>
            <a:endParaRPr lang="en-US" dirty="0"/>
          </a:p>
          <a:p>
            <a:r>
              <a:rPr lang="zh-CN" altLang="en-US" dirty="0"/>
              <a:t>因果关系</a:t>
            </a:r>
            <a:r>
              <a:rPr lang="en-US" dirty="0"/>
              <a:t>:</a:t>
            </a:r>
            <a:endParaRPr lang="en-US" dirty="0"/>
          </a:p>
          <a:p>
            <a:pPr lvl="1"/>
            <a:r>
              <a:rPr lang="zh-CN" altLang="en-US" dirty="0"/>
              <a:t>低质量的产品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zh-CN" altLang="en-US" dirty="0"/>
              <a:t>公司的市场份额降低，声誉降低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股票掉价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员工薪资福利降低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62000" y="1828800"/>
            <a:ext cx="7941786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</a:t>
            </a:r>
            <a:r>
              <a:rPr lang="en-US" altLang="zh-CN" dirty="0"/>
              <a:t>/</a:t>
            </a:r>
            <a:r>
              <a:rPr lang="zh-CN" altLang="en-US" dirty="0"/>
              <a:t>质量是啥？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aspects of Quality are </a:t>
            </a:r>
            <a:r>
              <a:rPr lang="en-US" i="1" dirty="0"/>
              <a:t>objective </a:t>
            </a:r>
            <a:r>
              <a:rPr lang="en-US" altLang="zh-CN" i="1" dirty="0"/>
              <a:t>(</a:t>
            </a:r>
            <a:r>
              <a:rPr lang="zh-CN" altLang="en-US" i="1" dirty="0"/>
              <a:t>客观</a:t>
            </a:r>
            <a:r>
              <a:rPr lang="en-US" altLang="zh-CN" i="1" dirty="0"/>
              <a:t>)</a:t>
            </a:r>
            <a:endParaRPr lang="en-US" dirty="0"/>
          </a:p>
          <a:p>
            <a:pPr lvl="1"/>
            <a:r>
              <a:rPr lang="en-US" dirty="0"/>
              <a:t>Stability / bug-free</a:t>
            </a:r>
            <a:endParaRPr lang="en-US" dirty="0"/>
          </a:p>
          <a:p>
            <a:pPr lvl="1"/>
            <a:r>
              <a:rPr lang="en-US" dirty="0"/>
              <a:t>Complies with the specification</a:t>
            </a:r>
            <a:endParaRPr lang="en-US" dirty="0"/>
          </a:p>
          <a:p>
            <a:r>
              <a:rPr lang="en-US" dirty="0"/>
              <a:t>Some aspects of Quality is </a:t>
            </a:r>
            <a:r>
              <a:rPr lang="en-US" i="1" dirty="0"/>
              <a:t>subjective </a:t>
            </a:r>
            <a:r>
              <a:rPr lang="en-US" altLang="zh-CN" i="1" dirty="0"/>
              <a:t>(</a:t>
            </a:r>
            <a:r>
              <a:rPr lang="zh-CN" altLang="en-US" i="1" dirty="0"/>
              <a:t>主观</a:t>
            </a:r>
            <a:r>
              <a:rPr lang="en-US" altLang="zh-CN" i="1" dirty="0"/>
              <a:t>)</a:t>
            </a:r>
            <a:endParaRPr lang="en-US" dirty="0"/>
          </a:p>
          <a:p>
            <a:pPr lvl="1"/>
            <a:r>
              <a:rPr lang="en-US" dirty="0"/>
              <a:t>Overall value to the customer  / satisfies the customer’s needs</a:t>
            </a:r>
            <a:endParaRPr lang="en-US" dirty="0"/>
          </a:p>
          <a:p>
            <a:pPr lvl="1"/>
            <a:r>
              <a:rPr lang="en-US" dirty="0"/>
              <a:t>Enjoyable end-user experience</a:t>
            </a:r>
            <a:r>
              <a:rPr lang="en-US" altLang="zh-CN" dirty="0"/>
              <a:t>, emotional value</a:t>
            </a:r>
            <a:endParaRPr lang="en-US" dirty="0"/>
          </a:p>
          <a:p>
            <a:pPr lvl="1"/>
            <a:r>
              <a:rPr lang="en-US" dirty="0"/>
              <a:t>Makes the customer want more</a:t>
            </a:r>
            <a:endParaRPr lang="en-US" dirty="0"/>
          </a:p>
          <a:p>
            <a:r>
              <a:rPr lang="en-US" dirty="0"/>
              <a:t>So Bug-free != High Quality</a:t>
            </a:r>
            <a:endParaRPr lang="en-US" dirty="0"/>
          </a:p>
          <a:p>
            <a:pPr lvl="1"/>
            <a:r>
              <a:rPr lang="en-US" dirty="0"/>
              <a:t>Why is BMW better than Hyundai? </a:t>
            </a:r>
            <a:r>
              <a:rPr lang="zh-CN" altLang="en-US" dirty="0"/>
              <a:t>（宝马车和</a:t>
            </a:r>
            <a:r>
              <a:rPr lang="en-US" altLang="zh-CN" dirty="0"/>
              <a:t>QQ</a:t>
            </a:r>
            <a:r>
              <a:rPr lang="zh-CN" altLang="en-US" dirty="0"/>
              <a:t>车都通过质量标准，都能在路上跑， 谁的质量高</a:t>
            </a:r>
            <a:r>
              <a:rPr lang="en-US" altLang="zh-CN" dirty="0"/>
              <a:t>?)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Is Testing Sufficient to ensure Quality?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11480" lvl="1" indent="-342900">
              <a:spcBef>
                <a:spcPts val="700"/>
              </a:spcBef>
              <a:buClr>
                <a:schemeClr val="tx2"/>
              </a:buClr>
              <a:buSzPct val="95000"/>
            </a:pPr>
            <a:r>
              <a:rPr lang="en-US" sz="3000" dirty="0"/>
              <a:t>Classic Test Techniques only measure objective quality, e.g. stability &amp; spec compliance</a:t>
            </a:r>
            <a:endParaRPr lang="en-US" sz="3000" dirty="0"/>
          </a:p>
          <a:p>
            <a:pPr marL="411480" lvl="1" indent="-342900">
              <a:spcBef>
                <a:spcPts val="700"/>
              </a:spcBef>
              <a:buClr>
                <a:schemeClr val="tx2"/>
              </a:buClr>
              <a:buSzPct val="95000"/>
            </a:pPr>
            <a:r>
              <a:rPr lang="en-US" sz="3000" dirty="0"/>
              <a:t>Testing is usually done long after the design is complete, so design issues are likely to be punted</a:t>
            </a:r>
            <a:endParaRPr lang="en-US" sz="3000" dirty="0"/>
          </a:p>
          <a:p>
            <a:pPr marL="411480" lvl="1" indent="-342900">
              <a:spcBef>
                <a:spcPts val="700"/>
              </a:spcBef>
              <a:buClr>
                <a:schemeClr val="tx2"/>
              </a:buClr>
              <a:buSzPct val="95000"/>
            </a:pPr>
            <a:r>
              <a:rPr lang="en-US" sz="3200" dirty="0"/>
              <a:t>Test Case generation is an Art, so coverage reliability varies greatly</a:t>
            </a:r>
            <a:endParaRPr lang="en-US" sz="3200" dirty="0"/>
          </a:p>
          <a:p>
            <a:pPr marL="411480" lvl="1" indent="-342900">
              <a:spcBef>
                <a:spcPts val="700"/>
              </a:spcBef>
              <a:buClr>
                <a:schemeClr val="tx2"/>
              </a:buClr>
              <a:buSzPct val="95000"/>
            </a:pPr>
            <a:r>
              <a:rPr lang="en-US" sz="3000" dirty="0"/>
              <a:t>Testing time is frequently ‘sacrificed’</a:t>
            </a:r>
            <a:endParaRPr lang="en-US" sz="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QA in Microsoft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QA roles and titles (pardon the use of the word ‘Test’)</a:t>
            </a:r>
            <a:endParaRPr lang="en-US" dirty="0"/>
          </a:p>
          <a:p>
            <a:pPr lvl="1"/>
            <a:r>
              <a:rPr lang="en-US" dirty="0"/>
              <a:t>Software Test Engineer / STE (retired)</a:t>
            </a:r>
            <a:endParaRPr lang="en-US" dirty="0"/>
          </a:p>
          <a:p>
            <a:pPr lvl="1"/>
            <a:r>
              <a:rPr lang="en-US" dirty="0"/>
              <a:t>Software Design Engineer in Test / SDE/T</a:t>
            </a:r>
            <a:endParaRPr lang="en-US" dirty="0"/>
          </a:p>
          <a:p>
            <a:pPr lvl="1"/>
            <a:r>
              <a:rPr lang="en-US" dirty="0"/>
              <a:t>Tech Lead</a:t>
            </a:r>
            <a:endParaRPr lang="en-US" dirty="0"/>
          </a:p>
          <a:p>
            <a:pPr lvl="1"/>
            <a:r>
              <a:rPr lang="en-US" dirty="0"/>
              <a:t>Test Lead</a:t>
            </a:r>
            <a:endParaRPr lang="en-US" dirty="0"/>
          </a:p>
          <a:p>
            <a:pPr lvl="1"/>
            <a:r>
              <a:rPr lang="en-US" dirty="0"/>
              <a:t>Test Manager</a:t>
            </a:r>
            <a:endParaRPr lang="en-US" dirty="0"/>
          </a:p>
          <a:p>
            <a:pPr lvl="1"/>
            <a:r>
              <a:rPr lang="en-US" dirty="0"/>
              <a:t>Group Test Manager</a:t>
            </a:r>
            <a:endParaRPr lang="en-US" dirty="0"/>
          </a:p>
          <a:p>
            <a:pPr lvl="1"/>
            <a:r>
              <a:rPr lang="en-US" dirty="0"/>
              <a:t>Director of Test</a:t>
            </a:r>
            <a:endParaRPr lang="en-US" dirty="0"/>
          </a:p>
          <a:p>
            <a:pPr lvl="1"/>
            <a:r>
              <a:rPr lang="en-US" dirty="0"/>
              <a:t>Test Architect</a:t>
            </a:r>
            <a:endParaRPr lang="en-US" dirty="0"/>
          </a:p>
          <a:p>
            <a:pPr lvl="1"/>
            <a:r>
              <a:rPr lang="en-US" dirty="0"/>
              <a:t>Engineering Excellence Guru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QA in Microsoft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Dev/Test Ratio target: 1:1</a:t>
            </a:r>
            <a:endParaRPr lang="en-US" dirty="0"/>
          </a:p>
          <a:p>
            <a:pPr marL="82550"/>
            <a:r>
              <a:rPr lang="en-US" dirty="0"/>
              <a:t>Scheduling</a:t>
            </a:r>
            <a:endParaRPr lang="en-US" dirty="0"/>
          </a:p>
          <a:p>
            <a:pPr marL="667385" lvl="2" indent="-342900">
              <a:spcBef>
                <a:spcPts val="700"/>
              </a:spcBef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lang="en-US" dirty="0"/>
              <a:t>1:1 ratio between implementation and stabilization.</a:t>
            </a:r>
            <a:endParaRPr lang="en-US" dirty="0"/>
          </a:p>
          <a:p>
            <a:pPr marL="667385" lvl="2" indent="-342900">
              <a:spcBef>
                <a:spcPts val="700"/>
              </a:spcBef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lang="en-US" dirty="0"/>
              <a:t>Have QC milestones </a:t>
            </a:r>
            <a:endParaRPr lang="en-US" dirty="0"/>
          </a:p>
          <a:p>
            <a:pPr marL="932815" lvl="3" indent="-342900">
              <a:spcBef>
                <a:spcPts val="700"/>
              </a:spcBef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lang="en-US" dirty="0"/>
              <a:t>Code Complete</a:t>
            </a:r>
            <a:endParaRPr lang="en-US" dirty="0"/>
          </a:p>
          <a:p>
            <a:pPr marL="932815" lvl="3" indent="-342900">
              <a:spcBef>
                <a:spcPts val="700"/>
              </a:spcBef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lang="en-US" dirty="0"/>
              <a:t>Visual Freeze</a:t>
            </a:r>
            <a:endParaRPr lang="en-US" dirty="0"/>
          </a:p>
          <a:p>
            <a:pPr marL="932815" lvl="3" indent="-342900">
              <a:spcBef>
                <a:spcPts val="700"/>
              </a:spcBef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lang="en-US" dirty="0"/>
              <a:t>Code Freeze</a:t>
            </a:r>
            <a:endParaRPr lang="en-US" dirty="0"/>
          </a:p>
          <a:p>
            <a:pPr marL="932815" lvl="3" indent="-342900">
              <a:spcBef>
                <a:spcPts val="700"/>
              </a:spcBef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lang="en-US" dirty="0"/>
              <a:t>Zero Bug Bounce / ZBB.</a:t>
            </a:r>
            <a:endParaRPr lang="en-US" dirty="0"/>
          </a:p>
          <a:p>
            <a:pPr marL="932815" lvl="3" indent="-342900">
              <a:spcBef>
                <a:spcPts val="700"/>
              </a:spcBef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lang="en-US" dirty="0"/>
              <a:t>Escrow</a:t>
            </a:r>
            <a:endParaRPr lang="en-US" dirty="0"/>
          </a:p>
          <a:p>
            <a:pPr marL="932815" lvl="3" indent="-342900">
              <a:spcBef>
                <a:spcPts val="700"/>
              </a:spcBef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lang="en-US" dirty="0"/>
              <a:t>Release Candidate 1… / RC1…</a:t>
            </a:r>
            <a:endParaRPr lang="en-US" dirty="0"/>
          </a:p>
          <a:p>
            <a:pPr marL="932815" lvl="3" indent="-342900">
              <a:spcBef>
                <a:spcPts val="700"/>
              </a:spcBef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lang="en-US" dirty="0"/>
              <a:t>Release to Manufacturing/Web / RTM/RTW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产品周期中的质量保障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Product Cycle Model incorporates Quality Control activities</a:t>
            </a:r>
            <a:endParaRPr lang="en-US" dirty="0"/>
          </a:p>
          <a:p>
            <a:pPr lvl="1"/>
            <a:r>
              <a:rPr lang="zh-CN" altLang="en-US" dirty="0"/>
              <a:t>计划阶段</a:t>
            </a:r>
            <a:r>
              <a:rPr lang="en-US" dirty="0"/>
              <a:t>: </a:t>
            </a:r>
            <a:r>
              <a:rPr lang="zh-CN" altLang="en-US" dirty="0"/>
              <a:t>吸收上个版本的质量方面的教训，考虑如何找到</a:t>
            </a:r>
            <a:r>
              <a:rPr lang="en-US" altLang="zh-CN" dirty="0"/>
              <a:t>bug </a:t>
            </a:r>
            <a:r>
              <a:rPr lang="zh-CN" altLang="en-US" dirty="0"/>
              <a:t>的根源</a:t>
            </a:r>
            <a:endParaRPr lang="en-US" dirty="0"/>
          </a:p>
          <a:p>
            <a:pPr lvl="1"/>
            <a:r>
              <a:rPr lang="zh-CN" altLang="en-US" dirty="0"/>
              <a:t>设计文档：</a:t>
            </a:r>
            <a:r>
              <a:rPr lang="en-US" altLang="zh-CN" dirty="0"/>
              <a:t>spec modeling</a:t>
            </a:r>
            <a:endParaRPr lang="en-US" altLang="zh-CN" dirty="0"/>
          </a:p>
          <a:p>
            <a:pPr lvl="2"/>
            <a:r>
              <a:rPr lang="zh-CN" altLang="en-US" dirty="0"/>
              <a:t>把技术文档转化为有限状态自动机并坚持</a:t>
            </a:r>
            <a:endParaRPr lang="en-US" dirty="0"/>
          </a:p>
          <a:p>
            <a:pPr lvl="1"/>
            <a:r>
              <a:rPr lang="zh-CN" altLang="en-US" dirty="0"/>
              <a:t>实现阶段</a:t>
            </a:r>
            <a:r>
              <a:rPr lang="en-US" dirty="0"/>
              <a:t>: </a:t>
            </a:r>
            <a:r>
              <a:rPr lang="zh-CN" altLang="en-US" dirty="0"/>
              <a:t>代码复审</a:t>
            </a:r>
            <a:r>
              <a:rPr lang="en-US" dirty="0"/>
              <a:t>, </a:t>
            </a:r>
            <a:r>
              <a:rPr lang="en-US" altLang="zh-CN" dirty="0"/>
              <a:t>bug </a:t>
            </a:r>
            <a:r>
              <a:rPr lang="zh-CN" altLang="en-US" dirty="0"/>
              <a:t>诊断</a:t>
            </a:r>
            <a:r>
              <a:rPr lang="en-US" dirty="0"/>
              <a:t>, </a:t>
            </a:r>
            <a:r>
              <a:rPr lang="zh-CN" altLang="en-US" dirty="0"/>
              <a:t>签入测试 （</a:t>
            </a:r>
            <a:r>
              <a:rPr lang="en-US" dirty="0"/>
              <a:t>Check-in Tests</a:t>
            </a:r>
            <a:r>
              <a:rPr lang="zh-CN" altLang="en-US" dirty="0"/>
              <a:t>）</a:t>
            </a:r>
            <a:r>
              <a:rPr lang="en-US" dirty="0"/>
              <a:t>, BVTs</a:t>
            </a:r>
            <a:endParaRPr lang="en-US" dirty="0"/>
          </a:p>
          <a:p>
            <a:pPr lvl="1"/>
            <a:r>
              <a:rPr lang="zh-CN" altLang="en-US" dirty="0"/>
              <a:t>稳定阶段</a:t>
            </a:r>
            <a:r>
              <a:rPr lang="en-US" dirty="0"/>
              <a:t>: </a:t>
            </a:r>
            <a:r>
              <a:rPr lang="zh-CN" altLang="en-US" dirty="0"/>
              <a:t>集成测试</a:t>
            </a:r>
            <a:r>
              <a:rPr lang="en-US" dirty="0"/>
              <a:t>, </a:t>
            </a:r>
            <a:r>
              <a:rPr lang="zh-CN" altLang="en-US" dirty="0"/>
              <a:t>冻结模块</a:t>
            </a:r>
            <a:r>
              <a:rPr lang="en-US" dirty="0"/>
              <a:t>, </a:t>
            </a:r>
            <a:r>
              <a:rPr lang="zh-CN" altLang="en-US" dirty="0"/>
              <a:t>准备发布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QA in Microsoft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关于安全性的软件开发周期</a:t>
            </a:r>
            <a:endParaRPr lang="en-US" dirty="0"/>
          </a:p>
          <a:p>
            <a:pPr lvl="1"/>
            <a:r>
              <a:rPr lang="en-US" dirty="0"/>
              <a:t>Threat Modeling </a:t>
            </a:r>
            <a:endParaRPr lang="en-US" dirty="0"/>
          </a:p>
          <a:p>
            <a:pPr lvl="2"/>
            <a:r>
              <a:rPr lang="zh-CN" altLang="en-US" dirty="0"/>
              <a:t>威胁建模</a:t>
            </a:r>
            <a:endParaRPr lang="en-US" dirty="0"/>
          </a:p>
          <a:p>
            <a:pPr lvl="1"/>
            <a:r>
              <a:rPr lang="en-US" dirty="0"/>
              <a:t>Security Push </a:t>
            </a:r>
            <a:r>
              <a:rPr lang="en-US" altLang="zh-CN" dirty="0"/>
              <a:t>o</a:t>
            </a:r>
            <a:r>
              <a:rPr lang="en-US" dirty="0"/>
              <a:t>f legacy code </a:t>
            </a:r>
            <a:endParaRPr lang="en-US" dirty="0"/>
          </a:p>
          <a:p>
            <a:pPr lvl="2"/>
            <a:r>
              <a:rPr lang="zh-CN" altLang="en-US" dirty="0"/>
              <a:t>对于旧代码，进行全面的安全性检查</a:t>
            </a:r>
            <a:endParaRPr lang="en-US" dirty="0"/>
          </a:p>
          <a:p>
            <a:pPr lvl="1"/>
            <a:r>
              <a:rPr lang="en-US" dirty="0"/>
              <a:t>Binary / Static code scans</a:t>
            </a:r>
            <a:endParaRPr lang="en-US" dirty="0"/>
          </a:p>
          <a:p>
            <a:pPr lvl="2"/>
            <a:r>
              <a:rPr lang="zh-CN" altLang="en-US" dirty="0"/>
              <a:t>代码分析，静态代码扫码和检查</a:t>
            </a:r>
            <a:endParaRPr lang="en-US" dirty="0"/>
          </a:p>
          <a:p>
            <a:pPr lvl="1"/>
            <a:r>
              <a:rPr lang="en-US" dirty="0"/>
              <a:t>Reviewed for compliance by Security Team</a:t>
            </a:r>
            <a:endParaRPr lang="en-US" dirty="0"/>
          </a:p>
          <a:p>
            <a:pPr lvl="2"/>
            <a:r>
              <a:rPr lang="zh-CN" altLang="en-US" dirty="0"/>
              <a:t>由专门的产品安全团队检查代码的安全性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测试工程师典型的一天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取决于产品处于什么阶段</a:t>
            </a:r>
            <a:endParaRPr lang="en-US" dirty="0"/>
          </a:p>
          <a:p>
            <a:pPr lvl="1"/>
            <a:r>
              <a:rPr lang="zh-CN" altLang="en-US" dirty="0"/>
              <a:t>计划阶段</a:t>
            </a:r>
            <a:r>
              <a:rPr lang="en-US" dirty="0"/>
              <a:t>: </a:t>
            </a:r>
            <a:r>
              <a:rPr lang="zh-CN" altLang="en-US" dirty="0"/>
              <a:t>复审 </a:t>
            </a:r>
            <a:r>
              <a:rPr lang="en-US" dirty="0"/>
              <a:t>Spec, </a:t>
            </a:r>
            <a:r>
              <a:rPr lang="zh-CN" altLang="en-US" dirty="0"/>
              <a:t>改进测试框架</a:t>
            </a:r>
            <a:r>
              <a:rPr lang="en-US" dirty="0"/>
              <a:t>, </a:t>
            </a:r>
            <a:r>
              <a:rPr lang="zh-CN" altLang="en-US" dirty="0"/>
              <a:t>把最优实践方法集成到工作环境中， 复审场景设计</a:t>
            </a:r>
            <a:endParaRPr lang="en-US" dirty="0"/>
          </a:p>
          <a:p>
            <a:pPr lvl="1"/>
            <a:r>
              <a:rPr lang="zh-CN" altLang="en-US" dirty="0"/>
              <a:t>实现阶段</a:t>
            </a:r>
            <a:r>
              <a:rPr lang="en-US" dirty="0"/>
              <a:t>: </a:t>
            </a:r>
            <a:r>
              <a:rPr lang="zh-CN" altLang="en-US" dirty="0"/>
              <a:t>代码复审</a:t>
            </a:r>
            <a:r>
              <a:rPr lang="en-US" dirty="0"/>
              <a:t>, </a:t>
            </a:r>
            <a:r>
              <a:rPr lang="zh-CN" altLang="en-US" dirty="0"/>
              <a:t>运行测试，收集质量数据</a:t>
            </a:r>
            <a:endParaRPr lang="en-US" dirty="0"/>
          </a:p>
          <a:p>
            <a:pPr lvl="1"/>
            <a:r>
              <a:rPr lang="zh-CN" altLang="en-US" dirty="0"/>
              <a:t>稳定阶段</a:t>
            </a:r>
            <a:r>
              <a:rPr lang="en-US" dirty="0"/>
              <a:t>: </a:t>
            </a:r>
            <a:r>
              <a:rPr lang="zh-CN" altLang="en-US" dirty="0"/>
              <a:t>集成测试</a:t>
            </a:r>
            <a:r>
              <a:rPr lang="en-US" dirty="0"/>
              <a:t>, </a:t>
            </a:r>
            <a:r>
              <a:rPr lang="en-US" altLang="zh-CN" dirty="0"/>
              <a:t>UI-</a:t>
            </a:r>
            <a:r>
              <a:rPr lang="zh-CN" altLang="en-US" dirty="0"/>
              <a:t>相关的本地化测试，安全测试</a:t>
            </a:r>
            <a:endParaRPr lang="en-US" dirty="0"/>
          </a:p>
          <a:p>
            <a:r>
              <a:rPr lang="zh-CN" altLang="en-US"/>
              <a:t>测试工程师的工作要求</a:t>
            </a:r>
            <a:endParaRPr lang="en-US" dirty="0"/>
          </a:p>
          <a:p>
            <a:pPr lvl="1"/>
            <a:r>
              <a:rPr lang="en-US" dirty="0"/>
              <a:t>Reviews of specs (requires PM skills / customer empathy)</a:t>
            </a:r>
            <a:endParaRPr lang="en-US" dirty="0"/>
          </a:p>
          <a:p>
            <a:pPr lvl="1"/>
            <a:r>
              <a:rPr lang="en-US" dirty="0"/>
              <a:t>Reviews of Code (requires Dev++ skills)</a:t>
            </a:r>
            <a:endParaRPr lang="en-US" dirty="0"/>
          </a:p>
          <a:p>
            <a:pPr lvl="1"/>
            <a:r>
              <a:rPr lang="en-US" dirty="0"/>
              <a:t>Generating Test Cases (requires Creativity, hacker mentality)</a:t>
            </a:r>
            <a:endParaRPr lang="en-US" dirty="0"/>
          </a:p>
          <a:p>
            <a:pPr lvl="1"/>
            <a:r>
              <a:rPr lang="en-US" dirty="0"/>
              <a:t>Writing automation / Test Case Generation (requires Engineering skills, creativity)</a:t>
            </a:r>
            <a:endParaRPr lang="en-US" dirty="0"/>
          </a:p>
          <a:p>
            <a:pPr lvl="1"/>
            <a:r>
              <a:rPr lang="en-US" dirty="0"/>
              <a:t>Investigating and debugging issues (requires system knowledge, persistence)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zh-CN" altLang="en-US" dirty="0">
                <a:solidFill>
                  <a:srgbClr val="FFFFFF"/>
                </a:solidFill>
              </a:rPr>
              <a:t>有关测试的误解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测试在项目的最后进行就可以了。</a:t>
            </a:r>
            <a:endParaRPr lang="en-US"/>
          </a:p>
          <a:p>
            <a:pPr>
              <a:lnSpc>
                <a:spcPct val="90000"/>
              </a:lnSpc>
            </a:pPr>
            <a:r>
              <a:rPr lang="zh-CN" altLang="en-US" dirty="0"/>
              <a:t>这是远远不够的。当你在项目后期发现了问题，问题的根源往往是项目的早期的一些决定和设计，这时候，再要对进行修改就比较困难了。这要求测试人员从项目开始就要积极介入，从源头防止问题的发生。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zh-CN" altLang="en-US" dirty="0"/>
              <a:t>有人会说</a:t>
            </a:r>
            <a:r>
              <a:rPr lang="en-US" dirty="0"/>
              <a:t>- </a:t>
            </a:r>
            <a:r>
              <a:rPr lang="zh-CN" altLang="en-US" dirty="0"/>
              <a:t>我是一个小小的测试人员，项目开始的时候我能做什么？这就是小小测试人员努力的方向。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zh-CN" altLang="en-US" dirty="0"/>
              <a:t>一个软件项目的各个功能都可以有自己的测试计划，它们可以在不同的阶段发挥作用。但是针对整个项目的总测试计划（又叫测试总纲）要在计划阶段大致定下来，并指导所有测试工作的进行。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en-US" altLang="zh-CN" dirty="0"/>
              <a:t>What is “good enough”</a:t>
            </a:r>
            <a:r>
              <a:rPr lang="zh-CN" altLang="en-US" dirty="0"/>
              <a:t>： 要定义这个标准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zh-CN" altLang="en-US">
                <a:solidFill>
                  <a:srgbClr val="FFFFFF"/>
                </a:solidFill>
              </a:rPr>
              <a:t>有关测试的误解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/>
              <a:t>测试就得根据规格说明书（</a:t>
            </a:r>
            <a:r>
              <a:rPr lang="en-US" b="1" dirty="0"/>
              <a:t>spec</a:t>
            </a:r>
            <a:r>
              <a:rPr lang="zh-CN" altLang="en-US" b="1" dirty="0"/>
              <a:t>）来测，所以是很机械的。</a:t>
            </a:r>
            <a:endParaRPr lang="en-US" b="1" dirty="0"/>
          </a:p>
          <a:p>
            <a:r>
              <a:rPr lang="zh-CN" altLang="en-US" dirty="0"/>
              <a:t>那不一定，即使你的软件产品功能</a:t>
            </a:r>
            <a:r>
              <a:rPr lang="en-US" dirty="0"/>
              <a:t>100% </a:t>
            </a:r>
            <a:r>
              <a:rPr lang="zh-CN" altLang="en-US" dirty="0"/>
              <a:t>符合</a:t>
            </a:r>
            <a:r>
              <a:rPr lang="en-US" dirty="0"/>
              <a:t>spec </a:t>
            </a:r>
            <a:r>
              <a:rPr lang="zh-CN" altLang="en-US" dirty="0"/>
              <a:t>的要求，但是用户也可能非常恨你的软件。这时，测试人员就没有尽到责任，因为测试人员要从用户的角度出发，测试软件。</a:t>
            </a:r>
            <a:endParaRPr lang="en-US" dirty="0"/>
          </a:p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zh-CN" altLang="en-US">
                <a:solidFill>
                  <a:srgbClr val="FFFFFF"/>
                </a:solidFill>
              </a:rPr>
              <a:t>有关测试的误解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/>
              <a:t>测试人员当然也写代码，但是质量不一定要很高。？</a:t>
            </a:r>
            <a:endParaRPr lang="en-US" b="1" dirty="0"/>
          </a:p>
          <a:p>
            <a:r>
              <a:rPr lang="zh-CN" altLang="en-US" dirty="0"/>
              <a:t>开发人员的代码没写好，可以依赖于测试人员来发现问题。但是如果测试人员的代码没写好，我们依赖谁来测试，改错呢？这就要求我们测试人员的代码质量特别高，因为我们是最后一道防线，如果我们的代码和测试工作有漏洞，那么</a:t>
            </a:r>
            <a:r>
              <a:rPr lang="en-US" dirty="0"/>
              <a:t>bug </a:t>
            </a:r>
            <a:r>
              <a:rPr lang="zh-CN" altLang="en-US" dirty="0"/>
              <a:t>就会跑到用户那里去。</a:t>
            </a:r>
            <a:endParaRPr lang="en-US" dirty="0"/>
          </a:p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zh-CN" altLang="en-US">
                <a:solidFill>
                  <a:srgbClr val="FFFFFF"/>
                </a:solidFill>
              </a:rPr>
              <a:t>有关测试的误解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/>
              <a:t>测试的时候尽量用</a:t>
            </a:r>
            <a:r>
              <a:rPr lang="en-US" b="1" dirty="0"/>
              <a:t>Debug</a:t>
            </a:r>
            <a:r>
              <a:rPr lang="zh-CN" altLang="en-US" b="1" dirty="0"/>
              <a:t>版本，便于发现 </a:t>
            </a:r>
            <a:r>
              <a:rPr lang="en-US" b="1" dirty="0"/>
              <a:t>bug</a:t>
            </a:r>
            <a:endParaRPr lang="en-US" b="1" dirty="0"/>
          </a:p>
          <a:p>
            <a:r>
              <a:rPr lang="zh-CN" altLang="en-US" dirty="0"/>
              <a:t>如果你的目的是尽快让问题显现，尽快找到问题，那我建议用</a:t>
            </a:r>
            <a:r>
              <a:rPr lang="en-US" dirty="0"/>
              <a:t>Debug</a:t>
            </a:r>
            <a:r>
              <a:rPr lang="zh-CN" altLang="en-US" dirty="0"/>
              <a:t>版本，“尽快发现问题”在软件开发周期的早期特别重要。</a:t>
            </a:r>
            <a:endParaRPr lang="en-US" altLang="zh-CN" dirty="0"/>
          </a:p>
          <a:p>
            <a:r>
              <a:rPr lang="zh-CN" altLang="en-US" dirty="0"/>
              <a:t>如果你的目的是尽可能测试用户所看到的软件，则用</a:t>
            </a:r>
            <a:r>
              <a:rPr lang="en-US" dirty="0"/>
              <a:t>Release</a:t>
            </a:r>
            <a:r>
              <a:rPr lang="zh-CN" altLang="en-US" dirty="0"/>
              <a:t>版本，这在软件开发的后期很有价值，特别是在运行效能 </a:t>
            </a:r>
            <a:r>
              <a:rPr lang="en-US" altLang="zh-CN" dirty="0"/>
              <a:t>(performance) </a:t>
            </a:r>
            <a:r>
              <a:rPr lang="zh-CN" altLang="en-US" dirty="0"/>
              <a:t>和压力 </a:t>
            </a:r>
            <a:r>
              <a:rPr lang="en-US" altLang="zh-CN" dirty="0"/>
              <a:t>(stress) </a:t>
            </a:r>
            <a:r>
              <a:rPr lang="zh-CN" altLang="en-US" dirty="0"/>
              <a:t>测试的时候。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Different kind of test</a:t>
            </a:r>
            <a:endParaRPr lang="en-US" dirty="0"/>
          </a:p>
        </p:txBody>
      </p:sp>
      <p:pic>
        <p:nvPicPr>
          <p:cNvPr id="30723" name="Picture 3" descr="十八般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539286" y="1371666"/>
            <a:ext cx="7061914" cy="5333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微软雅黑" panose="020B0503020204020204" charset="-122"/>
                <a:ea typeface="微软雅黑" panose="020B0503020204020204" charset="-122"/>
              </a:rPr>
              <a:t>Bug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：缺陷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微软雅黑" panose="020B0503020204020204" charset="-122"/>
                <a:ea typeface="微软雅黑" panose="020B0503020204020204" charset="-122"/>
              </a:rPr>
              <a:t>Bug 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has 3 aspects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/>
            <a:r>
              <a:rPr lang="zh-CN" altLang="en-US" sz="1900" dirty="0">
                <a:latin typeface="微软雅黑" panose="020B0503020204020204" charset="-122"/>
                <a:ea typeface="微软雅黑" panose="020B0503020204020204" charset="-122"/>
              </a:rPr>
              <a:t>症状（</a:t>
            </a:r>
            <a:r>
              <a:rPr lang="en-US" sz="1900" dirty="0">
                <a:latin typeface="微软雅黑" panose="020B0503020204020204" charset="-122"/>
                <a:ea typeface="微软雅黑" panose="020B0503020204020204" charset="-122"/>
              </a:rPr>
              <a:t>Symptom</a:t>
            </a:r>
            <a:r>
              <a:rPr lang="zh-CN" altLang="en-US" sz="190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en-US" altLang="zh-CN" sz="19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/>
            <a:r>
              <a:rPr lang="zh-CN" altLang="en-US" sz="1900" dirty="0">
                <a:latin typeface="微软雅黑" panose="020B0503020204020204" charset="-122"/>
                <a:ea typeface="微软雅黑" panose="020B0503020204020204" charset="-122"/>
              </a:rPr>
              <a:t>程序错误（</a:t>
            </a:r>
            <a:r>
              <a:rPr lang="en-US" sz="1900" dirty="0">
                <a:latin typeface="微软雅黑" panose="020B0503020204020204" charset="-122"/>
                <a:ea typeface="微软雅黑" panose="020B0503020204020204" charset="-122"/>
              </a:rPr>
              <a:t>Fault</a:t>
            </a:r>
            <a:r>
              <a:rPr lang="zh-CN" altLang="en-US" sz="190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en-US" altLang="zh-CN" sz="19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/>
            <a:r>
              <a:rPr lang="zh-CN" altLang="en-US" sz="1900" dirty="0">
                <a:latin typeface="微软雅黑" panose="020B0503020204020204" charset="-122"/>
                <a:ea typeface="微软雅黑" panose="020B0503020204020204" charset="-122"/>
              </a:rPr>
              <a:t>根本原因（</a:t>
            </a:r>
            <a:r>
              <a:rPr lang="en-US" sz="1900" dirty="0">
                <a:latin typeface="微软雅黑" panose="020B0503020204020204" charset="-122"/>
                <a:ea typeface="微软雅黑" panose="020B0503020204020204" charset="-122"/>
              </a:rPr>
              <a:t>Root cause</a:t>
            </a:r>
            <a:r>
              <a:rPr lang="zh-CN" altLang="en-US" sz="190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en-US" sz="19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dirty="0">
                <a:latin typeface="微软雅黑" panose="020B0503020204020204" charset="-122"/>
                <a:ea typeface="微软雅黑" panose="020B0503020204020204" charset="-122"/>
              </a:rPr>
              <a:t>Symptom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：即从用户的角度看，软件出了什么问题。</a:t>
            </a:r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2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例如，在输入（</a:t>
            </a:r>
            <a:r>
              <a:rPr lang="en-US" dirty="0">
                <a:latin typeface="微软雅黑" panose="020B0503020204020204" charset="-122"/>
                <a:ea typeface="微软雅黑" panose="020B0503020204020204" charset="-122"/>
              </a:rPr>
              <a:t>3 2 1 1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）的时候，程序错误退出。</a:t>
            </a:r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dirty="0">
                <a:latin typeface="微软雅黑" panose="020B0503020204020204" charset="-122"/>
                <a:ea typeface="微软雅黑" panose="020B0503020204020204" charset="-122"/>
              </a:rPr>
              <a:t>Fault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：从代码的角度看，代码的什么错误导致了软件的问题。</a:t>
            </a:r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2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例如，代码在输入为（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2 1 1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）情况下访问了非法的内存地址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en-US" dirty="0">
                <a:latin typeface="微软雅黑" panose="020B0503020204020204" charset="-122"/>
                <a:ea typeface="微软雅黑" panose="020B0503020204020204" charset="-122"/>
              </a:rPr>
              <a:t>0X0000000C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dirty="0">
                <a:latin typeface="微软雅黑" panose="020B0503020204020204" charset="-122"/>
                <a:ea typeface="微软雅黑" panose="020B0503020204020204" charset="-122"/>
              </a:rPr>
              <a:t>Root Cause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：错误根源，即导致代码错误的根本原因。</a:t>
            </a:r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2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例如，代码对于</a:t>
            </a:r>
            <a:r>
              <a:rPr lang="en-US" dirty="0">
                <a:latin typeface="微软雅黑" panose="020B0503020204020204" charset="-122"/>
                <a:ea typeface="微软雅黑" panose="020B0503020204020204" charset="-122"/>
              </a:rPr>
              <a:t>id1==id2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的情况没有做正确判断，从而引用了未赋初值的变量，产生了以上的情况。</a:t>
            </a:r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Symptom</a:t>
            </a:r>
            <a:r>
              <a:rPr lang="zh-CN" altLang="en-US" dirty="0"/>
              <a:t>：用户报告，一个</a:t>
            </a:r>
            <a:r>
              <a:rPr lang="en-US" dirty="0"/>
              <a:t>Windows</a:t>
            </a:r>
            <a:r>
              <a:rPr lang="zh-CN" altLang="en-US" dirty="0"/>
              <a:t>应用程序有时在启动时报错，程序不能运行。</a:t>
            </a:r>
            <a:endParaRPr lang="en-US" dirty="0"/>
          </a:p>
          <a:p>
            <a:r>
              <a:rPr lang="en-US" dirty="0"/>
              <a:t>Fault</a:t>
            </a:r>
            <a:r>
              <a:rPr lang="zh-CN" altLang="en-US" dirty="0"/>
              <a:t>：有时候一个子窗口的</a:t>
            </a:r>
            <a:r>
              <a:rPr lang="en-US" dirty="0"/>
              <a:t>handle</a:t>
            </a:r>
            <a:r>
              <a:rPr lang="zh-CN" altLang="en-US" dirty="0"/>
              <a:t>为空，导致程序访问了非法内存地址，此为代码错误。</a:t>
            </a:r>
            <a:endParaRPr lang="en-US" dirty="0"/>
          </a:p>
          <a:p>
            <a:r>
              <a:rPr lang="en-US" dirty="0"/>
              <a:t>Root Cause：</a:t>
            </a:r>
            <a:r>
              <a:rPr lang="zh-CN" altLang="en-US" dirty="0"/>
              <a:t>代码并没有确保创建子窗口</a:t>
            </a:r>
            <a:r>
              <a:rPr lang="en-US" dirty="0"/>
              <a:t>（</a:t>
            </a:r>
            <a:r>
              <a:rPr lang="en-US" dirty="0" err="1"/>
              <a:t>在CreateSubWindow</a:t>
            </a:r>
            <a:r>
              <a:rPr lang="en-US" dirty="0"/>
              <a:t>()</a:t>
            </a:r>
            <a:r>
              <a:rPr lang="en-US" dirty="0" err="1"/>
              <a:t>内部才做）发生在调用子窗口之前（在OnDraw</a:t>
            </a:r>
            <a:r>
              <a:rPr lang="en-US" dirty="0"/>
              <a:t>()</a:t>
            </a:r>
            <a:r>
              <a:rPr lang="en-US" dirty="0" err="1"/>
              <a:t>时调用</a:t>
            </a:r>
            <a:r>
              <a:rPr lang="en-US" dirty="0"/>
              <a:t>），</a:t>
            </a:r>
            <a:r>
              <a:rPr lang="en-US" dirty="0" err="1"/>
              <a:t>因此子窗口的变量有时在访问时为空，导致上面提到的错误</a:t>
            </a:r>
            <a:r>
              <a:rPr lang="en-US" dirty="0"/>
              <a:t>。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good bug report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bug</a:t>
            </a:r>
            <a:r>
              <a:rPr lang="zh-CN" altLang="en-US" dirty="0"/>
              <a:t>的标题，要简明地说明问题。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bug </a:t>
            </a:r>
            <a:r>
              <a:rPr lang="zh-CN" altLang="en-US" dirty="0"/>
              <a:t>的内容要写在</a:t>
            </a:r>
            <a:r>
              <a:rPr lang="en-US" dirty="0"/>
              <a:t>Description</a:t>
            </a:r>
            <a:r>
              <a:rPr lang="zh-CN" altLang="en-US" dirty="0"/>
              <a:t>中，包括：</a:t>
            </a:r>
            <a:endParaRPr lang="en-US" dirty="0"/>
          </a:p>
          <a:p>
            <a:pPr marL="788670" lvl="1" indent="-514350">
              <a:buFont typeface="+mj-lt"/>
              <a:buAutoNum type="arabicPeriod"/>
            </a:pPr>
            <a:r>
              <a:rPr lang="zh-CN" altLang="en-US" dirty="0"/>
              <a:t>测试的环境和准备工作；</a:t>
            </a:r>
            <a:endParaRPr lang="en-US" altLang="zh-CN" dirty="0"/>
          </a:p>
          <a:p>
            <a:pPr marL="788670" lvl="1" indent="-514350">
              <a:buFont typeface="+mj-lt"/>
              <a:buAutoNum type="arabicPeriod"/>
            </a:pPr>
            <a:r>
              <a:rPr lang="zh-CN" altLang="en-US" dirty="0"/>
              <a:t>测试的步骤，清楚地列出每一步做了什么；</a:t>
            </a:r>
            <a:endParaRPr lang="en-US" altLang="zh-CN" dirty="0"/>
          </a:p>
          <a:p>
            <a:pPr marL="788670" lvl="1" indent="-514350">
              <a:buFont typeface="+mj-lt"/>
              <a:buAutoNum type="arabicPeriod"/>
            </a:pPr>
            <a:r>
              <a:rPr lang="zh-CN" altLang="en-US" dirty="0"/>
              <a:t>实际发生的结果；</a:t>
            </a:r>
            <a:endParaRPr lang="en-US" altLang="zh-CN" dirty="0"/>
          </a:p>
          <a:p>
            <a:pPr marL="788670" lvl="1" indent="-514350">
              <a:buFont typeface="+mj-lt"/>
              <a:buAutoNum type="arabicPeriod"/>
            </a:pPr>
            <a:r>
              <a:rPr lang="zh-CN" altLang="en-US" dirty="0"/>
              <a:t>（根据</a:t>
            </a:r>
            <a:r>
              <a:rPr lang="en-US" dirty="0"/>
              <a:t>spec</a:t>
            </a:r>
            <a:r>
              <a:rPr lang="zh-CN" altLang="en-US" dirty="0"/>
              <a:t>和用户的期望）应该发生的结果。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如果需要其他补充材料，例如相关联的</a:t>
            </a:r>
            <a:r>
              <a:rPr lang="en-US" dirty="0"/>
              <a:t>bug</a:t>
            </a:r>
            <a:r>
              <a:rPr lang="zh-CN" altLang="en-US" dirty="0"/>
              <a:t>、输出文件、日志文件、调用堆栈的列表、截屏等，都要保存在</a:t>
            </a:r>
            <a:r>
              <a:rPr lang="en-US" dirty="0"/>
              <a:t>bug </a:t>
            </a:r>
            <a:r>
              <a:rPr lang="zh-CN" altLang="en-US" dirty="0"/>
              <a:t>相应的附件或链接中。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还可以设置</a:t>
            </a:r>
            <a:r>
              <a:rPr lang="en-US" dirty="0"/>
              <a:t>bug </a:t>
            </a:r>
            <a:r>
              <a:rPr lang="zh-CN" altLang="en-US" dirty="0"/>
              <a:t>的严重程度 （</a:t>
            </a:r>
            <a:r>
              <a:rPr lang="en-US" dirty="0"/>
              <a:t>Severity</a:t>
            </a:r>
            <a:r>
              <a:rPr lang="zh-CN" altLang="en-US" dirty="0"/>
              <a:t>）、功能区域等，这些都可在不同的字段中记录。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Sev</a:t>
            </a:r>
            <a:r>
              <a:rPr lang="en-US" dirty="0"/>
              <a:t> = 1</a:t>
            </a:r>
            <a:endParaRPr lang="en-US" dirty="0"/>
          </a:p>
          <a:p>
            <a:pPr lvl="1"/>
            <a:r>
              <a:rPr lang="en-US" dirty="0"/>
              <a:t>Data loss</a:t>
            </a:r>
            <a:endParaRPr lang="en-US" dirty="0"/>
          </a:p>
          <a:p>
            <a:pPr lvl="1"/>
            <a:r>
              <a:rPr lang="en-US" dirty="0"/>
              <a:t>Crash, UI hang without workaround</a:t>
            </a:r>
            <a:endParaRPr lang="en-US" dirty="0"/>
          </a:p>
          <a:p>
            <a:pPr lvl="1"/>
            <a:r>
              <a:rPr lang="en-US" dirty="0"/>
              <a:t>Security Issue</a:t>
            </a:r>
            <a:endParaRPr lang="en-US" dirty="0"/>
          </a:p>
          <a:p>
            <a:pPr lvl="1"/>
            <a:r>
              <a:rPr lang="en-US" dirty="0"/>
              <a:t>Blocking major functionality</a:t>
            </a:r>
            <a:endParaRPr lang="en-US" dirty="0"/>
          </a:p>
          <a:p>
            <a:r>
              <a:rPr lang="en-US" dirty="0" err="1"/>
              <a:t>Sev</a:t>
            </a:r>
            <a:r>
              <a:rPr lang="en-US" dirty="0"/>
              <a:t> =2 </a:t>
            </a:r>
            <a:endParaRPr lang="en-US" dirty="0"/>
          </a:p>
          <a:p>
            <a:pPr lvl="1"/>
            <a:r>
              <a:rPr lang="en-US" dirty="0"/>
              <a:t>Blocking partial functionality</a:t>
            </a:r>
            <a:endParaRPr lang="en-US" dirty="0"/>
          </a:p>
          <a:p>
            <a:pPr lvl="1"/>
            <a:r>
              <a:rPr lang="en-US" dirty="0"/>
              <a:t>UI is NOT WYSIWYG</a:t>
            </a:r>
            <a:endParaRPr lang="en-US" dirty="0"/>
          </a:p>
          <a:p>
            <a:pPr lvl="1"/>
            <a:r>
              <a:rPr lang="en-US" dirty="0"/>
              <a:t>Scalability </a:t>
            </a:r>
            <a:endParaRPr lang="en-US" dirty="0"/>
          </a:p>
          <a:p>
            <a:pPr lvl="1"/>
            <a:r>
              <a:rPr lang="en-US" dirty="0"/>
              <a:t>Scenario incomplete</a:t>
            </a:r>
            <a:endParaRPr lang="en-US" dirty="0"/>
          </a:p>
          <a:p>
            <a:r>
              <a:rPr lang="en-US" dirty="0" err="1"/>
              <a:t>Sev</a:t>
            </a:r>
            <a:r>
              <a:rPr lang="en-US" dirty="0"/>
              <a:t> = 3</a:t>
            </a:r>
            <a:endParaRPr lang="en-US" dirty="0"/>
          </a:p>
          <a:p>
            <a:pPr lvl="1"/>
            <a:r>
              <a:rPr lang="en-US" dirty="0"/>
              <a:t>Minor Usability issues</a:t>
            </a:r>
            <a:endParaRPr lang="en-US" dirty="0"/>
          </a:p>
          <a:p>
            <a:pPr lvl="1"/>
            <a:r>
              <a:rPr lang="en-US" dirty="0"/>
              <a:t>Performance,  occasional hiccup, 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you can fix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You can fix the symptom </a:t>
            </a:r>
            <a:r>
              <a:rPr lang="zh-CN" altLang="en-US" dirty="0"/>
              <a:t>（症状）</a:t>
            </a:r>
            <a:endParaRPr lang="en-US" altLang="zh-CN" dirty="0"/>
          </a:p>
          <a:p>
            <a:pPr lvl="1"/>
            <a:r>
              <a:rPr lang="zh-CN" altLang="en-US" dirty="0"/>
              <a:t>别让程序退出，把</a:t>
            </a:r>
            <a:r>
              <a:rPr lang="en-US" altLang="zh-CN" dirty="0"/>
              <a:t>exception </a:t>
            </a:r>
            <a:r>
              <a:rPr lang="zh-CN" altLang="en-US" dirty="0"/>
              <a:t>吃掉</a:t>
            </a:r>
            <a:endParaRPr lang="en-US" altLang="zh-CN" dirty="0"/>
          </a:p>
          <a:p>
            <a:r>
              <a:rPr lang="en-US" altLang="zh-CN" dirty="0"/>
              <a:t>You can fix the Fault </a:t>
            </a:r>
            <a:r>
              <a:rPr lang="zh-CN" altLang="en-US" dirty="0"/>
              <a:t>（程序错误）</a:t>
            </a:r>
            <a:endParaRPr lang="en-US" altLang="zh-CN" dirty="0"/>
          </a:p>
          <a:p>
            <a:pPr lvl="1"/>
            <a:r>
              <a:rPr lang="zh-CN" altLang="en-US" dirty="0"/>
              <a:t>修改代码</a:t>
            </a:r>
            <a:endParaRPr lang="en-US" altLang="zh-CN" dirty="0"/>
          </a:p>
          <a:p>
            <a:r>
              <a:rPr lang="en-US" altLang="zh-CN" dirty="0"/>
              <a:t>You can fix the root-cause </a:t>
            </a:r>
            <a:r>
              <a:rPr lang="zh-CN" altLang="en-US" dirty="0"/>
              <a:t>（根本原因）</a:t>
            </a:r>
            <a:endParaRPr lang="en-US" altLang="zh-CN" dirty="0"/>
          </a:p>
          <a:p>
            <a:pPr lvl="1"/>
            <a:r>
              <a:rPr lang="zh-CN" altLang="en-US" dirty="0"/>
              <a:t>找到根本原因</a:t>
            </a:r>
            <a:endParaRPr lang="en-US" altLang="zh-CN" dirty="0"/>
          </a:p>
          <a:p>
            <a:pPr lvl="2"/>
            <a:r>
              <a:rPr lang="en-US" altLang="zh-CN" dirty="0"/>
              <a:t>Spec </a:t>
            </a:r>
            <a:r>
              <a:rPr lang="zh-CN" altLang="en-US" dirty="0"/>
              <a:t>对某种情况没有考虑</a:t>
            </a:r>
            <a:endParaRPr lang="en-US" altLang="zh-CN" dirty="0"/>
          </a:p>
          <a:p>
            <a:pPr lvl="2"/>
            <a:r>
              <a:rPr lang="zh-CN" altLang="en-US" dirty="0"/>
              <a:t>设计没有考虑支持多语言</a:t>
            </a:r>
            <a:endParaRPr lang="en-US" altLang="zh-CN" dirty="0"/>
          </a:p>
          <a:p>
            <a:pPr lvl="1"/>
            <a:r>
              <a:rPr lang="zh-CN" altLang="en-US" dirty="0"/>
              <a:t>把所有受到根本原因影响的设计都改正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bug’s life cycle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Tester / User:  Report the Symptom</a:t>
            </a:r>
            <a:endParaRPr lang="en-US" altLang="zh-CN" dirty="0"/>
          </a:p>
          <a:p>
            <a:pPr lvl="1"/>
            <a:r>
              <a:rPr lang="en-US" altLang="zh-CN" dirty="0"/>
              <a:t>Open a bug</a:t>
            </a:r>
            <a:endParaRPr lang="en-US" altLang="zh-CN" dirty="0"/>
          </a:p>
          <a:p>
            <a:r>
              <a:rPr lang="en-US" altLang="zh-CN" dirty="0"/>
              <a:t>PM: understand the impact; decide what/when to fix</a:t>
            </a:r>
            <a:endParaRPr lang="en-US" altLang="zh-CN" dirty="0"/>
          </a:p>
          <a:p>
            <a:pPr lvl="1"/>
            <a:r>
              <a:rPr lang="en-US" altLang="zh-CN" dirty="0"/>
              <a:t>Bug is set with “priority”, “triage” field</a:t>
            </a:r>
            <a:endParaRPr lang="en-US" altLang="zh-CN" dirty="0"/>
          </a:p>
          <a:p>
            <a:r>
              <a:rPr lang="en-US" altLang="zh-CN" dirty="0"/>
              <a:t>Dev: fix it, fix the </a:t>
            </a:r>
            <a:r>
              <a:rPr lang="en-US" altLang="zh-CN" b="1" dirty="0"/>
              <a:t>root cause</a:t>
            </a:r>
            <a:r>
              <a:rPr lang="en-US" altLang="zh-CN" dirty="0"/>
              <a:t>. </a:t>
            </a:r>
            <a:endParaRPr lang="en-US" altLang="zh-CN" dirty="0"/>
          </a:p>
          <a:p>
            <a:pPr lvl="1"/>
            <a:r>
              <a:rPr lang="en-US" altLang="zh-CN" dirty="0"/>
              <a:t>Bug is in “working” state</a:t>
            </a:r>
            <a:endParaRPr lang="en-US" altLang="zh-CN" dirty="0"/>
          </a:p>
          <a:p>
            <a:r>
              <a:rPr lang="en-US" altLang="zh-CN" dirty="0"/>
              <a:t>Code-Reviewer: ensure quality</a:t>
            </a:r>
            <a:endParaRPr lang="en-US" altLang="zh-CN" dirty="0"/>
          </a:p>
          <a:p>
            <a:pPr lvl="1"/>
            <a:r>
              <a:rPr lang="en-US" altLang="zh-CN" dirty="0"/>
              <a:t>Bug fix is check-in, bug is resolved</a:t>
            </a:r>
            <a:endParaRPr lang="en-US" altLang="zh-CN" dirty="0"/>
          </a:p>
          <a:p>
            <a:r>
              <a:rPr lang="en-US" altLang="zh-CN" dirty="0"/>
              <a:t>Tester: regress-test the bug</a:t>
            </a:r>
            <a:endParaRPr lang="en-US" altLang="zh-CN" dirty="0"/>
          </a:p>
          <a:p>
            <a:pPr lvl="1"/>
            <a:r>
              <a:rPr lang="en-US" altLang="zh-CN" dirty="0"/>
              <a:t>Bug is closed</a:t>
            </a:r>
            <a:endParaRPr lang="en-US" altLang="zh-CN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What does Tester do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Compliance with Spec</a:t>
            </a:r>
            <a:endParaRPr lang="en-US" dirty="0"/>
          </a:p>
          <a:p>
            <a:pPr lvl="1"/>
            <a:r>
              <a:rPr lang="en-US" dirty="0"/>
              <a:t>(note: most new hires usually stop here)</a:t>
            </a:r>
            <a:endParaRPr lang="en-US" dirty="0"/>
          </a:p>
          <a:p>
            <a:r>
              <a:rPr lang="en-US" dirty="0"/>
              <a:t>The Negative Case / Error Handling</a:t>
            </a:r>
            <a:endParaRPr lang="en-US" dirty="0"/>
          </a:p>
          <a:p>
            <a:pPr lvl="1"/>
            <a:r>
              <a:rPr lang="en-US" dirty="0"/>
              <a:t>Does it crash? Does it log? Does it recover? Is the error message useful?</a:t>
            </a:r>
            <a:endParaRPr lang="en-US" dirty="0"/>
          </a:p>
          <a:p>
            <a:pPr lvl="1"/>
            <a:r>
              <a:rPr lang="en-US" dirty="0"/>
              <a:t>Examples:</a:t>
            </a:r>
            <a:endParaRPr lang="en-US" dirty="0"/>
          </a:p>
          <a:p>
            <a:pPr lvl="2"/>
            <a:r>
              <a:rPr lang="en-US" dirty="0"/>
              <a:t>network goes down</a:t>
            </a:r>
            <a:endParaRPr lang="en-US" dirty="0"/>
          </a:p>
          <a:p>
            <a:pPr lvl="2"/>
            <a:r>
              <a:rPr lang="en-US" dirty="0"/>
              <a:t>an interface times out</a:t>
            </a:r>
            <a:endParaRPr lang="en-US" dirty="0"/>
          </a:p>
          <a:p>
            <a:pPr lvl="2"/>
            <a:r>
              <a:rPr lang="en-US" dirty="0"/>
              <a:t>a resource is locked</a:t>
            </a:r>
            <a:endParaRPr lang="en-US" dirty="0"/>
          </a:p>
          <a:p>
            <a:pPr lvl="2"/>
            <a:r>
              <a:rPr lang="en-US" dirty="0"/>
              <a:t>a reference to an object that has been destroyed / an object fails to instantiate</a:t>
            </a:r>
            <a:endParaRPr lang="en-US" dirty="0"/>
          </a:p>
          <a:p>
            <a:pPr lvl="2"/>
            <a:r>
              <a:rPr lang="en-US" dirty="0"/>
              <a:t>the XML is corrupt / does not comply with the schema</a:t>
            </a:r>
            <a:endParaRPr lang="en-US" dirty="0"/>
          </a:p>
          <a:p>
            <a:pPr lvl="2"/>
            <a:r>
              <a:rPr lang="en-US" dirty="0"/>
              <a:t>the user is NOT AN ADMIN</a:t>
            </a:r>
            <a:endParaRPr lang="en-US" dirty="0"/>
          </a:p>
          <a:p>
            <a:r>
              <a:rPr lang="en-US" altLang="zh-CN" dirty="0"/>
              <a:t>User Experience</a:t>
            </a:r>
            <a:endParaRPr lang="en-US" altLang="zh-CN" dirty="0"/>
          </a:p>
          <a:p>
            <a:pPr lvl="1"/>
            <a:r>
              <a:rPr lang="en-US" altLang="zh-CN" dirty="0"/>
              <a:t>Does it deliver good experience to the user (while provide value)?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Different tests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zh-CN" altLang="en-US" dirty="0"/>
              <a:t>从测试设计的方法分类</a:t>
            </a:r>
            <a:endParaRPr lang="en-US" dirty="0"/>
          </a:p>
          <a:p>
            <a:r>
              <a:rPr lang="zh-CN" altLang="en-US" dirty="0"/>
              <a:t>测试设计有两类方法：</a:t>
            </a:r>
            <a:endParaRPr lang="en-US" altLang="zh-CN" dirty="0"/>
          </a:p>
          <a:p>
            <a:pPr lvl="1"/>
            <a:r>
              <a:rPr lang="en-US" dirty="0"/>
              <a:t>Black box</a:t>
            </a:r>
            <a:r>
              <a:rPr lang="zh-CN" altLang="en-US" dirty="0"/>
              <a:t>（黑箱） </a:t>
            </a:r>
            <a:r>
              <a:rPr lang="en-US" altLang="zh-CN" dirty="0"/>
              <a:t>vs.  </a:t>
            </a:r>
            <a:r>
              <a:rPr lang="en-US" dirty="0"/>
              <a:t>White box</a:t>
            </a:r>
            <a:r>
              <a:rPr lang="zh-CN" altLang="en-US" dirty="0"/>
              <a:t>（白箱）。</a:t>
            </a:r>
            <a:endParaRPr lang="en-US" dirty="0"/>
          </a:p>
          <a:p>
            <a:r>
              <a:rPr lang="zh-CN" altLang="en-US" dirty="0"/>
              <a:t>黑箱：</a:t>
            </a:r>
            <a:endParaRPr lang="en-US" altLang="zh-CN" dirty="0"/>
          </a:p>
          <a:p>
            <a:pPr lvl="1"/>
            <a:r>
              <a:rPr lang="zh-CN" altLang="en-US" dirty="0"/>
              <a:t>在设计测试的过程中，把软件系统当作一个“黑箱”，无法了解或使用系统的内部结构及知识。一个更准确的说法是“</a:t>
            </a:r>
            <a:r>
              <a:rPr lang="en-US" b="1" dirty="0"/>
              <a:t>Behavioral Test Design</a:t>
            </a:r>
            <a:r>
              <a:rPr lang="zh-CN" altLang="en-US" dirty="0"/>
              <a:t>”，从软件的行为，而不是内部结构出发来设计测试。</a:t>
            </a:r>
            <a:endParaRPr lang="en-US" dirty="0"/>
          </a:p>
          <a:p>
            <a:r>
              <a:rPr lang="zh-CN" altLang="en-US" dirty="0"/>
              <a:t>白箱：</a:t>
            </a:r>
            <a:endParaRPr lang="en-US" altLang="zh-CN" dirty="0"/>
          </a:p>
          <a:p>
            <a:pPr lvl="1"/>
            <a:r>
              <a:rPr lang="zh-CN" altLang="en-US" dirty="0"/>
              <a:t>在设计测试的过程中，设计者可以“看到”软件系统的内部结构，并且使用软件的内部知识来指导测试数据及方法的选择。“白箱”并不是一个精确的说法，因为把箱子涂成白色，同样也看不见箱子里的东西。有人建议用“玻璃箱”来表示。</a:t>
            </a:r>
            <a:endParaRPr lang="en-US" dirty="0"/>
          </a:p>
          <a:p>
            <a:r>
              <a:rPr lang="zh-CN" altLang="en-US" dirty="0"/>
              <a:t>在实际的测试中，当然是对系统了解得越多越好。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Different type of tests</a:t>
            </a:r>
            <a:br>
              <a:rPr lang="en-US" altLang="zh-CN" dirty="0"/>
            </a:br>
            <a:r>
              <a:rPr lang="en-US" altLang="zh-CN" dirty="0"/>
              <a:t>functional test</a:t>
            </a:r>
            <a:endParaRPr lang="en-US" dirty="0"/>
          </a:p>
        </p:txBody>
      </p:sp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2225675" y="2286001"/>
          <a:ext cx="8153400" cy="382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r:id="rId1" imgW="4123690" imgH="1935480" progId="Word.Document.12">
                  <p:embed/>
                </p:oleObj>
              </mc:Choice>
              <mc:Fallback>
                <p:oleObj name="Document" r:id="rId1" imgW="4123690" imgH="1935480" progId="Word.Document.1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675" y="2286001"/>
                        <a:ext cx="8153400" cy="382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Non functional test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90801" y="1523998"/>
          <a:ext cx="7696199" cy="5029202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2362200"/>
                <a:gridCol w="5333999"/>
              </a:tblGrid>
              <a:tr h="513184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dirty="0"/>
                        <a:t>测试名称</a:t>
                      </a:r>
                      <a:endParaRPr lang="en-US" sz="24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/>
                        <a:t>测试内容</a:t>
                      </a:r>
                      <a:endParaRPr lang="en-US" sz="24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478972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Stress/load test</a:t>
                      </a:r>
                      <a:endParaRPr lang="en-US" sz="1600" dirty="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2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sz="1800"/>
                        <a:t>测试软件在负载情况下能否正常工作</a:t>
                      </a:r>
                      <a:endParaRPr lang="en-US" sz="160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478972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Performance test</a:t>
                      </a:r>
                      <a:endParaRPr lang="en-US" sz="1600" dirty="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2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sz="1800"/>
                        <a:t>测试软件的效能</a:t>
                      </a:r>
                      <a:endParaRPr lang="en-US" sz="160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821093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/>
                        <a:t>Accessibility test</a:t>
                      </a:r>
                      <a:endParaRPr lang="en-US" sz="160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sz="1800" dirty="0"/>
                        <a:t>软件辅助功能测试</a:t>
                      </a:r>
                      <a:r>
                        <a:rPr lang="zh-CN" sz="1800" spc="-100" dirty="0"/>
                        <a:t>—</a:t>
                      </a:r>
                      <a:r>
                        <a:rPr lang="zh-CN" sz="1800" dirty="0"/>
                        <a:t>—测试软件是否向残疾用户提供足够的辅助功能</a:t>
                      </a:r>
                      <a:endParaRPr lang="en-US" sz="1600" dirty="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478972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/>
                        <a:t>Localization/Globalization Test</a:t>
                      </a:r>
                      <a:endParaRPr lang="en-US" sz="160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2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sz="1800" dirty="0"/>
                        <a:t>本地化</a:t>
                      </a:r>
                      <a:r>
                        <a:rPr lang="en-US" sz="1800" dirty="0"/>
                        <a:t>/</a:t>
                      </a:r>
                      <a:r>
                        <a:rPr lang="zh-CN" sz="1800" dirty="0"/>
                        <a:t>全球化测试</a:t>
                      </a:r>
                      <a:endParaRPr lang="en-US" sz="1600" dirty="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478972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/>
                        <a:t>Compatibility Test</a:t>
                      </a:r>
                      <a:endParaRPr lang="en-US" sz="160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2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sz="1800"/>
                        <a:t>兼容性测试</a:t>
                      </a:r>
                      <a:endParaRPr lang="en-US" sz="160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821093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/>
                        <a:t>Configuration Test</a:t>
                      </a:r>
                      <a:endParaRPr lang="en-US" sz="160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2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sz="1800"/>
                        <a:t>配置测试</a:t>
                      </a:r>
                      <a:r>
                        <a:rPr lang="zh-CN" sz="1800" spc="-100"/>
                        <a:t>—</a:t>
                      </a:r>
                      <a:r>
                        <a:rPr lang="zh-CN" sz="1800"/>
                        <a:t>—测试软件在各种配置下能否正常工作</a:t>
                      </a:r>
                      <a:endParaRPr lang="en-US" sz="160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478972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/>
                        <a:t>Usability Test</a:t>
                      </a:r>
                      <a:endParaRPr lang="en-US" sz="160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2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sz="1800"/>
                        <a:t>可用性测试</a:t>
                      </a:r>
                      <a:r>
                        <a:rPr lang="zh-CN" sz="1800" spc="-100"/>
                        <a:t>—</a:t>
                      </a:r>
                      <a:r>
                        <a:rPr lang="zh-CN" sz="1800"/>
                        <a:t>—测试软件是否好用</a:t>
                      </a:r>
                      <a:endParaRPr lang="en-US" sz="160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478972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/>
                        <a:t>Security Test</a:t>
                      </a:r>
                      <a:endParaRPr lang="en-US" sz="160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2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sz="1800" dirty="0"/>
                        <a:t>软件安全性测试</a:t>
                      </a:r>
                      <a:endParaRPr lang="en-US" sz="1600" dirty="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Purpose of test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97000"/>
          <a:ext cx="10134601" cy="462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7063"/>
                <a:gridCol w="6967538"/>
              </a:tblGrid>
              <a:tr h="11557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latin typeface="Arial" panose="020B0604020202020204"/>
                          <a:ea typeface="黑体" panose="02010609060101010101" charset="-122"/>
                          <a:cs typeface="Times New Roman" panose="02020603050405020304"/>
                        </a:rPr>
                        <a:t>测试名称</a:t>
                      </a:r>
                      <a:endParaRPr lang="en-US" sz="28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kern="100">
                          <a:latin typeface="Arial" panose="020B0604020202020204"/>
                          <a:ea typeface="黑体" panose="02010609060101010101" charset="-122"/>
                          <a:cs typeface="Times New Roman" panose="02020603050405020304"/>
                        </a:rPr>
                        <a:t>测试内容</a:t>
                      </a:r>
                      <a:endParaRPr lang="en-US" sz="28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11557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Smoke Test</a:t>
                      </a:r>
                      <a:endParaRPr lang="en-US" sz="1800" dirty="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sz="2000" spc="-2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“冒烟”</a:t>
                      </a:r>
                      <a:r>
                        <a:rPr lang="zh-CN" sz="2000" spc="-2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——</a:t>
                      </a:r>
                      <a:r>
                        <a:rPr lang="zh-CN" sz="2000" spc="-2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如果测试不通过，则不能进行下一步工作</a:t>
                      </a:r>
                      <a:endParaRPr lang="en-US" sz="1800" dirty="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11557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Build Verification Test</a:t>
                      </a:r>
                      <a:endParaRPr lang="en-US" sz="180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验证构建是否通过基本测试</a:t>
                      </a:r>
                      <a:endParaRPr lang="en-US" sz="180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11557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Acceptance Test </a:t>
                      </a:r>
                      <a:endParaRPr lang="en-US" sz="1800" dirty="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sz="2000" spc="-2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验收测试，为了全面考核某方面功能</a:t>
                      </a:r>
                      <a:r>
                        <a:rPr lang="en-US" sz="2000" spc="-2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/</a:t>
                      </a:r>
                      <a:r>
                        <a:rPr lang="zh-CN" sz="2000" spc="-2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特性而做的测试</a:t>
                      </a:r>
                      <a:endParaRPr lang="en-US" sz="1800" dirty="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 of testing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1397000"/>
          <a:ext cx="10287000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6858000"/>
              </a:tblGrid>
              <a:tr h="5923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latin typeface="Arial" panose="020B0604020202020204"/>
                          <a:ea typeface="黑体" panose="02010609060101010101" charset="-122"/>
                          <a:cs typeface="Times New Roman" panose="02020603050405020304"/>
                        </a:rPr>
                        <a:t>测试名称</a:t>
                      </a:r>
                      <a:endParaRPr lang="en-US" sz="28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kern="100">
                          <a:latin typeface="Arial" panose="020B0604020202020204"/>
                          <a:ea typeface="黑体" panose="02010609060101010101" charset="-122"/>
                          <a:cs typeface="Times New Roman" panose="02020603050405020304"/>
                        </a:rPr>
                        <a:t>测试内容</a:t>
                      </a:r>
                      <a:endParaRPr lang="en-US" sz="28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194760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Regression Test</a:t>
                      </a:r>
                      <a:endParaRPr lang="en-US" sz="1800" dirty="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“回归”测试</a:t>
                      </a:r>
                      <a:r>
                        <a:rPr lang="zh-CN" sz="2000" spc="-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—</a:t>
                      </a:r>
                      <a:r>
                        <a:rPr 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—对一个新的版本，重新运行以往的测试用例，看看新版本和已知的版本相比是否有“退化”（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regression</a:t>
                      </a:r>
                      <a:r>
                        <a:rPr 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）</a:t>
                      </a:r>
                      <a:endParaRPr lang="en-US" sz="180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59239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Ad hoc (Exploratory) Test</a:t>
                      </a:r>
                      <a:endParaRPr lang="en-US" sz="180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随机进行的、探索性的测试</a:t>
                      </a:r>
                      <a:endParaRPr lang="en-US" sz="180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97380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Bug Bash</a:t>
                      </a:r>
                      <a:endParaRPr lang="en-US" sz="180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Bug</a:t>
                      </a:r>
                      <a:r>
                        <a:rPr 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大扫荡</a:t>
                      </a:r>
                      <a:r>
                        <a:rPr lang="zh-CN" sz="2000" spc="-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—</a:t>
                      </a:r>
                      <a:r>
                        <a:rPr 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—全体成员参加的找“小强”活动</a:t>
                      </a:r>
                      <a:endParaRPr lang="en-US" sz="180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97380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Buddy Test</a:t>
                      </a:r>
                      <a:endParaRPr lang="en-US" sz="180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sz="20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伙伴测试</a:t>
                      </a:r>
                      <a:r>
                        <a:rPr lang="zh-CN" sz="2000" spc="-1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—</a:t>
                      </a:r>
                      <a:r>
                        <a:rPr lang="zh-CN" sz="20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—测试人员为开发人员（伙伴）的特定模块作的测试</a:t>
                      </a:r>
                      <a:endParaRPr lang="en-US" sz="1800" dirty="0"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Test 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517" y="1331558"/>
            <a:ext cx="8946541" cy="4195481"/>
          </a:xfrm>
        </p:spPr>
        <p:txBody>
          <a:bodyPr/>
          <a:lstStyle/>
          <a:p>
            <a:r>
              <a:rPr lang="en-US" altLang="zh-CN" dirty="0"/>
              <a:t>&lt;</a:t>
            </a:r>
            <a:r>
              <a:rPr lang="zh-CN" altLang="en-US" dirty="0"/>
              <a:t>移山之道</a:t>
            </a:r>
            <a:r>
              <a:rPr lang="en-US" altLang="zh-CN" dirty="0"/>
              <a:t>&gt; </a:t>
            </a:r>
            <a:r>
              <a:rPr lang="zh-CN" altLang="en-US" dirty="0"/>
              <a:t>表 </a:t>
            </a:r>
            <a:r>
              <a:rPr lang="en-US" altLang="zh-CN" dirty="0"/>
              <a:t>13-4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33601" y="1904999"/>
          <a:ext cx="8305798" cy="4762467"/>
        </p:xfrm>
        <a:graphic>
          <a:graphicData uri="http://schemas.openxmlformats.org/drawingml/2006/table">
            <a:tbl>
              <a:tblPr/>
              <a:tblGrid>
                <a:gridCol w="403402"/>
                <a:gridCol w="558322"/>
                <a:gridCol w="822143"/>
                <a:gridCol w="751586"/>
                <a:gridCol w="794535"/>
                <a:gridCol w="880430"/>
                <a:gridCol w="675661"/>
                <a:gridCol w="676428"/>
                <a:gridCol w="665691"/>
                <a:gridCol w="740849"/>
                <a:gridCol w="646518"/>
                <a:gridCol w="690233"/>
              </a:tblGrid>
              <a:tr h="60201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 dirty="0">
                        <a:solidFill>
                          <a:srgbClr val="000000"/>
                        </a:solidFill>
                        <a:latin typeface="Arial" panose="020B06040202020202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用户</a:t>
                      </a:r>
                      <a:endParaRPr lang="en-US" sz="16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类型</a:t>
                      </a:r>
                      <a:endParaRPr lang="en-US" sz="16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屏幕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分辨率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屏幕</a:t>
                      </a:r>
                      <a:r>
                        <a:rPr lang="en-US" sz="14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Times New Roman" panose="02020603050405020304"/>
                        </a:rPr>
                        <a:t>DPI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操作系统</a:t>
                      </a:r>
                      <a:endParaRPr lang="en-US" sz="1400">
                        <a:solidFill>
                          <a:srgbClr val="000000"/>
                        </a:solidFill>
                        <a:latin typeface="Times New Roman" panose="02020603050405020304"/>
                        <a:ea typeface="华文楷体" panose="02010600040101010101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操作系统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缺省语言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网络速度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浏览器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Times New Roman" panose="02020603050405020304"/>
                        </a:rPr>
                        <a:t>Flash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Times New Roman" panose="02020603050405020304"/>
                        </a:rPr>
                        <a:t>JavaScript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Times New Roman" panose="02020603050405020304"/>
                        </a:rPr>
                        <a:t>Cookie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组合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总数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60201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变量</a:t>
                      </a:r>
                      <a:endParaRPr lang="en-US" sz="16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数目</a:t>
                      </a:r>
                      <a:endParaRPr lang="en-US" sz="16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4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4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2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6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6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4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5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2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2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2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184320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6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商户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800x600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正常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WindowME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中文（简体）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拨号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IE6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支持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支持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支持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6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用户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1024x768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高级</a:t>
                      </a:r>
                      <a:r>
                        <a:rPr lang="en-US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DPI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WinXP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中文（繁体）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ADSL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IE8</a:t>
                      </a:r>
                      <a:endParaRPr lang="en-US" sz="16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不支持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不支持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不支持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6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浏览者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1280x1024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WinVista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英语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局域网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Opera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201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管理员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手机屏幕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Win Server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2003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日语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无线网络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Safari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6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Linux/Unix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阿拉伯语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Firefox</a:t>
                      </a:r>
                      <a:endParaRPr lang="en-US" sz="16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6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Mac</a:t>
                      </a:r>
                      <a:endParaRPr lang="en-US" sz="16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西班牙语</a:t>
                      </a:r>
                      <a:endParaRPr lang="en-US" sz="16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IE10</a:t>
                      </a:r>
                      <a:endParaRPr lang="en-US" sz="14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6886" marR="168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524001" y="-323165"/>
            <a:ext cx="184731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1524001" y="-179903"/>
            <a:ext cx="184731" cy="369332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74757" name="Rectangle 5"/>
          <p:cNvSpPr>
            <a:spLocks noChangeArrowheads="1"/>
          </p:cNvSpPr>
          <p:nvPr/>
        </p:nvSpPr>
        <p:spPr bwMode="auto">
          <a:xfrm>
            <a:off x="1524000" y="122709"/>
            <a:ext cx="1508746" cy="230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900" baseline="30000">
                <a:latin typeface="Times New Roman" panose="02020603050405020304" pitchFamily="18" charset="0"/>
                <a:ea typeface="KaiTi_GB2312"/>
                <a:cs typeface="Times New Roman" panose="02020603050405020304" pitchFamily="18" charset="0"/>
                <a:hlinkClick r:id="rId1"/>
              </a:rPr>
              <a:t>[</a:t>
            </a:r>
            <a:r>
              <a:rPr lang="en-US" altLang="zh-CN" sz="900" baseline="30000">
                <a:latin typeface="Times New Roman" panose="02020603050405020304" pitchFamily="18" charset="0"/>
                <a:ea typeface="KaiTi_GB2312"/>
                <a:cs typeface="Times New Roman" panose="02020603050405020304" pitchFamily="18" charset="0"/>
                <a:hlinkClick r:id="rId1"/>
              </a:rPr>
              <a:t>1]</a:t>
            </a:r>
            <a:r>
              <a:rPr lang="en-US" altLang="zh-CN" sz="900">
                <a:latin typeface="Times New Roman" panose="02020603050405020304" pitchFamily="18" charset="0"/>
                <a:ea typeface="KaiTi_GB2312"/>
                <a:cs typeface="Times New Roman" panose="02020603050405020304" pitchFamily="18" charset="0"/>
              </a:rPr>
              <a:t> </a:t>
            </a:r>
            <a:r>
              <a:rPr lang="zh-CN" altLang="en-US" sz="900">
                <a:latin typeface="Times New Roman" panose="02020603050405020304" pitchFamily="18" charset="0"/>
                <a:ea typeface="KaiTi_GB2312"/>
                <a:cs typeface="Times New Roman" panose="02020603050405020304" pitchFamily="18" charset="0"/>
              </a:rPr>
              <a:t>这个表还没有考虑</a:t>
            </a:r>
            <a:r>
              <a:rPr lang="en-US" altLang="zh-CN" sz="900">
                <a:latin typeface="Times New Roman" panose="02020603050405020304" pitchFamily="18" charset="0"/>
                <a:ea typeface="KaiTi_GB2312"/>
                <a:cs typeface="Times New Roman" panose="02020603050405020304" pitchFamily="18" charset="0"/>
              </a:rPr>
              <a:t>IE8</a:t>
            </a:r>
            <a:r>
              <a:rPr lang="zh-CN" altLang="en-US" sz="900">
                <a:latin typeface="Times New Roman" panose="02020603050405020304" pitchFamily="18" charset="0"/>
                <a:ea typeface="KaiTi_GB2312"/>
                <a:cs typeface="Times New Roman" panose="02020603050405020304" pitchFamily="18" charset="0"/>
              </a:rPr>
              <a:t>。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Simplified Test Matrix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4601" y="1600203"/>
          <a:ext cx="7772399" cy="4800599"/>
        </p:xfrm>
        <a:graphic>
          <a:graphicData uri="http://schemas.openxmlformats.org/drawingml/2006/table">
            <a:tbl>
              <a:tblPr/>
              <a:tblGrid>
                <a:gridCol w="990264"/>
                <a:gridCol w="874734"/>
                <a:gridCol w="1006769"/>
                <a:gridCol w="1160024"/>
                <a:gridCol w="1332142"/>
                <a:gridCol w="940752"/>
                <a:gridCol w="840546"/>
                <a:gridCol w="627168"/>
              </a:tblGrid>
              <a:tr h="147710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kern="100" dirty="0">
                        <a:solidFill>
                          <a:srgbClr val="000000"/>
                        </a:solidFill>
                        <a:latin typeface="Arial" panose="020B06040202020202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用户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类型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屏幕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分辨率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操作系统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操作系统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缺省语言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网络速度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浏览器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组合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Arial" panose="020B0604020202020204"/>
                          <a:ea typeface="黑体" panose="02010609060101010101" charset="-122"/>
                          <a:cs typeface="Arial" panose="020B0604020202020204"/>
                        </a:rPr>
                        <a:t>总数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66469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变量数目</a:t>
                      </a:r>
                      <a:endParaRPr lang="en-US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4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2</a:t>
                      </a:r>
                      <a:endParaRPr lang="en-US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3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3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3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3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648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469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商户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800x600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WinXP</a:t>
                      </a:r>
                      <a:endParaRPr lang="en-US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中文（简体）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拨号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IE6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469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用户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1024x768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WinVista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中文（繁体）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ADSL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IE10</a:t>
                      </a:r>
                      <a:endParaRPr lang="en-US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469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浏览者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Linux/Unix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英语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局域网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Firefox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kern="10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469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KaiTi_GB2312"/>
                          <a:cs typeface="Times New Roman" panose="02020603050405020304"/>
                        </a:rPr>
                        <a:t>管理员</a:t>
                      </a:r>
                      <a:endParaRPr lang="en-US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kern="100" dirty="0">
                        <a:solidFill>
                          <a:srgbClr val="000000"/>
                        </a:solidFill>
                        <a:latin typeface="Times New Roman" panose="02020603050405020304"/>
                        <a:ea typeface="KaiTi_GB2312"/>
                        <a:cs typeface="Times New Roman" panose="02020603050405020304"/>
                      </a:endParaRPr>
                    </a:p>
                  </a:txBody>
                  <a:tcPr marL="19050" marR="190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Further simplify the 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Pair-wise Test Case Generation</a:t>
            </a:r>
            <a:endParaRPr lang="en-US" altLang="zh-CN" dirty="0"/>
          </a:p>
          <a:p>
            <a:pPr lvl="1"/>
            <a:r>
              <a:rPr lang="en-US" altLang="zh-CN" dirty="0"/>
              <a:t>Only need to make sure every possible combination of 2 factors (a pair) appears once in the Test Case List</a:t>
            </a:r>
            <a:endParaRPr lang="en-US" altLang="zh-CN" dirty="0"/>
          </a:p>
          <a:p>
            <a:pPr lvl="1"/>
            <a:r>
              <a:rPr lang="en-US" altLang="zh-CN" dirty="0"/>
              <a:t>How many test cases for the previous test matrix?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Example -</a:t>
            </a:r>
            <a:r>
              <a:rPr lang="zh-CN" altLang="en-US" dirty="0"/>
              <a:t>如何测试效能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效能测试：在</a:t>
            </a:r>
            <a:r>
              <a:rPr lang="en-US" dirty="0"/>
              <a:t>100</a:t>
            </a:r>
            <a:r>
              <a:rPr lang="zh-CN" altLang="en-US" dirty="0"/>
              <a:t>个用户的情况下，产品搜索必须在</a:t>
            </a:r>
            <a:r>
              <a:rPr lang="en-US" dirty="0"/>
              <a:t>3</a:t>
            </a:r>
            <a:r>
              <a:rPr lang="zh-CN" altLang="en-US" dirty="0"/>
              <a:t>秒钟内返回结果。</a:t>
            </a:r>
            <a:r>
              <a:rPr lang="en-US" dirty="0"/>
              <a:t> </a:t>
            </a:r>
            <a:endParaRPr lang="en-US" dirty="0"/>
          </a:p>
          <a:p>
            <a:r>
              <a:rPr lang="zh-CN" altLang="en-US" dirty="0"/>
              <a:t>负载测试：在</a:t>
            </a:r>
            <a:r>
              <a:rPr lang="en-US" dirty="0"/>
              <a:t>2 000 </a:t>
            </a:r>
            <a:r>
              <a:rPr lang="zh-CN" altLang="en-US" dirty="0"/>
              <a:t>用户的情况下，产品搜索必须在</a:t>
            </a:r>
            <a:r>
              <a:rPr lang="en-US" dirty="0"/>
              <a:t>5</a:t>
            </a:r>
            <a:r>
              <a:rPr lang="zh-CN" altLang="en-US" dirty="0"/>
              <a:t>秒钟内返回结果。</a:t>
            </a:r>
            <a:endParaRPr lang="en-US" dirty="0"/>
          </a:p>
          <a:p>
            <a:r>
              <a:rPr lang="zh-CN" altLang="en-US" dirty="0"/>
              <a:t>压力测试：在高峰压力（</a:t>
            </a:r>
            <a:r>
              <a:rPr lang="en-US" dirty="0"/>
              <a:t>4 000 </a:t>
            </a:r>
            <a:r>
              <a:rPr lang="zh-CN" altLang="en-US" dirty="0"/>
              <a:t>用户）持续</a:t>
            </a:r>
            <a:r>
              <a:rPr lang="en-US" dirty="0"/>
              <a:t>48</a:t>
            </a:r>
            <a:r>
              <a:rPr lang="zh-CN" altLang="en-US" dirty="0"/>
              <a:t>小时的情况下，产品搜索的返回时间必须保持稳定。系统不至于崩溃。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Example - </a:t>
            </a:r>
            <a:r>
              <a:rPr lang="zh-CN" altLang="en-US" dirty="0"/>
              <a:t>旅客列车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效能测试：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dirty="0"/>
              <a:t>80%</a:t>
            </a:r>
            <a:r>
              <a:rPr lang="zh-CN" altLang="en-US" dirty="0"/>
              <a:t>上座率的情况下，</a:t>
            </a:r>
            <a:endParaRPr lang="en-US" altLang="zh-CN" dirty="0"/>
          </a:p>
          <a:p>
            <a:pPr lvl="1"/>
            <a:r>
              <a:rPr lang="zh-CN" altLang="en-US" dirty="0"/>
              <a:t>期望：列车按时到达，并且乘客享受到优质服务 （每小时清洁，保障水，食物，卫生）。乘务员不要太累。</a:t>
            </a:r>
            <a:r>
              <a:rPr lang="en-US" dirty="0"/>
              <a:t> </a:t>
            </a:r>
            <a:endParaRPr lang="en-US" dirty="0"/>
          </a:p>
          <a:p>
            <a:r>
              <a:rPr lang="zh-CN" altLang="en-US" dirty="0"/>
              <a:t>负载测试：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dirty="0"/>
              <a:t>100%</a:t>
            </a:r>
            <a:r>
              <a:rPr lang="zh-CN" altLang="en-US" dirty="0"/>
              <a:t>上座率的情况下，</a:t>
            </a:r>
            <a:endParaRPr lang="en-US" altLang="zh-CN" dirty="0"/>
          </a:p>
          <a:p>
            <a:pPr lvl="1"/>
            <a:r>
              <a:rPr lang="zh-CN" altLang="en-US" dirty="0"/>
              <a:t>期望：列车大部分按时到达，乘客享受到基本服务。乘务员的疲劳在可恢复范围内。</a:t>
            </a:r>
            <a:endParaRPr lang="en-US" dirty="0"/>
          </a:p>
          <a:p>
            <a:r>
              <a:rPr lang="zh-CN" altLang="en-US" dirty="0"/>
              <a:t>压力测试：</a:t>
            </a:r>
            <a:endParaRPr lang="en-US" altLang="zh-CN" dirty="0"/>
          </a:p>
          <a:p>
            <a:pPr lvl="1"/>
            <a:r>
              <a:rPr lang="zh-CN" altLang="en-US" dirty="0"/>
              <a:t>在高峰压力是</a:t>
            </a:r>
            <a:r>
              <a:rPr lang="en-US" dirty="0"/>
              <a:t>200%</a:t>
            </a:r>
            <a:r>
              <a:rPr lang="zh-CN" altLang="en-US" dirty="0"/>
              <a:t>上座率，全国铁路系统增加</a:t>
            </a:r>
            <a:r>
              <a:rPr lang="en-US" dirty="0"/>
              <a:t>20%</a:t>
            </a:r>
            <a:r>
              <a:rPr lang="zh-CN" altLang="en-US" dirty="0"/>
              <a:t>列车，持续</a:t>
            </a:r>
            <a:r>
              <a:rPr lang="en-US" dirty="0"/>
              <a:t>15</a:t>
            </a:r>
            <a:r>
              <a:rPr lang="zh-CN" altLang="en-US" dirty="0"/>
              <a:t>天的情况下 （春运）</a:t>
            </a:r>
            <a:endParaRPr lang="en-US" altLang="zh-CN" dirty="0"/>
          </a:p>
          <a:p>
            <a:pPr lvl="1"/>
            <a:r>
              <a:rPr lang="zh-CN" altLang="en-US" dirty="0"/>
              <a:t>期望：列车能到站，无出轨；乘客能活着下车，系统不至于崩溃。乘务员也能活着下车。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TFS example</a:t>
            </a:r>
            <a:endParaRPr lang="en-US" dirty="0"/>
          </a:p>
        </p:txBody>
      </p:sp>
      <p:pic>
        <p:nvPicPr>
          <p:cNvPr id="593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200400" y="1447801"/>
            <a:ext cx="6127982" cy="5058777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Load Test (cont.)</a:t>
            </a:r>
            <a:endParaRPr lang="en-US" dirty="0"/>
          </a:p>
        </p:txBody>
      </p:sp>
      <p:pic>
        <p:nvPicPr>
          <p:cNvPr id="604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3643554" y="2569566"/>
            <a:ext cx="3866667" cy="316190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Load Test Result</a:t>
            </a:r>
            <a:endParaRPr lang="en-US" dirty="0"/>
          </a:p>
        </p:txBody>
      </p:sp>
      <p:pic>
        <p:nvPicPr>
          <p:cNvPr id="61442" name="Picture 29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362200" y="1447800"/>
            <a:ext cx="7696200" cy="5241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1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3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6" name="Freeform 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US" altLang="zh-CN"/>
              <a:t>Exercise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5861" y="804671"/>
            <a:ext cx="6399930" cy="5248657"/>
          </a:xfrm>
        </p:spPr>
        <p:txBody>
          <a:bodyPr anchor="ctr">
            <a:normAutofit/>
          </a:bodyPr>
          <a:lstStyle/>
          <a:p>
            <a:r>
              <a:rPr lang="en-US" altLang="zh-CN" dirty="0"/>
              <a:t>Discuss your test plan</a:t>
            </a:r>
            <a:endParaRPr lang="en-US" altLang="zh-CN" dirty="0"/>
          </a:p>
          <a:p>
            <a:r>
              <a:rPr lang="en-US" altLang="zh-CN" dirty="0"/>
              <a:t>Do we need to test until our software is PERFECT?</a:t>
            </a:r>
            <a:endParaRPr lang="en-US" altLang="zh-CN" dirty="0"/>
          </a:p>
          <a:p>
            <a:r>
              <a:rPr lang="en-US" altLang="zh-CN" dirty="0"/>
              <a:t>What is “good enough” for testing?</a:t>
            </a:r>
            <a:endParaRPr lang="en-US" altLang="zh-CN" dirty="0"/>
          </a:p>
          <a:p>
            <a:pPr lvl="1"/>
            <a:r>
              <a:rPr lang="en-US" altLang="zh-CN" dirty="0"/>
              <a:t>“exit criteria”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Each project team define what’s “good enough” for your beta release</a:t>
            </a:r>
            <a:endParaRPr lang="en-US" altLang="zh-CN" dirty="0"/>
          </a:p>
          <a:p>
            <a:pPr lvl="1"/>
            <a:r>
              <a:rPr lang="en-US" altLang="zh-CN" dirty="0"/>
              <a:t>And post it to the blog. </a:t>
            </a:r>
            <a:endParaRPr lang="en-US" altLang="zh-CN" dirty="0"/>
          </a:p>
          <a:p>
            <a:r>
              <a:rPr lang="en-US" altLang="zh-CN" dirty="0"/>
              <a:t>What’s your Test Matrix</a:t>
            </a:r>
            <a:endParaRPr lang="en-US" altLang="zh-CN" dirty="0"/>
          </a:p>
          <a:p>
            <a:pPr lvl="1"/>
            <a:r>
              <a:rPr lang="en-US" altLang="zh-CN" dirty="0"/>
              <a:t>Post it to the blog. 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&amp; QA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Testing </a:t>
            </a:r>
            <a:r>
              <a:rPr lang="en-US" altLang="zh-CN" dirty="0"/>
              <a:t>(only)</a:t>
            </a:r>
            <a:r>
              <a:rPr lang="en-US" dirty="0"/>
              <a:t> at the end does not ensure quality</a:t>
            </a:r>
            <a:endParaRPr lang="en-US" dirty="0"/>
          </a:p>
          <a:p>
            <a:r>
              <a:rPr lang="en-US" dirty="0"/>
              <a:t>Testing to spec is not enough</a:t>
            </a:r>
            <a:endParaRPr lang="en-US" dirty="0"/>
          </a:p>
          <a:p>
            <a:r>
              <a:rPr lang="en-US" dirty="0"/>
              <a:t>Testers (alone) do not own quality. Everyone does.</a:t>
            </a:r>
            <a:endParaRPr lang="en-US" dirty="0"/>
          </a:p>
          <a:p>
            <a:r>
              <a:rPr lang="en-US" altLang="zh-CN" dirty="0"/>
              <a:t>It takes a get set of knowledge and tools to do testing well</a:t>
            </a:r>
            <a:endParaRPr lang="en-US" dirty="0"/>
          </a:p>
          <a:p>
            <a:r>
              <a:rPr lang="en-US" altLang="zh-CN" dirty="0"/>
              <a:t>Testing is a great discipline in Software Engineering</a:t>
            </a:r>
            <a:endParaRPr lang="en-US" altLang="zh-CN" dirty="0"/>
          </a:p>
          <a:p>
            <a:r>
              <a:rPr lang="en-US" dirty="0"/>
              <a:t>QA covers the whole Software Life Cycle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Home Work – Bug Bash</a:t>
            </a:r>
            <a:endParaRPr lang="en-US" dirty="0"/>
          </a:p>
        </p:txBody>
      </p:sp>
      <p:pic>
        <p:nvPicPr>
          <p:cNvPr id="73730" name="Picture 2" descr="C:\Users\xinz\work\Yishan\Yishan\jpg\捉虫大扫荡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438401" y="1447801"/>
            <a:ext cx="7311635" cy="477202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dirty="0"/>
              <a:t>User Experience</a:t>
            </a:r>
            <a:endParaRPr lang="en-US" altLang="zh-CN" dirty="0"/>
          </a:p>
          <a:p>
            <a:pPr lvl="2"/>
            <a:r>
              <a:rPr lang="en-US" altLang="zh-CN" dirty="0"/>
              <a:t>Does it deliver good experience to the user (while provide value)?</a:t>
            </a:r>
            <a:endParaRPr lang="en-US" dirty="0"/>
          </a:p>
          <a:p>
            <a:pPr lvl="1"/>
            <a:r>
              <a:rPr lang="en-US" dirty="0"/>
              <a:t>Evaluate the UX of cnblogs.com</a:t>
            </a:r>
            <a:endParaRPr lang="en-US" dirty="0"/>
          </a:p>
          <a:p>
            <a:pPr lvl="2"/>
            <a:r>
              <a:rPr lang="zh-CN" altLang="en-US" dirty="0"/>
              <a:t>你是什么样的用户</a:t>
            </a:r>
            <a:r>
              <a:rPr lang="en-US" altLang="zh-CN" dirty="0"/>
              <a:t>, </a:t>
            </a:r>
            <a:r>
              <a:rPr lang="zh-CN" altLang="en-US" dirty="0"/>
              <a:t>有什么样的心理</a:t>
            </a:r>
            <a:r>
              <a:rPr lang="en-US" altLang="zh-CN" dirty="0"/>
              <a:t>, </a:t>
            </a:r>
            <a:r>
              <a:rPr lang="zh-CN" altLang="en-US" dirty="0"/>
              <a:t>对</a:t>
            </a:r>
            <a:r>
              <a:rPr lang="en-US" altLang="zh-CN" dirty="0" err="1"/>
              <a:t>cnblogs</a:t>
            </a:r>
            <a:r>
              <a:rPr lang="en-US" altLang="zh-CN" dirty="0"/>
              <a:t> </a:t>
            </a:r>
            <a:r>
              <a:rPr lang="zh-CN" altLang="en-US" dirty="0"/>
              <a:t>的期望值是什么</a:t>
            </a:r>
            <a:r>
              <a:rPr lang="en-US" altLang="zh-CN" dirty="0"/>
              <a:t>?</a:t>
            </a:r>
            <a:endParaRPr lang="en-US" altLang="zh-CN" dirty="0"/>
          </a:p>
          <a:p>
            <a:pPr lvl="2"/>
            <a:r>
              <a:rPr lang="zh-CN" altLang="en-US" dirty="0"/>
              <a:t>当你第一次使用</a:t>
            </a:r>
            <a:r>
              <a:rPr lang="en-US" altLang="zh-CN" dirty="0" err="1"/>
              <a:t>cnblogs</a:t>
            </a:r>
            <a:r>
              <a:rPr lang="en-US" altLang="zh-CN" dirty="0"/>
              <a:t> </a:t>
            </a:r>
            <a:r>
              <a:rPr lang="zh-CN" altLang="en-US" dirty="0"/>
              <a:t>的功能的时候</a:t>
            </a:r>
            <a:r>
              <a:rPr lang="en-US" altLang="zh-CN" dirty="0"/>
              <a:t>, </a:t>
            </a:r>
            <a:r>
              <a:rPr lang="zh-CN" altLang="en-US" dirty="0"/>
              <a:t>碰到了哪些问题</a:t>
            </a:r>
            <a:r>
              <a:rPr lang="en-US" altLang="zh-CN" dirty="0"/>
              <a:t>? </a:t>
            </a:r>
            <a:r>
              <a:rPr lang="zh-CN" altLang="en-US" dirty="0"/>
              <a:t>后来是如何解决的</a:t>
            </a:r>
            <a:r>
              <a:rPr lang="en-US" altLang="zh-CN" dirty="0"/>
              <a:t>?</a:t>
            </a:r>
            <a:endParaRPr lang="en-US" altLang="zh-CN" dirty="0"/>
          </a:p>
          <a:p>
            <a:pPr lvl="3"/>
            <a:r>
              <a:rPr lang="zh-CN" altLang="en-US" dirty="0"/>
              <a:t>例如</a:t>
            </a:r>
            <a:r>
              <a:rPr lang="en-US" altLang="zh-CN" dirty="0"/>
              <a:t>, </a:t>
            </a:r>
            <a:r>
              <a:rPr lang="zh-CN" altLang="en-US" dirty="0"/>
              <a:t>你想成为某个用户的粉丝</a:t>
            </a:r>
            <a:r>
              <a:rPr lang="en-US" altLang="zh-CN" dirty="0"/>
              <a:t>, </a:t>
            </a:r>
            <a:r>
              <a:rPr lang="zh-CN" altLang="en-US" dirty="0"/>
              <a:t>怎么才能做到</a:t>
            </a:r>
            <a:r>
              <a:rPr lang="en-US" altLang="zh-CN" dirty="0"/>
              <a:t>? </a:t>
            </a:r>
            <a:endParaRPr lang="en-US" altLang="zh-CN" dirty="0"/>
          </a:p>
          <a:p>
            <a:pPr lvl="2"/>
            <a:r>
              <a:rPr lang="zh-CN" altLang="en-US" dirty="0"/>
              <a:t>你对 </a:t>
            </a:r>
            <a:r>
              <a:rPr lang="en-US" altLang="zh-CN" dirty="0" err="1"/>
              <a:t>cnblogs</a:t>
            </a:r>
            <a:r>
              <a:rPr lang="en-US" altLang="zh-CN" dirty="0"/>
              <a:t> </a:t>
            </a:r>
            <a:r>
              <a:rPr lang="zh-CN" altLang="en-US" dirty="0"/>
              <a:t>的</a:t>
            </a:r>
            <a:r>
              <a:rPr lang="en-US" altLang="zh-CN" dirty="0"/>
              <a:t>UX </a:t>
            </a:r>
            <a:r>
              <a:rPr lang="zh-CN" altLang="en-US" dirty="0"/>
              <a:t>有什么建议</a:t>
            </a:r>
            <a:r>
              <a:rPr lang="en-US" altLang="zh-CN" dirty="0"/>
              <a:t>?  </a:t>
            </a:r>
            <a:r>
              <a:rPr lang="zh-CN" altLang="en-US" dirty="0"/>
              <a:t>你自己小组的软件设计应该吸取什么教训</a:t>
            </a:r>
            <a:r>
              <a:rPr lang="en-US" altLang="zh-CN" dirty="0"/>
              <a:t>?</a:t>
            </a:r>
            <a:endParaRPr lang="en-US" altLang="zh-CN" dirty="0"/>
          </a:p>
          <a:p>
            <a:pPr lvl="1"/>
            <a:r>
              <a:rPr lang="zh-CN" altLang="en-US" dirty="0"/>
              <a:t>各个组员合作</a:t>
            </a:r>
            <a:r>
              <a:rPr lang="en-US" altLang="zh-CN" dirty="0"/>
              <a:t>, </a:t>
            </a:r>
            <a:r>
              <a:rPr lang="zh-CN" altLang="en-US" dirty="0"/>
              <a:t>列出几个需要改进的地方</a:t>
            </a:r>
            <a:r>
              <a:rPr lang="en-US" altLang="zh-CN" dirty="0"/>
              <a:t>, </a:t>
            </a:r>
            <a:r>
              <a:rPr lang="zh-CN" altLang="en-US" dirty="0"/>
              <a:t>发表为一个博客。 </a:t>
            </a:r>
            <a:endParaRPr lang="en-US" altLang="zh-CN" dirty="0"/>
          </a:p>
          <a:p>
            <a:pPr lvl="1"/>
            <a:r>
              <a:rPr lang="en-US" altLang="zh-CN" dirty="0"/>
              <a:t>TA </a:t>
            </a:r>
            <a:r>
              <a:rPr lang="en-US" dirty="0"/>
              <a:t> </a:t>
            </a:r>
            <a:r>
              <a:rPr lang="zh-CN" altLang="en-US" dirty="0"/>
              <a:t>根据实际博客的质量给出 </a:t>
            </a:r>
            <a:r>
              <a:rPr lang="en-US" altLang="zh-CN" dirty="0"/>
              <a:t>1/n </a:t>
            </a:r>
            <a:r>
              <a:rPr lang="zh-CN" altLang="en-US" dirty="0"/>
              <a:t>系列的分数</a:t>
            </a:r>
            <a:r>
              <a:rPr lang="en-US" altLang="zh-CN" dirty="0"/>
              <a:t>. 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to do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PM (of product team)</a:t>
            </a:r>
            <a:endParaRPr lang="en-US" altLang="zh-CN" dirty="0"/>
          </a:p>
          <a:p>
            <a:pPr lvl="1"/>
            <a:r>
              <a:rPr lang="en-US" altLang="zh-CN" dirty="0"/>
              <a:t>What’s ready for testing</a:t>
            </a:r>
            <a:endParaRPr lang="en-US" altLang="zh-CN" dirty="0"/>
          </a:p>
          <a:p>
            <a:pPr lvl="1"/>
            <a:r>
              <a:rPr lang="en-US" altLang="zh-CN" dirty="0"/>
              <a:t>What’s not ready (incomplete feature)</a:t>
            </a:r>
            <a:endParaRPr lang="en-US" altLang="zh-CN" dirty="0"/>
          </a:p>
          <a:p>
            <a:pPr lvl="1"/>
            <a:r>
              <a:rPr lang="en-US" altLang="zh-CN" dirty="0"/>
              <a:t>If your software is not ready,  share with them your spec, and test plan, UI design</a:t>
            </a:r>
            <a:endParaRPr lang="en-US" dirty="0"/>
          </a:p>
          <a:p>
            <a:r>
              <a:rPr lang="en-US" altLang="zh-CN" dirty="0"/>
              <a:t>Tester (from testing team)</a:t>
            </a:r>
            <a:endParaRPr lang="en-US" altLang="zh-CN" dirty="0"/>
          </a:p>
          <a:p>
            <a:pPr lvl="1"/>
            <a:r>
              <a:rPr lang="en-US" altLang="zh-CN" dirty="0"/>
              <a:t>Focus on the “testable areas”</a:t>
            </a:r>
            <a:endParaRPr lang="en-US" altLang="zh-CN" dirty="0"/>
          </a:p>
          <a:p>
            <a:pPr lvl="1"/>
            <a:r>
              <a:rPr lang="en-US" altLang="zh-CN" dirty="0"/>
              <a:t>Open bugs from user’s perspective</a:t>
            </a:r>
            <a:endParaRPr lang="en-US" altLang="zh-CN" dirty="0"/>
          </a:p>
          <a:p>
            <a:pPr lvl="1"/>
            <a:r>
              <a:rPr lang="en-US" altLang="zh-CN" dirty="0"/>
              <a:t>If software is not ready, open bugs against spec, UI design, etc. 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Homework #9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Write a blog to </a:t>
            </a:r>
            <a:r>
              <a:rPr lang="en-US" altLang="zh-CN" dirty="0"/>
              <a:t>talk about your scenario testing</a:t>
            </a:r>
            <a:endParaRPr lang="en-US" dirty="0"/>
          </a:p>
          <a:p>
            <a:pPr marL="788670" lvl="1" indent="-514350">
              <a:buFont typeface="+mj-lt"/>
              <a:buAutoNum type="arabicPeriod"/>
            </a:pPr>
            <a:r>
              <a:rPr lang="en-US" dirty="0"/>
              <a:t>(link to your test plan,  this was last week’s homework)</a:t>
            </a:r>
            <a:endParaRPr lang="en-US" dirty="0"/>
          </a:p>
          <a:p>
            <a:pPr marL="788670" lvl="1" indent="-514350">
              <a:buFont typeface="+mj-lt"/>
              <a:buAutoNum type="arabicPeriod"/>
            </a:pPr>
            <a:r>
              <a:rPr lang="en-US" dirty="0"/>
              <a:t>(link to your persona)</a:t>
            </a:r>
            <a:endParaRPr lang="en-US" dirty="0"/>
          </a:p>
          <a:p>
            <a:pPr marL="788670" lvl="1" indent="-514350">
              <a:buFont typeface="+mj-lt"/>
              <a:buAutoNum type="arabicPeriod"/>
            </a:pPr>
            <a:r>
              <a:rPr lang="en-US" dirty="0"/>
              <a:t>How do you expect different personas (some teams have 3 personas) to use your software?  What’s their need and their goals,  how your features works together to solve their needs?</a:t>
            </a:r>
            <a:endParaRPr lang="en-US" dirty="0"/>
          </a:p>
          <a:p>
            <a:pPr marL="788670" lvl="1" indent="-514350">
              <a:buFont typeface="+mj-lt"/>
              <a:buAutoNum type="arabicPeriod"/>
            </a:pPr>
            <a:r>
              <a:rPr lang="en-US" dirty="0"/>
              <a:t>Your test matrix (</a:t>
            </a:r>
            <a:r>
              <a:rPr lang="zh-CN" altLang="en-US" dirty="0"/>
              <a:t>测试矩阵</a:t>
            </a:r>
            <a:r>
              <a:rPr lang="en-US" altLang="zh-CN" dirty="0"/>
              <a:t>)</a:t>
            </a:r>
            <a:endParaRPr lang="en-US" altLang="zh-CN" dirty="0"/>
          </a:p>
          <a:p>
            <a:pPr marL="1062990" lvl="2" indent="-514350">
              <a:buFont typeface="+mj-lt"/>
              <a:buAutoNum type="arabicPeriod"/>
            </a:pPr>
            <a:r>
              <a:rPr lang="en-US" altLang="zh-CN" dirty="0"/>
              <a:t>On what platform, what language, what type of machines, what type of browser, etc. to test your software?</a:t>
            </a:r>
            <a:endParaRPr lang="en-US" altLang="zh-CN" dirty="0"/>
          </a:p>
          <a:p>
            <a:pPr marL="788670" lvl="1" indent="-514350">
              <a:buFont typeface="+mj-lt"/>
              <a:buAutoNum type="arabicPeriod"/>
            </a:pPr>
            <a:r>
              <a:rPr lang="en-US" altLang="zh-CN" dirty="0"/>
              <a:t>What is “exit criteria”  (good enough) for your software for Alpha release?</a:t>
            </a:r>
            <a:endParaRPr lang="en-US" altLang="zh-CN" dirty="0"/>
          </a:p>
          <a:p>
            <a:pPr marL="1062990" lvl="2" indent="-514350">
              <a:buFont typeface="+mj-lt"/>
              <a:buAutoNum type="arabicPeriod"/>
            </a:pPr>
            <a:r>
              <a:rPr lang="en-US" altLang="zh-CN" dirty="0"/>
              <a:t>Hint: focus on the first 5-15 minutes. </a:t>
            </a:r>
            <a:endParaRPr lang="en-US" altLang="zh-CN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homework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Write a blog to </a:t>
            </a:r>
            <a:r>
              <a:rPr lang="en-US" altLang="zh-CN" dirty="0"/>
              <a:t>talk about</a:t>
            </a:r>
            <a:endParaRPr lang="en-US" dirty="0"/>
          </a:p>
          <a:p>
            <a:pPr marL="788670" lvl="1" indent="-514350">
              <a:buFont typeface="+mj-lt"/>
              <a:buAutoNum type="arabicPeriod"/>
            </a:pPr>
            <a:r>
              <a:rPr lang="en-US" dirty="0"/>
              <a:t>(link to your test plan,  this was last homework)</a:t>
            </a:r>
            <a:endParaRPr lang="en-US" dirty="0"/>
          </a:p>
          <a:p>
            <a:pPr marL="788670" lvl="1" indent="-514350">
              <a:buFont typeface="+mj-lt"/>
              <a:buAutoNum type="arabicPeriod"/>
            </a:pPr>
            <a:r>
              <a:rPr lang="en-US" dirty="0"/>
              <a:t>Your test matrix (</a:t>
            </a:r>
            <a:r>
              <a:rPr lang="zh-CN" altLang="en-US" dirty="0"/>
              <a:t>测试矩阵</a:t>
            </a:r>
            <a:r>
              <a:rPr lang="en-US" altLang="zh-CN" dirty="0"/>
              <a:t>)</a:t>
            </a:r>
            <a:endParaRPr lang="en-US" altLang="zh-CN" dirty="0"/>
          </a:p>
          <a:p>
            <a:pPr marL="788670" lvl="1" indent="-514350">
              <a:buFont typeface="+mj-lt"/>
              <a:buAutoNum type="arabicPeriod"/>
            </a:pPr>
            <a:r>
              <a:rPr lang="en-US" altLang="zh-CN" dirty="0"/>
              <a:t>Calculate how many test cases under pair-wise test case,  vs. full combination of all test cases</a:t>
            </a:r>
            <a:endParaRPr lang="en-US" altLang="zh-CN" dirty="0"/>
          </a:p>
          <a:p>
            <a:pPr marL="788670" lvl="1" indent="-514350">
              <a:buFont typeface="+mj-lt"/>
              <a:buAutoNum type="arabicPeriod"/>
            </a:pPr>
            <a:r>
              <a:rPr lang="en-US" altLang="zh-CN" dirty="0"/>
              <a:t>What is “exit criteria”  (good enough) for your software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Bug bash</a:t>
            </a:r>
            <a:endParaRPr lang="en-US" altLang="zh-CN" dirty="0"/>
          </a:p>
          <a:p>
            <a:pPr marL="788670" lvl="1" indent="-514350">
              <a:buFont typeface="+mj-lt"/>
              <a:buAutoNum type="arabicPeriod"/>
            </a:pPr>
            <a:r>
              <a:rPr lang="en-US" altLang="zh-CN" dirty="0"/>
              <a:t>Open bugs for other team (the team you’re supposed to test)</a:t>
            </a:r>
            <a:endParaRPr lang="en-US" altLang="zh-CN" dirty="0"/>
          </a:p>
          <a:p>
            <a:pPr marL="788670" lvl="1" indent="-514350">
              <a:buFont typeface="+mj-lt"/>
              <a:buAutoNum type="arabicPeriod"/>
            </a:pPr>
            <a:r>
              <a:rPr lang="en-US" altLang="zh-CN" dirty="0"/>
              <a:t>Each bug has good format (title, description, etc)</a:t>
            </a:r>
            <a:endParaRPr lang="en-US" altLang="zh-CN" dirty="0"/>
          </a:p>
          <a:p>
            <a:pPr marL="788670" lvl="1" indent="-514350">
              <a:buFont typeface="+mj-lt"/>
              <a:buAutoNum type="arabicPeriod"/>
            </a:pPr>
            <a:r>
              <a:rPr lang="en-US" altLang="zh-CN" dirty="0"/>
              <a:t>The more,  the better</a:t>
            </a: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讨论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1"/>
              </a:rPr>
              <a:t>http://www.cnblogs.com/xinz/p/3856332.html</a:t>
            </a:r>
            <a:endParaRPr lang="en-US" dirty="0"/>
          </a:p>
          <a:p>
            <a:endParaRPr lang="en-US" altLang="zh-CN" dirty="0"/>
          </a:p>
          <a:p>
            <a:r>
              <a:rPr lang="en-US" dirty="0"/>
              <a:t> 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71182FA640024E8A2815D490E1EF25" ma:contentTypeVersion="0" ma:contentTypeDescription="Create a new document." ma:contentTypeScope="" ma:versionID="3591aab47f172a2900f307f59d42222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f28ea01430cdfb20a10736313f817e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FBAD3CE-F083-4C4D-9639-2A686804FC72}">
  <ds:schemaRefs/>
</ds:datastoreItem>
</file>

<file path=customXml/itemProps2.xml><?xml version="1.0" encoding="utf-8"?>
<ds:datastoreItem xmlns:ds="http://schemas.openxmlformats.org/officeDocument/2006/customXml" ds:itemID="{B59B624C-3232-4AA7-B231-042BE14D924C}">
  <ds:schemaRefs/>
</ds:datastoreItem>
</file>

<file path=customXml/itemProps3.xml><?xml version="1.0" encoding="utf-8"?>
<ds:datastoreItem xmlns:ds="http://schemas.openxmlformats.org/officeDocument/2006/customXml" ds:itemID="{5C132C8A-B094-42C9-8FEB-6C14EB442EF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9607</Words>
  <Application>WPS 演示</Application>
  <PresentationFormat>Widescreen</PresentationFormat>
  <Paragraphs>645</Paragraphs>
  <Slides>44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68" baseType="lpstr">
      <vt:lpstr>Arial</vt:lpstr>
      <vt:lpstr>宋体</vt:lpstr>
      <vt:lpstr>Wingdings</vt:lpstr>
      <vt:lpstr>Wingdings 3</vt:lpstr>
      <vt:lpstr>Arial</vt:lpstr>
      <vt:lpstr>Wingdings</vt:lpstr>
      <vt:lpstr>Century Gothic</vt:lpstr>
      <vt:lpstr>微软雅黑</vt:lpstr>
      <vt:lpstr>Arial Unicode MS</vt:lpstr>
      <vt:lpstr>Calibri</vt:lpstr>
      <vt:lpstr>Century Gothic</vt:lpstr>
      <vt:lpstr>Times New Roman</vt:lpstr>
      <vt:lpstr>Verdana</vt:lpstr>
      <vt:lpstr>黑体</vt:lpstr>
      <vt:lpstr>KaiTi_GB2312</vt:lpstr>
      <vt:lpstr>Segoe Print</vt:lpstr>
      <vt:lpstr>华文楷体</vt:lpstr>
      <vt:lpstr>Times New Roman</vt:lpstr>
      <vt:lpstr>KaiTi_GB2312</vt:lpstr>
      <vt:lpstr>Verdana</vt:lpstr>
      <vt:lpstr>Wingdings</vt:lpstr>
      <vt:lpstr>方正仿宋_GB2312</vt:lpstr>
      <vt:lpstr>Ion</vt:lpstr>
      <vt:lpstr>Word.Document.12</vt:lpstr>
      <vt:lpstr>软件测试</vt:lpstr>
      <vt:lpstr>定义</vt:lpstr>
      <vt:lpstr>质量为何重要? （这还用问）</vt:lpstr>
      <vt:lpstr>Real world example</vt:lpstr>
      <vt:lpstr>Quality/质量是啥？</vt:lpstr>
      <vt:lpstr>Is Testing Sufficient to ensure Quality?</vt:lpstr>
      <vt:lpstr>QA in Microsoft</vt:lpstr>
      <vt:lpstr>QA in Microsoft</vt:lpstr>
      <vt:lpstr>产品周期中的质量保障</vt:lpstr>
      <vt:lpstr>QA in Microsoft</vt:lpstr>
      <vt:lpstr>测试工程师典型的一天</vt:lpstr>
      <vt:lpstr>有关测试的误解</vt:lpstr>
      <vt:lpstr>有关测试的误解</vt:lpstr>
      <vt:lpstr>有关测试的误解</vt:lpstr>
      <vt:lpstr>有关测试的误解</vt:lpstr>
      <vt:lpstr>Different kind of test</vt:lpstr>
      <vt:lpstr>Bug：缺陷</vt:lpstr>
      <vt:lpstr>Example</vt:lpstr>
      <vt:lpstr>A good bug report</vt:lpstr>
      <vt:lpstr>Severity</vt:lpstr>
      <vt:lpstr>What you can fix</vt:lpstr>
      <vt:lpstr>A bug’s life cycle</vt:lpstr>
      <vt:lpstr>What does Tester do</vt:lpstr>
      <vt:lpstr>Different tests</vt:lpstr>
      <vt:lpstr>Different type of tests functional test</vt:lpstr>
      <vt:lpstr>Non functional test</vt:lpstr>
      <vt:lpstr>Purpose of test</vt:lpstr>
      <vt:lpstr>Method of testing</vt:lpstr>
      <vt:lpstr>Test Matrix</vt:lpstr>
      <vt:lpstr>Simplified Test Matrix</vt:lpstr>
      <vt:lpstr>Further simplify the matrix</vt:lpstr>
      <vt:lpstr>Example -如何测试效能</vt:lpstr>
      <vt:lpstr>Example - 旅客列车</vt:lpstr>
      <vt:lpstr>TFS example</vt:lpstr>
      <vt:lpstr>Load Test (cont.)</vt:lpstr>
      <vt:lpstr>Load Test Result</vt:lpstr>
      <vt:lpstr>Exercise</vt:lpstr>
      <vt:lpstr>Testing &amp; QA overview</vt:lpstr>
      <vt:lpstr>Home Work – Bug Bash</vt:lpstr>
      <vt:lpstr>In-class exercise</vt:lpstr>
      <vt:lpstr>What to do</vt:lpstr>
      <vt:lpstr>Team Homework #9</vt:lpstr>
      <vt:lpstr>Summary of homework</vt:lpstr>
      <vt:lpstr>讨论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软件测试</dc:title>
  <dc:creator>Xin Zou</dc:creator>
  <cp:lastModifiedBy>李莎</cp:lastModifiedBy>
  <cp:revision>2</cp:revision>
  <dcterms:created xsi:type="dcterms:W3CDTF">2018-11-29T01:54:00Z</dcterms:created>
  <dcterms:modified xsi:type="dcterms:W3CDTF">2026-05-18T01:06:43Z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1607AC3E66284824A15F837A0B45307F_12</vt:lpwstr>
  </property>
</Properties>
</file>