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83"/>
  </p:notesMasterIdLst>
  <p:sldIdLst>
    <p:sldId id="261" r:id="rId5"/>
    <p:sldId id="275" r:id="rId6"/>
    <p:sldId id="277" r:id="rId7"/>
    <p:sldId id="264" r:id="rId8"/>
    <p:sldId id="265" r:id="rId9"/>
    <p:sldId id="259" r:id="rId10"/>
    <p:sldId id="260" r:id="rId11"/>
    <p:sldId id="263" r:id="rId12"/>
    <p:sldId id="271" r:id="rId13"/>
    <p:sldId id="272" r:id="rId14"/>
    <p:sldId id="278" r:id="rId15"/>
    <p:sldId id="279" r:id="rId16"/>
    <p:sldId id="273" r:id="rId17"/>
    <p:sldId id="266" r:id="rId18"/>
    <p:sldId id="276" r:id="rId19"/>
    <p:sldId id="267" r:id="rId20"/>
    <p:sldId id="258" r:id="rId21"/>
    <p:sldId id="268" r:id="rId22"/>
    <p:sldId id="257" r:id="rId23"/>
    <p:sldId id="269" r:id="rId24"/>
    <p:sldId id="274" r:id="rId25"/>
    <p:sldId id="281" r:id="rId26"/>
    <p:sldId id="280" r:id="rId27"/>
    <p:sldId id="312" r:id="rId28"/>
    <p:sldId id="313" r:id="rId29"/>
    <p:sldId id="270" r:id="rId30"/>
    <p:sldId id="302" r:id="rId31"/>
    <p:sldId id="303" r:id="rId32"/>
    <p:sldId id="304" r:id="rId33"/>
    <p:sldId id="305" r:id="rId34"/>
    <p:sldId id="306" r:id="rId35"/>
    <p:sldId id="307" r:id="rId36"/>
    <p:sldId id="308" r:id="rId37"/>
    <p:sldId id="309" r:id="rId38"/>
    <p:sldId id="311" r:id="rId39"/>
    <p:sldId id="310" r:id="rId40"/>
    <p:sldId id="376" r:id="rId41"/>
    <p:sldId id="377" r:id="rId42"/>
    <p:sldId id="378" r:id="rId43"/>
    <p:sldId id="288" r:id="rId44"/>
    <p:sldId id="294" r:id="rId45"/>
    <p:sldId id="379" r:id="rId46"/>
    <p:sldId id="380" r:id="rId47"/>
    <p:sldId id="381" r:id="rId48"/>
    <p:sldId id="382" r:id="rId49"/>
    <p:sldId id="286" r:id="rId50"/>
    <p:sldId id="287" r:id="rId51"/>
    <p:sldId id="383" r:id="rId52"/>
    <p:sldId id="384" r:id="rId53"/>
    <p:sldId id="385" r:id="rId54"/>
    <p:sldId id="386" r:id="rId55"/>
    <p:sldId id="297" r:id="rId56"/>
    <p:sldId id="298" r:id="rId57"/>
    <p:sldId id="299" r:id="rId58"/>
    <p:sldId id="387" r:id="rId59"/>
    <p:sldId id="388" r:id="rId60"/>
    <p:sldId id="284" r:id="rId61"/>
    <p:sldId id="389" r:id="rId62"/>
    <p:sldId id="390" r:id="rId63"/>
    <p:sldId id="391" r:id="rId64"/>
    <p:sldId id="282" r:id="rId65"/>
    <p:sldId id="290" r:id="rId66"/>
    <p:sldId id="295" r:id="rId67"/>
    <p:sldId id="296" r:id="rId68"/>
    <p:sldId id="301" r:id="rId69"/>
    <p:sldId id="392" r:id="rId70"/>
    <p:sldId id="393" r:id="rId71"/>
    <p:sldId id="394" r:id="rId72"/>
    <p:sldId id="395" r:id="rId73"/>
    <p:sldId id="396" r:id="rId74"/>
    <p:sldId id="397" r:id="rId75"/>
    <p:sldId id="398" r:id="rId76"/>
    <p:sldId id="399" r:id="rId77"/>
    <p:sldId id="300" r:id="rId78"/>
    <p:sldId id="283" r:id="rId79"/>
    <p:sldId id="285" r:id="rId80"/>
    <p:sldId id="291" r:id="rId81"/>
    <p:sldId id="374" r:id="rId8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232" autoAdjust="0"/>
  </p:normalViewPr>
  <p:slideViewPr>
    <p:cSldViewPr showGuides="1">
      <p:cViewPr varScale="1">
        <p:scale>
          <a:sx n="69" d="100"/>
          <a:sy n="69" d="100"/>
        </p:scale>
        <p:origin x="80" y="83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629CECF6-B44B-4827-95CE-F4DAD7D4955B}" type="datetimeFigureOut">
              <a:rPr lang="en-US"/>
              <a:t>5/27/2026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2518E120-2523-4C9B-A081-0137B07A5C39}"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gthill.blogspot.com/2009/12/unit-testing-what-to-test-right-bicep.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p>
        </p:txBody>
      </p:sp>
      <p:sp>
        <p:nvSpPr>
          <p:cNvPr id="174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39859C1-B26B-4384-A448-98EE5A9CA09E}" type="slidenum">
              <a:rPr lang="en-US">
                <a:latin typeface="Calibri" panose="020F0502020204030204" pitchFamily="34" charset="0"/>
              </a:rPr>
              <a:t>6</a:t>
            </a:fld>
            <a:endParaRPr 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dirty="0"/>
              <a:t>https://www.safaribooksonline.com/library/view/pragmatic-unit-testing/9781680500769/f_0051.html</a:t>
            </a:r>
          </a:p>
          <a:p>
            <a:endParaRPr lang="en-US" dirty="0"/>
          </a:p>
          <a:p>
            <a:r>
              <a:rPr lang="en-US" altLang="zh-CN" sz="1200" kern="1200" dirty="0">
                <a:solidFill>
                  <a:schemeClr val="tx1"/>
                </a:solidFill>
                <a:effectLst/>
                <a:latin typeface="+mn-lt"/>
                <a:ea typeface="+mn-ea"/>
                <a:cs typeface="+mn-cs"/>
                <a:hlinkClick r:id="rId3"/>
              </a:rPr>
              <a:t>http://gthill.blogspot.com/2009/12/unit-testing-what-to-test-right-bicep.html</a:t>
            </a:r>
            <a:endParaRPr lang="en-US" altLang="zh-CN" sz="1200" kern="1200" dirty="0">
              <a:solidFill>
                <a:schemeClr val="tx1"/>
              </a:solidFill>
              <a:effectLst/>
              <a:latin typeface="+mn-lt"/>
              <a:ea typeface="+mn-ea"/>
              <a:cs typeface="+mn-cs"/>
            </a:endParaRPr>
          </a:p>
          <a:p>
            <a:endParaRPr lang="en-US" dirty="0"/>
          </a:p>
        </p:txBody>
      </p:sp>
      <p:sp>
        <p:nvSpPr>
          <p:cNvPr id="4" name="灯片编号占位符 3"/>
          <p:cNvSpPr>
            <a:spLocks noGrp="1"/>
          </p:cNvSpPr>
          <p:nvPr>
            <p:ph type="sldNum" sz="quarter" idx="10"/>
          </p:nvPr>
        </p:nvSpPr>
        <p:spPr/>
        <p:txBody>
          <a:bodyPr/>
          <a:lstStyle/>
          <a:p>
            <a:fld id="{2518E120-2523-4C9B-A081-0137B07A5C39}" type="slidenum">
              <a:rPr lang="en-US" smtClean="0"/>
              <a:t>15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Without personal skills,  team work is impossible,</a:t>
            </a:r>
            <a:r>
              <a:rPr lang="en-US" altLang="zh-CN" baseline="0" dirty="0"/>
              <a:t> even when we have healthy, upright, PhD degree team members.   </a:t>
            </a:r>
            <a:r>
              <a:rPr lang="en-US" altLang="zh-CN" dirty="0"/>
              <a:t>This</a:t>
            </a:r>
            <a:r>
              <a:rPr lang="en-US" altLang="zh-CN" baseline="0" dirty="0"/>
              <a:t> is why we want everyone to focus on individual skills,  the right set of skills,  which are the foundation of our team work. </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38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dirty="0"/>
              <a:t>Work is carried out by each individual</a:t>
            </a:r>
          </a:p>
          <a:p>
            <a:pPr eaLnBrk="1" hangingPunct="1"/>
            <a:r>
              <a:rPr lang="en-US" dirty="0"/>
              <a:t>Skills as an “Individual Contributor” is important</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39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http://www.sei.cmu.edu/library/abstracts/reports/05sr003.cfm</a:t>
            </a:r>
          </a:p>
          <a:p>
            <a:pPr marL="0" marR="0" indent="0" algn="l" defTabSz="914400" rtl="0" eaLnBrk="1" fontAlgn="auto" latinLnBrk="0" hangingPunct="1">
              <a:lnSpc>
                <a:spcPct val="100000"/>
              </a:lnSpc>
              <a:spcBef>
                <a:spcPts val="0"/>
              </a:spcBef>
              <a:spcAft>
                <a:spcPts val="0"/>
              </a:spcAft>
              <a:buClrTx/>
              <a:buSzTx/>
              <a:buFontTx/>
              <a:buNone/>
              <a:defRPr/>
            </a:pPr>
            <a:endParaRPr lang="en-US" dirty="0"/>
          </a:p>
          <a:p>
            <a:pPr marL="0" marR="0" indent="0" algn="l" defTabSz="914400" rtl="0" eaLnBrk="1" fontAlgn="auto" latinLnBrk="0" hangingPunct="1">
              <a:lnSpc>
                <a:spcPct val="100000"/>
              </a:lnSpc>
              <a:spcBef>
                <a:spcPts val="0"/>
              </a:spcBef>
              <a:spcAft>
                <a:spcPts val="0"/>
              </a:spcAft>
              <a:buClrTx/>
              <a:buSzTx/>
              <a:buFontTx/>
              <a:buNone/>
              <a:defRPr/>
            </a:pPr>
            <a:r>
              <a:rPr lang="en-US" dirty="0"/>
              <a:t>A baseline is established of current process measuring: time spent on programming, faults injected/removed, size of a program. In a post mortem, the engineer ensures all data for the projects has been properly recorded and </a:t>
            </a:r>
            <a:r>
              <a:rPr lang="en-US" dirty="0" err="1"/>
              <a:t>analysed</a:t>
            </a:r>
            <a:r>
              <a:rPr lang="en-US" dirty="0"/>
              <a:t>. PSP0.1 advances the process by adding a coding standard, a size measurement and the development of a personal process improvement plan (PIP). In the PIP, the engineer records ideas for improving his own process.</a:t>
            </a:r>
            <a:br>
              <a:rPr lang="en-US" dirty="0"/>
            </a:b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42</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PSP1, PSP1.1 (Introduces estimating and planning)</a:t>
            </a:r>
            <a:br>
              <a:rPr lang="en-US" dirty="0"/>
            </a:br>
            <a:r>
              <a:rPr lang="en-US" dirty="0"/>
              <a:t>Based upon the baseline data collected in PSP0 and PSP0.1, the engineer estimates how large a new program will be and prepares a test report (PSP1). Accumulated data from previous projects is used to estimate the total time. Each new project will record the actual time spent. This information is used for task and schedule planning and estimation (PSP1.1).</a:t>
            </a:r>
            <a:br>
              <a:rPr lang="en-US" dirty="0"/>
            </a:b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44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t>PSP2, PSP2.1 (Introduces quality management and design)</a:t>
            </a:r>
            <a:br>
              <a:rPr lang="en-US" dirty="0"/>
            </a:br>
            <a:r>
              <a:rPr lang="en-US" dirty="0"/>
              <a:t>PSP2 adds two new phases: design review and code review. Defect prevention and removal are the focus at the PSP2. Engineers learn to evaluate and improve their process by measuring how long tasks take and the number of defects they inject and remove in each phase of development. Engineers construct and use checklists for design and code reviews. PSP2.1 introduces design specification and analysis techniques</a:t>
            </a: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45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The key data collected in the PSP tool are time, defect, and size data – the time spent in each phase; when and where defects were injected, found, and fixed; and the size of the product parts. Software developers use many other measures that are derived from these three basic measures to understand and improve their performance. Derived measures include:</a:t>
            </a:r>
          </a:p>
          <a:p>
            <a:r>
              <a:rPr lang="en-US" dirty="0"/>
              <a:t>estimation accuracy (size/time)</a:t>
            </a:r>
          </a:p>
          <a:p>
            <a:r>
              <a:rPr lang="en-US" dirty="0"/>
              <a:t>prediction intervals (size/time)</a:t>
            </a:r>
          </a:p>
          <a:p>
            <a:r>
              <a:rPr lang="en-US" dirty="0"/>
              <a:t>time in phase distribution</a:t>
            </a:r>
          </a:p>
          <a:p>
            <a:r>
              <a:rPr lang="en-US" dirty="0"/>
              <a:t>defect injection distribution</a:t>
            </a:r>
          </a:p>
          <a:p>
            <a:r>
              <a:rPr lang="en-US" dirty="0"/>
              <a:t>defect removal distribution</a:t>
            </a:r>
          </a:p>
          <a:p>
            <a:r>
              <a:rPr lang="en-US" dirty="0"/>
              <a:t>productivity</a:t>
            </a:r>
          </a:p>
          <a:p>
            <a:r>
              <a:rPr lang="en-US" dirty="0"/>
              <a:t>reuse percentage</a:t>
            </a:r>
          </a:p>
          <a:p>
            <a:r>
              <a:rPr lang="en-US" dirty="0"/>
              <a:t>cost performance index</a:t>
            </a:r>
          </a:p>
          <a:p>
            <a:r>
              <a:rPr lang="en-US" dirty="0"/>
              <a:t>planned value</a:t>
            </a:r>
          </a:p>
          <a:p>
            <a:r>
              <a:rPr lang="en-US" dirty="0"/>
              <a:t>earned value</a:t>
            </a:r>
          </a:p>
          <a:p>
            <a:r>
              <a:rPr lang="en-US" dirty="0"/>
              <a:t>predicted earned value</a:t>
            </a:r>
          </a:p>
          <a:p>
            <a:r>
              <a:rPr lang="en-US" dirty="0"/>
              <a:t>defect density</a:t>
            </a:r>
          </a:p>
          <a:p>
            <a:r>
              <a:rPr lang="en-US" dirty="0"/>
              <a:t>defect density by phase</a:t>
            </a:r>
          </a:p>
          <a:p>
            <a:r>
              <a:rPr lang="en-US" dirty="0"/>
              <a:t>defect removal rate by phase</a:t>
            </a:r>
          </a:p>
          <a:p>
            <a:r>
              <a:rPr lang="en-US" dirty="0"/>
              <a:t>defect removal leverage</a:t>
            </a:r>
          </a:p>
          <a:p>
            <a:r>
              <a:rPr lang="en-US" dirty="0"/>
              <a:t>review rates</a:t>
            </a:r>
          </a:p>
          <a:p>
            <a:r>
              <a:rPr lang="en-US" dirty="0"/>
              <a:t>process yield</a:t>
            </a:r>
          </a:p>
          <a:p>
            <a:r>
              <a:rPr lang="en-US" dirty="0"/>
              <a:t>phase yield</a:t>
            </a:r>
          </a:p>
          <a:p>
            <a:r>
              <a:rPr lang="en-US" dirty="0"/>
              <a:t>failure cost of quality (COQ)</a:t>
            </a:r>
          </a:p>
          <a:p>
            <a:r>
              <a:rPr lang="en-US" dirty="0"/>
              <a:t>appraisal COQ</a:t>
            </a:r>
          </a:p>
          <a:p>
            <a:r>
              <a:rPr lang="en-US" dirty="0"/>
              <a:t>appraisal/failure COQ ratio</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50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51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55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56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3:</a:t>
            </a:r>
            <a:r>
              <a:rPr lang="en-US" altLang="zh-CN" baseline="0" dirty="0"/>
              <a:t>  </a:t>
            </a:r>
            <a:r>
              <a:rPr lang="zh-CN" altLang="en-US" dirty="0"/>
              <a:t>江， 人，</a:t>
            </a:r>
            <a:endParaRPr lang="en-US" altLang="zh-CN" dirty="0"/>
          </a:p>
          <a:p>
            <a:r>
              <a:rPr lang="en-US" altLang="zh-CN" dirty="0"/>
              <a:t>2:  </a:t>
            </a:r>
            <a:r>
              <a:rPr lang="zh-CN" altLang="en-US" dirty="0"/>
              <a:t>国，生， 千，故，如</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57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Standard deviation</a:t>
            </a:r>
            <a:r>
              <a:rPr lang="en-US" baseline="0" dirty="0"/>
              <a:t> is key to the quality of service, and key to build trust.   </a:t>
            </a:r>
            <a:r>
              <a:rPr lang="en-US" altLang="zh-CN" baseline="0" dirty="0"/>
              <a:t>&lt;Jack Welch&gt;</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60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t>5/27/2026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nblogs.com/SivilTaram/p/software_pretraining_java.html" TargetMode="External"/><Relationship Id="rId2" Type="http://schemas.openxmlformats.org/officeDocument/2006/relationships/hyperlink" Target="http://www.cnblogs.com/xinz/archive/2011/11/20/2255830.html" TargetMode="External"/><Relationship Id="rId1" Type="http://schemas.openxmlformats.org/officeDocument/2006/relationships/slideLayout" Target="../slideLayouts/slideLayout2.xml"/><Relationship Id="rId4" Type="http://schemas.openxmlformats.org/officeDocument/2006/relationships/hyperlink" Target="https://www.cnblogs.com/SivilTaram/p/software_pretraining_cpp.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marketplace.visualstudio.com/items?itemName=OpenCppCoverage.OpenCppCoveragePlugi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cnblogs.com/xinz/p/3318230.html"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cnblogs.com/xrq730/p/4865416.html" TargetMode="External"/><Relationship Id="rId2" Type="http://schemas.openxmlformats.org/officeDocument/2006/relationships/hyperlink" Target="http://www.cnblogs.com/xinz/archive/2011/11/20/2255809.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cnblogs.com/xiadw/p/7455513.html" TargetMode="External"/><Relationship Id="rId2" Type="http://schemas.openxmlformats.org/officeDocument/2006/relationships/hyperlink" Target="https://blog.csdn.net/asukasmallriver/article/details/74356771" TargetMode="External"/><Relationship Id="rId1" Type="http://schemas.openxmlformats.org/officeDocument/2006/relationships/slideLayout" Target="../slideLayouts/slideLayout2.xml"/><Relationship Id="rId4" Type="http://schemas.openxmlformats.org/officeDocument/2006/relationships/hyperlink" Target="https://edu.cnblogs.com/campus/ntu/Embedded_Application/homework/2154"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cnblogs.com/xinz/archive/2011/11/27/2265000.html" TargetMode="External"/><Relationship Id="rId2" Type="http://schemas.openxmlformats.org/officeDocument/2006/relationships/hyperlink" Target="https://www.cnblogs.com/xinz/p/7426280.html" TargetMode="External"/><Relationship Id="rId1" Type="http://schemas.openxmlformats.org/officeDocument/2006/relationships/slideLayout" Target="../slideLayouts/slideLayout2.xml"/><Relationship Id="rId4" Type="http://schemas.openxmlformats.org/officeDocument/2006/relationships/hyperlink" Target="http://www.cnblogs.com/xinz/p/4421170.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images.google.com/imgres?imgurl=http://s3.amazonaws.com/pixmac-preview/soccer-player-silhouettes-1.jpg&amp;imgrefurl=http://www.pixmac.com/picture/soccer-player-silhouettes/000000184984&amp;usg=__epvvuoGk6nCHCzVigrG4u7iwwzM=&amp;h=306&amp;w=400&amp;sz=19&amp;hl=en&amp;start=22&amp;tbnid=Ervd0cBao52trM:&amp;tbnh=95&amp;tbnw=124&amp;prev=/images?q=soccer+player&amp;gbv=2&amp;ndsp=20&amp;hl=en&amp;sa=N&amp;start=20&amp;newwindow=1"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www.billbuxton.com/xc.html"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www.cnblogs.com/xinz/p/3852177.html"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http://www.cnblogs.com/xinz/p/3803109.html"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normAutofit/>
          </a:bodyPr>
          <a:lstStyle/>
          <a:p>
            <a:r>
              <a:rPr lang="zh-CN" altLang="en-US" dirty="0"/>
              <a:t>个人技术和流程</a:t>
            </a:r>
            <a:endParaRPr dirty="0"/>
          </a:p>
        </p:txBody>
      </p:sp>
      <p:sp>
        <p:nvSpPr>
          <p:cNvPr id="6146" name="Subtitle 2"/>
          <p:cNvSpPr>
            <a:spLocks noGrp="1"/>
          </p:cNvSpPr>
          <p:nvPr>
            <p:ph type="body" sz="half" idx="2"/>
          </p:nvPr>
        </p:nvSpPr>
        <p:spPr/>
        <p:txBody>
          <a:bodyPr>
            <a:normAutofit fontScale="92500" lnSpcReduction="20000"/>
          </a:bodyPr>
          <a:lstStyle/>
          <a:p>
            <a:pPr>
              <a:lnSpc>
                <a:spcPct val="80000"/>
              </a:lnSpc>
            </a:pPr>
            <a:r>
              <a:rPr lang="zh-CN" altLang="en-US" sz="2500" dirty="0"/>
              <a:t>邹欣</a:t>
            </a:r>
            <a:endParaRPr lang="en-US" altLang="zh-CN" sz="2500" dirty="0"/>
          </a:p>
          <a:p>
            <a:pPr>
              <a:lnSpc>
                <a:spcPct val="80000"/>
              </a:lnSpc>
            </a:pPr>
            <a:r>
              <a:rPr lang="zh-CN" altLang="en-US" sz="2800" dirty="0"/>
              <a:t>构建之法 </a:t>
            </a:r>
            <a:r>
              <a:rPr lang="en-US" altLang="zh-CN" sz="2800" dirty="0"/>
              <a:t>- </a:t>
            </a:r>
            <a:r>
              <a:rPr lang="zh-CN" altLang="en-US" sz="2800" dirty="0"/>
              <a:t>现代软件工程 第二章</a:t>
            </a:r>
            <a:endParaRPr lang="en-US" altLang="zh-CN" sz="2800" dirty="0"/>
          </a:p>
          <a:p>
            <a:pPr>
              <a:lnSpc>
                <a:spcPct val="80000"/>
              </a:lnSpc>
            </a:pPr>
            <a:r>
              <a:rPr lang="en-US" altLang="zh-CN" sz="2800"/>
              <a:t>2018</a:t>
            </a:r>
            <a:endParaRPr lang="en-US"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课堂内容</a:t>
            </a:r>
            <a:endParaRPr lang="en-US" dirty="0"/>
          </a:p>
        </p:txBody>
      </p:sp>
      <p:sp>
        <p:nvSpPr>
          <p:cNvPr id="3" name="内容占位符 2"/>
          <p:cNvSpPr>
            <a:spLocks noGrp="1"/>
          </p:cNvSpPr>
          <p:nvPr>
            <p:ph idx="1"/>
          </p:nvPr>
        </p:nvSpPr>
        <p:spPr/>
        <p:txBody>
          <a:bodyPr>
            <a:normAutofit/>
          </a:bodyPr>
          <a:lstStyle/>
          <a:p>
            <a:r>
              <a:rPr lang="zh-CN" altLang="en-US" dirty="0"/>
              <a:t>单元测试</a:t>
            </a:r>
            <a:endParaRPr lang="en-US" altLang="zh-CN" dirty="0"/>
          </a:p>
          <a:p>
            <a:r>
              <a:rPr lang="zh-CN" altLang="en-US" dirty="0"/>
              <a:t>回归测试</a:t>
            </a:r>
            <a:endParaRPr lang="en-US" altLang="zh-CN" dirty="0"/>
          </a:p>
          <a:p>
            <a:r>
              <a:rPr lang="zh-CN" altLang="en-US" dirty="0"/>
              <a:t>效能分析</a:t>
            </a:r>
            <a:endParaRPr lang="en-US" altLang="zh-CN" dirty="0"/>
          </a:p>
          <a:p>
            <a:r>
              <a:rPr lang="en-US" altLang="zh-CN" dirty="0"/>
              <a:t>PSP</a:t>
            </a:r>
          </a:p>
          <a:p>
            <a:r>
              <a:rPr lang="zh-CN" altLang="en-US" dirty="0"/>
              <a:t>软件工程的作业和 “编程作业” 有何不同</a:t>
            </a:r>
            <a:endParaRPr lang="en-US" altLang="zh-CN" dirty="0"/>
          </a:p>
          <a:p>
            <a:r>
              <a:rPr lang="zh-CN" altLang="en-US" dirty="0"/>
              <a:t>构建 “小”软件的步骤</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单元测试实例</a:t>
            </a:r>
            <a:endParaRPr lang="en-US" dirty="0"/>
          </a:p>
        </p:txBody>
      </p:sp>
      <p:sp>
        <p:nvSpPr>
          <p:cNvPr id="3" name="Content Placeholder 2"/>
          <p:cNvSpPr>
            <a:spLocks noGrp="1"/>
          </p:cNvSpPr>
          <p:nvPr>
            <p:ph idx="1"/>
          </p:nvPr>
        </p:nvSpPr>
        <p:spPr/>
        <p:txBody>
          <a:bodyPr>
            <a:normAutofit/>
          </a:bodyPr>
          <a:lstStyle/>
          <a:p>
            <a:r>
              <a:rPr lang="en-US" altLang="zh-CN" dirty="0"/>
              <a:t>C#</a:t>
            </a:r>
          </a:p>
          <a:p>
            <a:pPr lvl="1"/>
            <a:r>
              <a:rPr lang="zh-CN" altLang="en-US" dirty="0"/>
              <a:t>教材 </a:t>
            </a:r>
            <a:r>
              <a:rPr lang="en-US" altLang="zh-CN" dirty="0"/>
              <a:t>2.1.1</a:t>
            </a:r>
          </a:p>
          <a:p>
            <a:pPr lvl="1"/>
            <a:r>
              <a:rPr lang="en-US" altLang="zh-CN" dirty="0">
                <a:hlinkClick r:id="rId2"/>
              </a:rPr>
              <a:t>http://www.cnblogs.com/xinz/archive/2011/11/20/2255830.html</a:t>
            </a:r>
            <a:endParaRPr lang="en-US" altLang="zh-CN" dirty="0"/>
          </a:p>
          <a:p>
            <a:r>
              <a:rPr lang="en-US" altLang="zh-CN" dirty="0"/>
              <a:t>Java</a:t>
            </a:r>
          </a:p>
          <a:p>
            <a:pPr lvl="1"/>
            <a:r>
              <a:rPr lang="en-US" altLang="zh-CN" dirty="0">
                <a:hlinkClick r:id="rId3"/>
              </a:rPr>
              <a:t>https://www.cnblogs.com/SivilTaram/p/software_pretraining_java.html</a:t>
            </a:r>
            <a:endParaRPr lang="en-US" altLang="zh-CN" dirty="0"/>
          </a:p>
          <a:p>
            <a:r>
              <a:rPr lang="en-US" altLang="zh-CN" dirty="0"/>
              <a:t>C++</a:t>
            </a:r>
          </a:p>
          <a:p>
            <a:pPr lvl="1"/>
            <a:r>
              <a:rPr lang="en-US" altLang="zh-CN" dirty="0">
                <a:hlinkClick r:id="rId4"/>
              </a:rPr>
              <a:t>https://www.cnblogs.com/SivilTaram/p/software_pretraining_cpp.html</a:t>
            </a:r>
            <a:endParaRPr lang="en-US" altLang="zh-CN" dirty="0"/>
          </a:p>
          <a:p>
            <a:pPr marL="457200" lvl="1" indent="0">
              <a:buNone/>
            </a:pPr>
            <a:endParaRPr lang="en-US" altLang="zh-CN" dirty="0"/>
          </a:p>
          <a:p>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练习</a:t>
            </a:r>
            <a:r>
              <a:rPr lang="en-US" altLang="zh-CN" dirty="0"/>
              <a:t>1</a:t>
            </a:r>
            <a:r>
              <a:rPr lang="zh-CN" altLang="en-US" dirty="0"/>
              <a:t>：数组中最大的子数组之和</a:t>
            </a:r>
            <a:endParaRPr lang="en-US" dirty="0"/>
          </a:p>
        </p:txBody>
      </p:sp>
      <p:sp>
        <p:nvSpPr>
          <p:cNvPr id="3" name="内容占位符 2"/>
          <p:cNvSpPr>
            <a:spLocks noGrp="1"/>
          </p:cNvSpPr>
          <p:nvPr>
            <p:ph idx="1"/>
          </p:nvPr>
        </p:nvSpPr>
        <p:spPr/>
        <p:txBody>
          <a:bodyPr/>
          <a:lstStyle/>
          <a:p>
            <a:r>
              <a:rPr lang="zh-CN" altLang="en-US" dirty="0"/>
              <a:t>输入，一个数组，和它的大小</a:t>
            </a:r>
            <a:endParaRPr lang="en-US" altLang="zh-CN" dirty="0"/>
          </a:p>
          <a:p>
            <a:r>
              <a:rPr lang="zh-CN" altLang="en-US" dirty="0"/>
              <a:t>输出，这个数组中最大子数组的和</a:t>
            </a:r>
            <a:endParaRPr lang="en-US" altLang="zh-CN" dirty="0"/>
          </a:p>
          <a:p>
            <a:endParaRPr lang="en-US" altLang="zh-CN" dirty="0"/>
          </a:p>
          <a:p>
            <a:r>
              <a:rPr lang="zh-CN" altLang="en-US" dirty="0"/>
              <a:t>例如</a:t>
            </a:r>
            <a:endParaRPr lang="en-US" altLang="zh-CN" dirty="0"/>
          </a:p>
          <a:p>
            <a:endParaRPr lang="en-US" altLang="zh-CN" dirty="0"/>
          </a:p>
          <a:p>
            <a:pPr marL="0" indent="0">
              <a:buNone/>
            </a:pPr>
            <a:endParaRPr lang="en-US" dirty="0"/>
          </a:p>
        </p:txBody>
      </p:sp>
      <p:graphicFrame>
        <p:nvGraphicFramePr>
          <p:cNvPr id="4" name="表格 3"/>
          <p:cNvGraphicFramePr>
            <a:graphicFrameLocks noGrp="1"/>
          </p:cNvGraphicFramePr>
          <p:nvPr/>
        </p:nvGraphicFramePr>
        <p:xfrm>
          <a:off x="2667000" y="3962400"/>
          <a:ext cx="6096000" cy="19304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86080">
                <a:tc>
                  <a:txBody>
                    <a:bodyPr/>
                    <a:lstStyle/>
                    <a:p>
                      <a:r>
                        <a:rPr lang="zh-CN" altLang="en-US" dirty="0"/>
                        <a:t>输入</a:t>
                      </a:r>
                      <a:endParaRPr lang="en-US" dirty="0"/>
                    </a:p>
                  </a:txBody>
                  <a:tcPr/>
                </a:tc>
                <a:tc>
                  <a:txBody>
                    <a:bodyPr/>
                    <a:lstStyle/>
                    <a:p>
                      <a:r>
                        <a:rPr lang="zh-CN" altLang="en-US" dirty="0"/>
                        <a:t>输出</a:t>
                      </a:r>
                      <a:endParaRPr lang="en-US" dirty="0"/>
                    </a:p>
                  </a:txBody>
                  <a:tcPr/>
                </a:tc>
                <a:extLst>
                  <a:ext uri="{0D108BD9-81ED-4DB2-BD59-A6C34878D82A}">
                    <a16:rowId xmlns:a16="http://schemas.microsoft.com/office/drawing/2014/main" val="10000"/>
                  </a:ext>
                </a:extLst>
              </a:tr>
              <a:tr h="386080">
                <a:tc>
                  <a:txBody>
                    <a:bodyPr/>
                    <a:lstStyle/>
                    <a:p>
                      <a:r>
                        <a:rPr lang="en-US" dirty="0"/>
                        <a:t>[-1,</a:t>
                      </a:r>
                      <a:r>
                        <a:rPr lang="en-US" baseline="0" dirty="0"/>
                        <a:t> 2, 3, -4]</a:t>
                      </a:r>
                      <a:endParaRPr lang="en-US" dirty="0"/>
                    </a:p>
                  </a:txBody>
                  <a:tcPr/>
                </a:tc>
                <a:tc>
                  <a:txBody>
                    <a:bodyPr/>
                    <a:lstStyle/>
                    <a:p>
                      <a:r>
                        <a:rPr lang="en-US" dirty="0"/>
                        <a:t>5</a:t>
                      </a:r>
                    </a:p>
                  </a:txBody>
                  <a:tcPr/>
                </a:tc>
                <a:extLst>
                  <a:ext uri="{0D108BD9-81ED-4DB2-BD59-A6C34878D82A}">
                    <a16:rowId xmlns:a16="http://schemas.microsoft.com/office/drawing/2014/main" val="10001"/>
                  </a:ext>
                </a:extLst>
              </a:tr>
              <a:tr h="386080">
                <a:tc>
                  <a:txBody>
                    <a:bodyPr/>
                    <a:lstStyle/>
                    <a:p>
                      <a:r>
                        <a:rPr lang="en-US" dirty="0"/>
                        <a:t>[-1,</a:t>
                      </a:r>
                      <a:r>
                        <a:rPr lang="en-US" baseline="0" dirty="0"/>
                        <a:t> 2, -5, 3, -4]</a:t>
                      </a:r>
                      <a:endParaRPr lang="en-US" dirty="0"/>
                    </a:p>
                  </a:txBody>
                  <a:tcPr/>
                </a:tc>
                <a:tc>
                  <a:txBody>
                    <a:bodyPr/>
                    <a:lstStyle/>
                    <a:p>
                      <a:r>
                        <a:rPr lang="en-US" dirty="0"/>
                        <a:t>3</a:t>
                      </a:r>
                    </a:p>
                  </a:txBody>
                  <a:tcPr/>
                </a:tc>
                <a:extLst>
                  <a:ext uri="{0D108BD9-81ED-4DB2-BD59-A6C34878D82A}">
                    <a16:rowId xmlns:a16="http://schemas.microsoft.com/office/drawing/2014/main" val="10002"/>
                  </a:ext>
                </a:extLst>
              </a:tr>
              <a:tr h="386080">
                <a:tc>
                  <a:txBody>
                    <a:bodyPr/>
                    <a:lstStyle/>
                    <a:p>
                      <a:r>
                        <a:rPr lang="en-US" dirty="0"/>
                        <a:t>[-1, 20, -5, 30, -4]</a:t>
                      </a:r>
                    </a:p>
                  </a:txBody>
                  <a:tcPr/>
                </a:tc>
                <a:tc>
                  <a:txBody>
                    <a:bodyPr/>
                    <a:lstStyle/>
                    <a:p>
                      <a:r>
                        <a:rPr lang="en-US" dirty="0"/>
                        <a:t>45</a:t>
                      </a:r>
                    </a:p>
                  </a:txBody>
                  <a:tcPr/>
                </a:tc>
                <a:extLst>
                  <a:ext uri="{0D108BD9-81ED-4DB2-BD59-A6C34878D82A}">
                    <a16:rowId xmlns:a16="http://schemas.microsoft.com/office/drawing/2014/main" val="10003"/>
                  </a:ext>
                </a:extLst>
              </a:tr>
              <a:tr h="386080">
                <a:tc>
                  <a:txBody>
                    <a:bodyPr/>
                    <a:lstStyle/>
                    <a:p>
                      <a:r>
                        <a:rPr lang="en-US" dirty="0"/>
                        <a:t>[-2, -3,</a:t>
                      </a:r>
                      <a:r>
                        <a:rPr lang="en-US" baseline="0" dirty="0"/>
                        <a:t> -5, -1, -9]</a:t>
                      </a:r>
                      <a:endParaRPr lang="en-US" dirty="0"/>
                    </a:p>
                  </a:txBody>
                  <a:tcPr/>
                </a:tc>
                <a:tc>
                  <a:txBody>
                    <a:bodyPr/>
                    <a:lstStyle/>
                    <a:p>
                      <a:r>
                        <a:rPr lang="en-US" dirty="0"/>
                        <a:t>-1</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进一步改进</a:t>
            </a:r>
            <a:endParaRPr lang="en-US" dirty="0"/>
          </a:p>
        </p:txBody>
      </p:sp>
      <p:sp>
        <p:nvSpPr>
          <p:cNvPr id="3" name="内容占位符 2"/>
          <p:cNvSpPr>
            <a:spLocks noGrp="1"/>
          </p:cNvSpPr>
          <p:nvPr>
            <p:ph idx="1"/>
          </p:nvPr>
        </p:nvSpPr>
        <p:spPr/>
        <p:txBody>
          <a:bodyPr>
            <a:normAutofit lnSpcReduction="10000"/>
          </a:bodyPr>
          <a:lstStyle/>
          <a:p>
            <a:r>
              <a:rPr lang="zh-CN" altLang="en-US" sz="2400" dirty="0"/>
              <a:t>下一步</a:t>
            </a:r>
            <a:endParaRPr lang="en-US" altLang="zh-CN" sz="2400" dirty="0"/>
          </a:p>
          <a:p>
            <a:pPr lvl="1"/>
            <a:r>
              <a:rPr lang="zh-CN" altLang="en-US" sz="1800" dirty="0"/>
              <a:t>从文本文件中读输入的数据，熟悉文件操作， 文件有两种数据</a:t>
            </a:r>
            <a:endParaRPr lang="en-US" altLang="zh-CN" sz="1800" dirty="0"/>
          </a:p>
          <a:p>
            <a:pPr lvl="2"/>
            <a:r>
              <a:rPr lang="zh-CN" altLang="en-US" sz="1600" dirty="0">
                <a:latin typeface="+mn-ea"/>
              </a:rPr>
              <a:t>第一个数字：这次测试中有多少个数据， 数字后面是冒号。</a:t>
            </a:r>
            <a:endParaRPr lang="en-US" altLang="zh-CN" sz="1600" dirty="0">
              <a:latin typeface="+mn-ea"/>
            </a:endParaRPr>
          </a:p>
          <a:p>
            <a:pPr lvl="2"/>
            <a:r>
              <a:rPr lang="zh-CN" altLang="en-US" sz="1600" dirty="0">
                <a:latin typeface="+mn-ea"/>
              </a:rPr>
              <a:t>后续数字：  每个数据的值，用逗号隔开</a:t>
            </a:r>
            <a:endParaRPr lang="en-US" altLang="zh-CN" sz="1600" dirty="0">
              <a:latin typeface="+mn-ea"/>
            </a:endParaRPr>
          </a:p>
          <a:p>
            <a:r>
              <a:rPr lang="zh-CN" altLang="en-US" sz="2400" dirty="0"/>
              <a:t>文件内容：</a:t>
            </a:r>
            <a:endParaRPr lang="en-US" sz="2000" dirty="0"/>
          </a:p>
          <a:p>
            <a:pPr>
              <a:buFont typeface="Wingdings 3" panose="05040102010807070707" pitchFamily="18" charset="2"/>
              <a:buNone/>
            </a:pPr>
            <a:r>
              <a:rPr lang="en-US" sz="2400" dirty="0"/>
              <a:t>	</a:t>
            </a:r>
            <a:r>
              <a:rPr lang="en-US" altLang="zh-CN" sz="2400" dirty="0"/>
              <a:t>17:</a:t>
            </a:r>
            <a:r>
              <a:rPr lang="zh-CN" altLang="en-US" sz="2400" dirty="0"/>
              <a:t> </a:t>
            </a:r>
            <a:r>
              <a:rPr lang="en-US" sz="2400" dirty="0"/>
              <a:t>-32, -10, 33, -23, 32, -12, 41, -12, 1, 3, 5, -98, 70, -21, 10, -9, 61</a:t>
            </a:r>
          </a:p>
          <a:p>
            <a:pPr lvl="1"/>
            <a:r>
              <a:rPr lang="zh-CN" altLang="en-US" sz="2000" dirty="0"/>
              <a:t>输出</a:t>
            </a:r>
            <a:endParaRPr lang="en-US" sz="2000" dirty="0"/>
          </a:p>
          <a:p>
            <a:pPr>
              <a:buFont typeface="Wingdings 3" panose="05040102010807070707" pitchFamily="18" charset="2"/>
              <a:buNone/>
            </a:pPr>
            <a:r>
              <a:rPr lang="en-US" sz="2400" dirty="0"/>
              <a:t>		sum = 71</a:t>
            </a:r>
            <a:endParaRPr lang="en-US" altLang="zh-CN" sz="4000" dirty="0"/>
          </a:p>
          <a:p>
            <a:r>
              <a:rPr lang="zh-CN" altLang="en-US" sz="2400" dirty="0"/>
              <a:t>你的算法效率如何？</a:t>
            </a:r>
            <a:endParaRPr lang="en-US" altLang="zh-CN" sz="2400" dirty="0"/>
          </a:p>
          <a:p>
            <a:pPr lvl="1"/>
            <a:r>
              <a:rPr lang="en-US" sz="2000" dirty="0"/>
              <a:t>O(N^3)</a:t>
            </a:r>
          </a:p>
          <a:p>
            <a:pPr lvl="1"/>
            <a:r>
              <a:rPr lang="en-US" sz="2000" dirty="0"/>
              <a:t>O(N^2)</a:t>
            </a:r>
          </a:p>
          <a:p>
            <a:pPr lvl="1"/>
            <a:r>
              <a:rPr lang="en-US" sz="2000" dirty="0"/>
              <a:t>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zh-CN" altLang="en-US" dirty="0"/>
              <a:t>再进一步：用类</a:t>
            </a:r>
            <a:r>
              <a:rPr lang="en-US" altLang="zh-CN" dirty="0"/>
              <a:t>/</a:t>
            </a:r>
            <a:r>
              <a:rPr lang="zh-CN" altLang="en-US" dirty="0"/>
              <a:t>函数来实现</a:t>
            </a:r>
            <a:endParaRPr lang="en-US" dirty="0"/>
          </a:p>
        </p:txBody>
      </p:sp>
      <p:sp>
        <p:nvSpPr>
          <p:cNvPr id="7171" name="Content Placeholder 2"/>
          <p:cNvSpPr>
            <a:spLocks noGrp="1"/>
          </p:cNvSpPr>
          <p:nvPr>
            <p:ph idx="1"/>
          </p:nvPr>
        </p:nvSpPr>
        <p:spPr/>
        <p:txBody>
          <a:bodyPr>
            <a:normAutofit fontScale="55000" lnSpcReduction="20000"/>
          </a:bodyPr>
          <a:lstStyle/>
          <a:p>
            <a:pPr>
              <a:lnSpc>
                <a:spcPct val="120000"/>
              </a:lnSpc>
              <a:buFont typeface="Wingdings 3" panose="05040102010807070707" pitchFamily="18" charset="2"/>
              <a:buNone/>
            </a:pPr>
            <a:r>
              <a:rPr lang="zh-CN" altLang="en-US" dirty="0"/>
              <a:t>需求：希望返回 </a:t>
            </a:r>
            <a:r>
              <a:rPr lang="en-US" altLang="zh-CN" dirty="0"/>
              <a:t>3 </a:t>
            </a:r>
            <a:r>
              <a:rPr lang="zh-CN" altLang="en-US" dirty="0"/>
              <a:t>种信息</a:t>
            </a:r>
            <a:endParaRPr lang="en-US" altLang="zh-CN" dirty="0"/>
          </a:p>
          <a:p>
            <a:pPr marL="633095" indent="-514350">
              <a:lnSpc>
                <a:spcPct val="120000"/>
              </a:lnSpc>
              <a:buFont typeface="+mj-lt"/>
              <a:buAutoNum type="arabicPeriod"/>
            </a:pPr>
            <a:r>
              <a:rPr lang="zh-CN" altLang="en-US" dirty="0"/>
              <a:t>最大子数组的和</a:t>
            </a:r>
            <a:endParaRPr lang="en-US" altLang="zh-CN" dirty="0"/>
          </a:p>
          <a:p>
            <a:pPr marL="633095" indent="-514350">
              <a:lnSpc>
                <a:spcPct val="120000"/>
              </a:lnSpc>
              <a:buFont typeface="+mj-lt"/>
              <a:buAutoNum type="arabicPeriod"/>
            </a:pPr>
            <a:r>
              <a:rPr lang="zh-CN" altLang="en-US" dirty="0"/>
              <a:t>最大子数组开始的下标</a:t>
            </a:r>
            <a:endParaRPr lang="en-US" altLang="zh-CN" dirty="0"/>
          </a:p>
          <a:p>
            <a:pPr marL="633095" indent="-514350">
              <a:lnSpc>
                <a:spcPct val="120000"/>
              </a:lnSpc>
              <a:buFont typeface="+mj-lt"/>
              <a:buAutoNum type="arabicPeriod"/>
            </a:pPr>
            <a:r>
              <a:rPr lang="zh-CN" altLang="en-US" dirty="0"/>
              <a:t>最大子数组结束的下标</a:t>
            </a:r>
            <a:endParaRPr lang="en-US" altLang="zh-CN" dirty="0"/>
          </a:p>
          <a:p>
            <a:pPr marL="118745" indent="0">
              <a:lnSpc>
                <a:spcPct val="120000"/>
              </a:lnSpc>
              <a:buNone/>
            </a:pPr>
            <a:endParaRPr lang="en-US" altLang="zh-CN" dirty="0"/>
          </a:p>
          <a:p>
            <a:pPr marL="118745" indent="0">
              <a:lnSpc>
                <a:spcPct val="120000"/>
              </a:lnSpc>
              <a:buNone/>
            </a:pPr>
            <a:r>
              <a:rPr lang="zh-CN" altLang="en-US" dirty="0"/>
              <a:t>如果设计了一个类 </a:t>
            </a:r>
            <a:r>
              <a:rPr lang="en-US" altLang="zh-CN" dirty="0"/>
              <a:t>Class</a:t>
            </a:r>
          </a:p>
          <a:p>
            <a:pPr>
              <a:lnSpc>
                <a:spcPct val="120000"/>
              </a:lnSpc>
              <a:buFont typeface="Wingdings 3" panose="05040102010807070707" pitchFamily="18" charset="2"/>
              <a:buNone/>
            </a:pPr>
            <a:r>
              <a:rPr lang="en-US" dirty="0"/>
              <a:t>	</a:t>
            </a:r>
            <a:r>
              <a:rPr lang="en-US" altLang="zh-CN" dirty="0"/>
              <a:t>MSA (Maximum Sub-array Sum)</a:t>
            </a:r>
          </a:p>
          <a:p>
            <a:pPr>
              <a:lnSpc>
                <a:spcPct val="120000"/>
              </a:lnSpc>
              <a:buFont typeface="Wingdings 3" panose="05040102010807070707" pitchFamily="18" charset="2"/>
              <a:buNone/>
            </a:pPr>
            <a:r>
              <a:rPr lang="zh-CN" altLang="en-US" dirty="0"/>
              <a:t>里面有一个函数</a:t>
            </a:r>
            <a:endParaRPr lang="en-US" altLang="zh-CN" dirty="0"/>
          </a:p>
          <a:p>
            <a:pPr>
              <a:lnSpc>
                <a:spcPct val="120000"/>
              </a:lnSpc>
              <a:buFont typeface="Wingdings 3" panose="05040102010807070707" pitchFamily="18" charset="2"/>
              <a:buNone/>
            </a:pPr>
            <a:r>
              <a:rPr lang="en-US" altLang="zh-CN" dirty="0"/>
              <a:t>	</a:t>
            </a:r>
            <a:r>
              <a:rPr lang="en-US" altLang="zh-CN" dirty="0" err="1"/>
              <a:t>Calc</a:t>
            </a:r>
            <a:r>
              <a:rPr lang="en-US" altLang="zh-CN" dirty="0"/>
              <a:t>()</a:t>
            </a:r>
          </a:p>
          <a:p>
            <a:pPr>
              <a:lnSpc>
                <a:spcPct val="120000"/>
              </a:lnSpc>
              <a:buFont typeface="Wingdings 3" panose="05040102010807070707" pitchFamily="18" charset="2"/>
              <a:buNone/>
            </a:pPr>
            <a:r>
              <a:rPr lang="zh-CN" altLang="en-US" dirty="0"/>
              <a:t>如何设计这个函数</a:t>
            </a:r>
            <a:endParaRPr lang="en-US" altLang="zh-CN" dirty="0"/>
          </a:p>
          <a:p>
            <a:pPr>
              <a:lnSpc>
                <a:spcPct val="120000"/>
              </a:lnSpc>
              <a:buFont typeface="Wingdings 3" panose="05040102010807070707" pitchFamily="18" charset="2"/>
              <a:buNone/>
            </a:pPr>
            <a:r>
              <a:rPr lang="en-US" altLang="zh-CN" dirty="0"/>
              <a:t>	</a:t>
            </a:r>
            <a:r>
              <a:rPr lang="zh-CN" altLang="en-US" dirty="0"/>
              <a:t>输入参数是什么，输出是什么</a:t>
            </a:r>
            <a:endParaRPr lang="en-US" altLang="zh-CN" dirty="0"/>
          </a:p>
          <a:p>
            <a:pPr>
              <a:lnSpc>
                <a:spcPct val="120000"/>
              </a:lnSpc>
              <a:buFont typeface="Wingdings 3" panose="05040102010807070707" pitchFamily="18" charset="2"/>
              <a:buNone/>
            </a:pPr>
            <a:r>
              <a:rPr lang="zh-CN" altLang="en-US" dirty="0"/>
              <a:t>请马上动手做题</a:t>
            </a:r>
            <a:r>
              <a:rPr lang="en-US" altLang="zh-CN"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zh-CN" altLang="en-US" dirty="0"/>
              <a:t>输入和输出的例子</a:t>
            </a:r>
            <a:endParaRPr lang="en-US" dirty="0"/>
          </a:p>
        </p:txBody>
      </p:sp>
      <p:sp>
        <p:nvSpPr>
          <p:cNvPr id="8195" name="Content Placeholder 2"/>
          <p:cNvSpPr>
            <a:spLocks noGrp="1"/>
          </p:cNvSpPr>
          <p:nvPr>
            <p:ph idx="1"/>
          </p:nvPr>
        </p:nvSpPr>
        <p:spPr/>
        <p:txBody>
          <a:bodyPr/>
          <a:lstStyle/>
          <a:p>
            <a:pPr>
              <a:buFont typeface="Wingdings 3" panose="05040102010807070707" pitchFamily="18" charset="2"/>
              <a:buNone/>
            </a:pPr>
            <a:r>
              <a:rPr lang="en-US" altLang="zh-CN" sz="2400" dirty="0" err="1"/>
              <a:t>msa</a:t>
            </a:r>
            <a:r>
              <a:rPr lang="en-US" altLang="zh-CN" sz="2400" dirty="0"/>
              <a:t> </a:t>
            </a:r>
            <a:r>
              <a:rPr lang="zh-CN" altLang="en-US" sz="2400" dirty="0"/>
              <a:t>是 </a:t>
            </a:r>
            <a:r>
              <a:rPr lang="en-US" altLang="zh-CN" sz="2400" dirty="0"/>
              <a:t>MSA </a:t>
            </a:r>
            <a:r>
              <a:rPr lang="zh-CN" altLang="en-US" sz="2400" dirty="0"/>
              <a:t>的一个实例。</a:t>
            </a:r>
            <a:endParaRPr lang="en-US" sz="2400" dirty="0"/>
          </a:p>
          <a:p>
            <a:pPr>
              <a:buFont typeface="Wingdings 3" panose="05040102010807070707" pitchFamily="18" charset="2"/>
              <a:buNone/>
            </a:pPr>
            <a:r>
              <a:rPr lang="en-US" sz="2400" dirty="0"/>
              <a:t>	int[] test1 = { 1, -2, 3, 5, -3, 6, 1, -1 };</a:t>
            </a:r>
          </a:p>
          <a:p>
            <a:pPr>
              <a:buFont typeface="Wingdings 3" panose="05040102010807070707" pitchFamily="18" charset="2"/>
              <a:buNone/>
            </a:pPr>
            <a:r>
              <a:rPr lang="en-US" sz="2400" dirty="0"/>
              <a:t>     </a:t>
            </a:r>
            <a:r>
              <a:rPr lang="en-US" sz="2400" dirty="0" err="1"/>
              <a:t>msa.Calc</a:t>
            </a:r>
            <a:r>
              <a:rPr lang="en-US" sz="2400" dirty="0"/>
              <a:t>(test1, 8);</a:t>
            </a:r>
          </a:p>
          <a:p>
            <a:pPr>
              <a:buFont typeface="Wingdings 3" panose="05040102010807070707" pitchFamily="18" charset="2"/>
              <a:buNone/>
            </a:pPr>
            <a:r>
              <a:rPr lang="en-US" sz="2400" dirty="0"/>
              <a:t>     </a:t>
            </a:r>
            <a:r>
              <a:rPr lang="en-US" sz="2400" dirty="0" err="1"/>
              <a:t>Debug.Assert</a:t>
            </a:r>
            <a:r>
              <a:rPr lang="en-US" sz="2400" dirty="0"/>
              <a:t>(</a:t>
            </a:r>
            <a:r>
              <a:rPr lang="en-US" sz="2400" dirty="0" err="1"/>
              <a:t>msa.MaxSumPosition.sum</a:t>
            </a:r>
            <a:r>
              <a:rPr lang="en-US" sz="2400" dirty="0"/>
              <a:t> == 12);</a:t>
            </a:r>
          </a:p>
          <a:p>
            <a:pPr>
              <a:buFont typeface="Wingdings 3" panose="05040102010807070707" pitchFamily="18" charset="2"/>
              <a:buNone/>
            </a:pPr>
            <a:r>
              <a:rPr lang="en-US" sz="2400" dirty="0"/>
              <a:t>     </a:t>
            </a:r>
            <a:r>
              <a:rPr lang="en-US" sz="2400" dirty="0" err="1"/>
              <a:t>Debug.Assert</a:t>
            </a:r>
            <a:r>
              <a:rPr lang="en-US" sz="2400" dirty="0"/>
              <a:t>(</a:t>
            </a:r>
            <a:r>
              <a:rPr lang="en-US" sz="2400" dirty="0" err="1"/>
              <a:t>msa.MaxSumPosition.start</a:t>
            </a:r>
            <a:r>
              <a:rPr lang="en-US" sz="2400" dirty="0"/>
              <a:t> == 2);</a:t>
            </a:r>
          </a:p>
          <a:p>
            <a:pPr>
              <a:buFont typeface="Wingdings 3" panose="05040102010807070707" pitchFamily="18" charset="2"/>
              <a:buNone/>
            </a:pPr>
            <a:r>
              <a:rPr lang="en-US" sz="2400" dirty="0"/>
              <a:t>     </a:t>
            </a:r>
            <a:r>
              <a:rPr lang="en-US" sz="2400" dirty="0" err="1"/>
              <a:t>Debug.Assert</a:t>
            </a:r>
            <a:r>
              <a:rPr lang="en-US" sz="2400" dirty="0"/>
              <a:t>(</a:t>
            </a:r>
            <a:r>
              <a:rPr lang="en-US" sz="2400" dirty="0" err="1"/>
              <a:t>msa.MaxSumPosition.end</a:t>
            </a:r>
            <a:r>
              <a:rPr lang="en-US" sz="2400" dirty="0"/>
              <a:t> == 6);</a:t>
            </a:r>
          </a:p>
          <a:p>
            <a:pPr>
              <a:buFont typeface="Wingdings 3" panose="05040102010807070707" pitchFamily="18" charset="2"/>
              <a:buNone/>
            </a:pPr>
            <a:endParaRPr lang="en-US" sz="2400" dirty="0"/>
          </a:p>
          <a:p>
            <a:pPr>
              <a:buFont typeface="Wingdings 3" panose="05040102010807070707" pitchFamily="18" charset="2"/>
              <a:buNone/>
            </a:pPr>
            <a:r>
              <a:rPr lang="zh-CN" altLang="en-US" sz="2400" dirty="0"/>
              <a:t>用 </a:t>
            </a:r>
            <a:r>
              <a:rPr lang="en-US" altLang="zh-CN" sz="2400" dirty="0" err="1"/>
              <a:t>Debug.Assert</a:t>
            </a:r>
            <a:r>
              <a:rPr lang="en-US" altLang="zh-CN" sz="2400" dirty="0"/>
              <a:t>()</a:t>
            </a:r>
            <a:r>
              <a:rPr lang="zh-CN" altLang="en-US" sz="2400" dirty="0"/>
              <a:t> 来确认程序结果和预想的一致。</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p:cNvSpPr>
            <a:spLocks noGrp="1"/>
          </p:cNvSpPr>
          <p:nvPr>
            <p:ph type="title"/>
          </p:nvPr>
        </p:nvSpPr>
        <p:spPr/>
        <p:txBody>
          <a:bodyPr/>
          <a:lstStyle/>
          <a:p>
            <a:r>
              <a:rPr lang="zh-CN" altLang="en-US" dirty="0"/>
              <a:t>单元测试练习</a:t>
            </a:r>
            <a:endParaRPr lang="en-US" dirty="0"/>
          </a:p>
        </p:txBody>
      </p:sp>
      <p:sp>
        <p:nvSpPr>
          <p:cNvPr id="9219" name="Content Placeholder 1"/>
          <p:cNvSpPr>
            <a:spLocks noGrp="1"/>
          </p:cNvSpPr>
          <p:nvPr>
            <p:ph idx="1"/>
          </p:nvPr>
        </p:nvSpPr>
        <p:spPr/>
        <p:txBody>
          <a:bodyPr>
            <a:normAutofit fontScale="92500" lnSpcReduction="20000"/>
          </a:bodyPr>
          <a:lstStyle/>
          <a:p>
            <a:r>
              <a:rPr lang="zh-CN" altLang="en-US" dirty="0"/>
              <a:t>实现这个类 （</a:t>
            </a:r>
            <a:r>
              <a:rPr lang="en-US" altLang="zh-CN" dirty="0"/>
              <a:t>MSA</a:t>
            </a:r>
            <a:r>
              <a:rPr lang="zh-CN" altLang="en-US" dirty="0"/>
              <a:t>）</a:t>
            </a:r>
            <a:endParaRPr lang="en-US" altLang="zh-CN" dirty="0"/>
          </a:p>
          <a:p>
            <a:pPr lvl="1"/>
            <a:r>
              <a:rPr lang="zh-CN" altLang="en-US" dirty="0"/>
              <a:t>可以用</a:t>
            </a:r>
            <a:r>
              <a:rPr lang="en-US" dirty="0"/>
              <a:t> C++</a:t>
            </a:r>
            <a:r>
              <a:rPr lang="zh-CN" altLang="en-US" dirty="0"/>
              <a:t>， </a:t>
            </a:r>
            <a:r>
              <a:rPr lang="en-US" altLang="zh-CN" dirty="0"/>
              <a:t>Java</a:t>
            </a:r>
            <a:r>
              <a:rPr lang="zh-CN" altLang="en-US" dirty="0"/>
              <a:t>， </a:t>
            </a:r>
            <a:r>
              <a:rPr lang="en-US" altLang="zh-CN" dirty="0"/>
              <a:t>C#</a:t>
            </a:r>
            <a:r>
              <a:rPr lang="en-US" dirty="0"/>
              <a:t> class</a:t>
            </a:r>
          </a:p>
          <a:p>
            <a:r>
              <a:rPr lang="zh-CN" altLang="en-US" dirty="0"/>
              <a:t>这个类开始是空的，返回都是简单的数值，例如 </a:t>
            </a:r>
            <a:r>
              <a:rPr lang="en-US" altLang="zh-CN" dirty="0"/>
              <a:t>0. </a:t>
            </a:r>
          </a:p>
          <a:p>
            <a:r>
              <a:rPr lang="zh-CN" altLang="en-US" dirty="0"/>
              <a:t>设计单元测试，运行单元测试</a:t>
            </a:r>
            <a:endParaRPr lang="en-US" altLang="zh-CN" dirty="0"/>
          </a:p>
          <a:p>
            <a:pPr lvl="1"/>
            <a:r>
              <a:rPr lang="zh-CN" altLang="en-US" dirty="0"/>
              <a:t>开始：所有单元测试都失败</a:t>
            </a:r>
            <a:endParaRPr lang="en-US" altLang="zh-CN" dirty="0"/>
          </a:p>
          <a:p>
            <a:pPr lvl="1"/>
            <a:r>
              <a:rPr lang="zh-CN" altLang="en-US" dirty="0"/>
              <a:t>改进程序，加入正确的逻辑，看到有单元测试通过，并且看到代码覆盖率的增加</a:t>
            </a:r>
            <a:endParaRPr lang="en-US" altLang="zh-CN" dirty="0"/>
          </a:p>
          <a:p>
            <a:pPr lvl="1"/>
            <a:r>
              <a:rPr lang="zh-CN" altLang="en-US" dirty="0"/>
              <a:t>重复， 直到所有单元测试都通过，代码覆盖率达到满意的结果。 </a:t>
            </a:r>
            <a:endParaRPr lang="en-US" dirty="0"/>
          </a:p>
          <a:p>
            <a:r>
              <a:rPr lang="zh-CN" altLang="en-US" dirty="0"/>
              <a:t>参见 </a:t>
            </a:r>
            <a:r>
              <a:rPr lang="en-US" altLang="zh-CN" dirty="0"/>
              <a:t>《</a:t>
            </a:r>
            <a:r>
              <a:rPr lang="zh-CN" altLang="en-US" dirty="0"/>
              <a:t>构建之法</a:t>
            </a:r>
            <a:r>
              <a:rPr lang="en-US" altLang="zh-CN" dirty="0"/>
              <a:t>》</a:t>
            </a:r>
            <a:r>
              <a:rPr lang="zh-CN" altLang="en-US" dirty="0"/>
              <a:t>第二章单元测试的内容</a:t>
            </a:r>
            <a:endParaRPr lang="en-US" altLang="zh-CN" dirty="0"/>
          </a:p>
          <a:p>
            <a:r>
              <a:rPr lang="zh-CN" altLang="en-US" dirty="0"/>
              <a:t>注意：</a:t>
            </a:r>
            <a:endParaRPr lang="en-US" altLang="zh-CN" dirty="0"/>
          </a:p>
          <a:p>
            <a:pPr lvl="1"/>
            <a:r>
              <a:rPr lang="en-US" dirty="0" err="1"/>
              <a:t>VisualStudio</a:t>
            </a:r>
            <a:r>
              <a:rPr lang="en-US" dirty="0"/>
              <a:t> Community </a:t>
            </a:r>
            <a:r>
              <a:rPr lang="zh-CN" altLang="en-US" dirty="0"/>
              <a:t>版本可以装插件 </a:t>
            </a:r>
            <a:r>
              <a:rPr lang="en-US" dirty="0" err="1">
                <a:hlinkClick r:id="rId2"/>
              </a:rPr>
              <a:t>OpenCppCoverage</a:t>
            </a:r>
            <a:r>
              <a:rPr lang="en-US" dirty="0"/>
              <a:t>，</a:t>
            </a:r>
            <a:r>
              <a:rPr lang="zh-CN" altLang="en-US" dirty="0"/>
              <a:t>比较易用，直接下载后重启</a:t>
            </a:r>
            <a:r>
              <a:rPr lang="en-US" dirty="0"/>
              <a:t>VS</a:t>
            </a:r>
            <a:r>
              <a:rPr lang="zh-CN" altLang="en-US" dirty="0"/>
              <a:t>就可以加载。</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同学们用</a:t>
            </a:r>
            <a:r>
              <a:rPr lang="en-US" altLang="zh-CN" dirty="0"/>
              <a:t>20 </a:t>
            </a:r>
            <a:r>
              <a:rPr lang="zh-CN" altLang="en-US" dirty="0"/>
              <a:t>分钟写一个单元测试</a:t>
            </a:r>
            <a:endParaRPr lang="en-US" dirty="0"/>
          </a:p>
        </p:txBody>
      </p:sp>
      <p:sp>
        <p:nvSpPr>
          <p:cNvPr id="3" name="内容占位符 2"/>
          <p:cNvSpPr>
            <a:spLocks noGrp="1"/>
          </p:cNvSpPr>
          <p:nvPr>
            <p:ph idx="1"/>
          </p:nvPr>
        </p:nvSpPr>
        <p:spPr/>
        <p:txBody>
          <a:bodyP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好的单元测试</a:t>
            </a:r>
            <a:endParaRPr lang="en-US" dirty="0"/>
          </a:p>
        </p:txBody>
      </p:sp>
      <p:sp>
        <p:nvSpPr>
          <p:cNvPr id="3" name="内容占位符 2"/>
          <p:cNvSpPr>
            <a:spLocks noGrp="1"/>
          </p:cNvSpPr>
          <p:nvPr>
            <p:ph idx="1"/>
          </p:nvPr>
        </p:nvSpPr>
        <p:spPr/>
        <p:txBody>
          <a:bodyPr/>
          <a:lstStyle/>
          <a:p>
            <a:r>
              <a:rPr lang="zh-CN" altLang="en-US" dirty="0"/>
              <a:t>检查单元测试是否满足下面的条件</a:t>
            </a:r>
            <a:endParaRPr lang="en-US" altLang="zh-CN" dirty="0"/>
          </a:p>
          <a:p>
            <a:pPr lvl="1"/>
            <a:r>
              <a:rPr lang="zh-CN" altLang="en-US" dirty="0"/>
              <a:t>单元测试应该在最基本的功能</a:t>
            </a:r>
            <a:r>
              <a:rPr lang="en-US" altLang="zh-CN" dirty="0"/>
              <a:t>/</a:t>
            </a:r>
            <a:r>
              <a:rPr lang="zh-CN" altLang="en-US" dirty="0"/>
              <a:t>参数上验证程序的正确性。 </a:t>
            </a:r>
            <a:endParaRPr lang="en-US" altLang="zh-CN" dirty="0"/>
          </a:p>
          <a:p>
            <a:pPr lvl="1"/>
            <a:r>
              <a:rPr lang="zh-CN" altLang="en-US" dirty="0"/>
              <a:t>单元测试过后，机器状态保持不变。</a:t>
            </a:r>
            <a:endParaRPr lang="en-US" altLang="zh-CN" dirty="0"/>
          </a:p>
          <a:p>
            <a:pPr lvl="1"/>
            <a:r>
              <a:rPr lang="zh-CN" altLang="en-US" dirty="0"/>
              <a:t>单元测试应该产生可重复、一致的结果。</a:t>
            </a:r>
            <a:endParaRPr lang="en-US" altLang="zh-CN" dirty="0"/>
          </a:p>
          <a:p>
            <a:pPr lvl="1"/>
            <a:r>
              <a:rPr lang="zh-CN" altLang="en-US" dirty="0"/>
              <a:t>单元测试应该覆盖所有代码路径。</a:t>
            </a:r>
            <a:endParaRPr lang="en-US" altLang="zh-CN" dirty="0"/>
          </a:p>
          <a:p>
            <a:endParaRPr lang="en-US" altLang="zh-CN" dirty="0"/>
          </a:p>
          <a:p>
            <a:endParaRPr lang="en-US" altLang="zh-CN"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单元测试</a:t>
            </a:r>
            <a:r>
              <a:rPr lang="en-US" altLang="zh-CN" dirty="0"/>
              <a:t>+</a:t>
            </a:r>
            <a:r>
              <a:rPr lang="zh-CN" altLang="en-US" dirty="0"/>
              <a:t>代码覆盖率</a:t>
            </a:r>
            <a:endParaRPr lang="en-US" dirty="0"/>
          </a:p>
        </p:txBody>
      </p:sp>
      <p:sp>
        <p:nvSpPr>
          <p:cNvPr id="3" name="内容占位符 2"/>
          <p:cNvSpPr>
            <a:spLocks noGrp="1"/>
          </p:cNvSpPr>
          <p:nvPr>
            <p:ph idx="1"/>
          </p:nvPr>
        </p:nvSpPr>
        <p:spPr/>
        <p:txBody>
          <a:bodyPr>
            <a:normAutofit/>
          </a:bodyPr>
          <a:lstStyle/>
          <a:p>
            <a:r>
              <a:rPr lang="zh-CN" altLang="en-US" dirty="0"/>
              <a:t>单元测试应该覆盖所有代码路径。 单元测试应覆盖所测单元的所有代码路径，包括错误处理路径。</a:t>
            </a:r>
            <a:endParaRPr lang="en-US" altLang="zh-CN" dirty="0"/>
          </a:p>
          <a:p>
            <a:r>
              <a:rPr lang="zh-CN" altLang="en-US" dirty="0"/>
              <a:t>进一步说，“覆盖率”有下面几个层次：</a:t>
            </a:r>
            <a:endParaRPr lang="en-US" altLang="zh-CN" dirty="0"/>
          </a:p>
          <a:p>
            <a:pPr lvl="1"/>
            <a:r>
              <a:rPr lang="en-US" altLang="zh-CN" dirty="0"/>
              <a:t>1. </a:t>
            </a:r>
            <a:r>
              <a:rPr lang="zh-CN" altLang="en-US" dirty="0"/>
              <a:t>函数的覆盖，这个模块的每一个函数都覆盖了么？</a:t>
            </a:r>
            <a:endParaRPr lang="en-US" altLang="zh-CN" dirty="0"/>
          </a:p>
          <a:p>
            <a:pPr lvl="1"/>
            <a:r>
              <a:rPr lang="en-US" altLang="zh-CN" dirty="0"/>
              <a:t>2. </a:t>
            </a:r>
            <a:r>
              <a:rPr lang="zh-CN" altLang="en-US" dirty="0"/>
              <a:t>语句的覆盖，这个模块的每一个语句都覆盖了么？　  </a:t>
            </a:r>
            <a:endParaRPr lang="en-US" altLang="zh-CN" dirty="0"/>
          </a:p>
          <a:p>
            <a:pPr lvl="1"/>
            <a:r>
              <a:rPr lang="en-US" altLang="zh-CN" dirty="0"/>
              <a:t>3. </a:t>
            </a:r>
            <a:r>
              <a:rPr lang="zh-CN" altLang="en-US" dirty="0"/>
              <a:t>分支的覆盖，这个模块的每一个条件分支都覆盖了么？	　  </a:t>
            </a:r>
            <a:endParaRPr lang="en-US" altLang="zh-CN" dirty="0"/>
          </a:p>
          <a:p>
            <a:pPr lvl="1"/>
            <a:r>
              <a:rPr lang="en-US" altLang="zh-CN" dirty="0"/>
              <a:t>4. </a:t>
            </a:r>
            <a:r>
              <a:rPr lang="zh-CN" altLang="en-US" dirty="0"/>
              <a:t>条件的覆盖，这个模块的每一个布尔表达式的</a:t>
            </a:r>
            <a:r>
              <a:rPr lang="en-US" altLang="zh-CN" dirty="0"/>
              <a:t>TURE | FALSE </a:t>
            </a:r>
            <a:r>
              <a:rPr lang="zh-CN" altLang="en-US" b="1" dirty="0"/>
              <a:t>的所有组合</a:t>
            </a:r>
            <a:r>
              <a:rPr lang="zh-CN" altLang="en-US" dirty="0"/>
              <a:t>都覆盖了么？</a:t>
            </a:r>
            <a:endParaRPr lang="en-US" altLang="zh-CN"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100% </a:t>
            </a:r>
            <a:r>
              <a:rPr lang="zh-CN" altLang="en-US" dirty="0"/>
              <a:t>的代码覆盖率并不等同于 </a:t>
            </a:r>
            <a:r>
              <a:rPr lang="en-US" altLang="zh-CN" dirty="0"/>
              <a:t>100% </a:t>
            </a:r>
            <a:r>
              <a:rPr lang="zh-CN" altLang="en-US" dirty="0"/>
              <a:t>的正确性！</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zh-CN" altLang="en-US" dirty="0"/>
              <a:t>代码覆盖率对于“应该写但是没有写的代码”无能为力。</a:t>
            </a:r>
            <a:endParaRPr lang="en-US" altLang="zh-CN" dirty="0"/>
          </a:p>
          <a:p>
            <a:pPr lvl="1">
              <a:lnSpc>
                <a:spcPct val="120000"/>
              </a:lnSpc>
            </a:pPr>
            <a:r>
              <a:rPr lang="zh-CN" altLang="en-US" dirty="0"/>
              <a:t>例如代码申请了内存 或其他资源，但并没有释放。又如，代码中并没有处理错误情况。或者没有处理 和文件、网络相关的一些异常情况，例如文件不存在、权限有问题，等等。</a:t>
            </a:r>
          </a:p>
          <a:p>
            <a:pPr>
              <a:lnSpc>
                <a:spcPct val="120000"/>
              </a:lnSpc>
            </a:pPr>
            <a:r>
              <a:rPr lang="zh-CN" altLang="en-US" dirty="0"/>
              <a:t>代码中有效能问题，虽然代码执行了，并且也正确地返回了，但是代码效率非 常低。</a:t>
            </a:r>
            <a:endParaRPr lang="en-US" altLang="zh-CN" dirty="0"/>
          </a:p>
          <a:p>
            <a:pPr lvl="1">
              <a:lnSpc>
                <a:spcPct val="120000"/>
              </a:lnSpc>
            </a:pPr>
            <a:r>
              <a:rPr lang="zh-CN" altLang="en-US" dirty="0"/>
              <a:t>有些情况下，可以针对代码效率写一个单元测试。</a:t>
            </a:r>
          </a:p>
          <a:p>
            <a:pPr>
              <a:lnSpc>
                <a:spcPct val="120000"/>
              </a:lnSpc>
            </a:pPr>
            <a:r>
              <a:rPr lang="zh-CN" altLang="en-US" dirty="0"/>
              <a:t>多线程环境中的同步问题</a:t>
            </a:r>
            <a:endParaRPr lang="en-US" altLang="zh-CN" dirty="0"/>
          </a:p>
          <a:p>
            <a:pPr lvl="1">
              <a:lnSpc>
                <a:spcPct val="120000"/>
              </a:lnSpc>
            </a:pPr>
            <a:r>
              <a:rPr lang="zh-CN" altLang="en-US" dirty="0"/>
              <a:t>这个问题和代码执行的时序、共享资源的锁定有关</a:t>
            </a:r>
            <a:endParaRPr lang="en-US" altLang="zh-CN" dirty="0"/>
          </a:p>
          <a:p>
            <a:pPr>
              <a:lnSpc>
                <a:spcPct val="120000"/>
              </a:lnSpc>
            </a:pPr>
            <a:r>
              <a:rPr lang="zh-CN" altLang="en-US" dirty="0"/>
              <a:t>作业：</a:t>
            </a:r>
            <a:endParaRPr lang="en-US" altLang="zh-CN" dirty="0"/>
          </a:p>
          <a:p>
            <a:pPr lvl="1">
              <a:lnSpc>
                <a:spcPct val="120000"/>
              </a:lnSpc>
            </a:pPr>
            <a:r>
              <a:rPr lang="zh-CN" altLang="en-US" dirty="0"/>
              <a:t>同学们用实际的例子来重现上面提到的问题。</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回归测试 （</a:t>
            </a:r>
            <a:r>
              <a:rPr lang="en-US" altLang="zh-CN" dirty="0"/>
              <a:t>Regression Test</a:t>
            </a:r>
            <a:r>
              <a:rPr lang="zh-CN" altLang="en-US" dirty="0"/>
              <a:t>）</a:t>
            </a:r>
            <a:endParaRPr lang="en-US" dirty="0"/>
          </a:p>
        </p:txBody>
      </p:sp>
      <p:sp>
        <p:nvSpPr>
          <p:cNvPr id="3" name="内容占位符 2"/>
          <p:cNvSpPr>
            <a:spLocks noGrp="1"/>
          </p:cNvSpPr>
          <p:nvPr>
            <p:ph idx="1"/>
          </p:nvPr>
        </p:nvSpPr>
        <p:spPr/>
        <p:txBody>
          <a:bodyPr>
            <a:normAutofit fontScale="92500"/>
          </a:bodyPr>
          <a:lstStyle/>
          <a:p>
            <a:pPr>
              <a:lnSpc>
                <a:spcPct val="120000"/>
              </a:lnSpc>
            </a:pPr>
            <a:r>
              <a:rPr lang="en-US" altLang="zh-CN" dirty="0"/>
              <a:t>Regress </a:t>
            </a:r>
            <a:r>
              <a:rPr lang="zh-CN" altLang="en-US" dirty="0"/>
              <a:t>的英语定义是：</a:t>
            </a:r>
            <a:r>
              <a:rPr lang="en-US" altLang="zh-CN" dirty="0"/>
              <a:t>return to a worse or less developed state</a:t>
            </a:r>
            <a:r>
              <a:rPr lang="zh-CN" altLang="en-US" dirty="0"/>
              <a:t>，是倒退、退化、退步、回归的意思。</a:t>
            </a:r>
            <a:endParaRPr lang="en-US" altLang="zh-CN" dirty="0"/>
          </a:p>
          <a:p>
            <a:pPr>
              <a:lnSpc>
                <a:spcPct val="120000"/>
              </a:lnSpc>
            </a:pPr>
            <a:r>
              <a:rPr lang="zh-CN" altLang="en-US" dirty="0"/>
              <a:t>如果一个模块或功能以前是正常工作的，但是在一个新的构建中出了问题，那么这 个模块就出现了一个“</a:t>
            </a:r>
            <a:r>
              <a:rPr lang="zh-CN" altLang="en-US" b="1" dirty="0"/>
              <a:t>退步</a:t>
            </a:r>
            <a:r>
              <a:rPr lang="zh-CN" altLang="en-US" dirty="0"/>
              <a:t>”（</a:t>
            </a:r>
            <a:r>
              <a:rPr lang="en-US" altLang="zh-CN" b="1" dirty="0"/>
              <a:t>Regressio</a:t>
            </a:r>
            <a:r>
              <a:rPr lang="en-US" altLang="zh-CN" dirty="0"/>
              <a:t>n</a:t>
            </a:r>
            <a:r>
              <a:rPr lang="zh-CN" altLang="en-US" dirty="0"/>
              <a:t>），从正常工作的稳定状态退化（</a:t>
            </a:r>
            <a:r>
              <a:rPr lang="zh-CN" altLang="en-US" b="1" dirty="0"/>
              <a:t>回归</a:t>
            </a:r>
            <a:r>
              <a:rPr lang="zh-CN" altLang="en-US" dirty="0"/>
              <a:t>）到不正常工作的状态。</a:t>
            </a:r>
            <a:endParaRPr lang="en-US" altLang="zh-CN" dirty="0"/>
          </a:p>
          <a:p>
            <a:pPr>
              <a:lnSpc>
                <a:spcPct val="120000"/>
              </a:lnSpc>
            </a:pPr>
            <a:r>
              <a:rPr lang="zh-CN" altLang="en-US" dirty="0"/>
              <a:t>针对一个</a:t>
            </a:r>
            <a:r>
              <a:rPr lang="en-US" altLang="zh-CN" dirty="0"/>
              <a:t>Bug Fix</a:t>
            </a:r>
            <a:r>
              <a:rPr lang="zh-CN" altLang="en-US" dirty="0"/>
              <a:t>，我们也要做</a:t>
            </a:r>
            <a:r>
              <a:rPr lang="en-US" altLang="zh-CN" dirty="0"/>
              <a:t>Regression Test</a:t>
            </a:r>
            <a:r>
              <a:rPr lang="zh-CN" altLang="en-US" dirty="0"/>
              <a:t>。目的是： </a:t>
            </a:r>
            <a:endParaRPr lang="en-US" altLang="zh-CN" dirty="0"/>
          </a:p>
          <a:p>
            <a:pPr lvl="1">
              <a:lnSpc>
                <a:spcPct val="120000"/>
              </a:lnSpc>
            </a:pPr>
            <a:r>
              <a:rPr lang="en-US" altLang="zh-CN" dirty="0"/>
              <a:t>1. </a:t>
            </a:r>
            <a:r>
              <a:rPr lang="zh-CN" altLang="en-US" dirty="0"/>
              <a:t>验证新的代码的确改正了缺陷 </a:t>
            </a:r>
            <a:endParaRPr lang="en-US" altLang="zh-CN" dirty="0"/>
          </a:p>
          <a:p>
            <a:pPr lvl="1">
              <a:lnSpc>
                <a:spcPct val="120000"/>
              </a:lnSpc>
            </a:pPr>
            <a:r>
              <a:rPr lang="en-US" altLang="zh-CN" dirty="0"/>
              <a:t>2. </a:t>
            </a:r>
            <a:r>
              <a:rPr lang="zh-CN" altLang="en-US" dirty="0"/>
              <a:t>同时要验证新的代码有没有破坏模块的现有功能，有没有</a:t>
            </a:r>
            <a:r>
              <a:rPr lang="en-US" altLang="zh-CN" dirty="0"/>
              <a:t>Regression</a:t>
            </a:r>
          </a:p>
          <a:p>
            <a:pPr>
              <a:lnSpc>
                <a:spcPct val="120000"/>
              </a:lnSpc>
            </a:pP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 </a:t>
            </a:r>
            <a:r>
              <a:rPr lang="en-US" altLang="zh-CN" dirty="0"/>
              <a:t>- </a:t>
            </a:r>
            <a:r>
              <a:rPr lang="zh-CN" altLang="en-US" dirty="0"/>
              <a:t>锻炼各种能力</a:t>
            </a:r>
            <a:endParaRPr lang="en-US" dirty="0"/>
          </a:p>
        </p:txBody>
      </p:sp>
      <p:sp>
        <p:nvSpPr>
          <p:cNvPr id="3" name="内容占位符 2"/>
          <p:cNvSpPr>
            <a:spLocks noGrp="1"/>
          </p:cNvSpPr>
          <p:nvPr>
            <p:ph idx="1"/>
          </p:nvPr>
        </p:nvSpPr>
        <p:spPr/>
        <p:txBody>
          <a:bodyPr/>
          <a:lstStyle/>
          <a:p>
            <a:r>
              <a:rPr lang="zh-CN" altLang="en-US" sz="2000" dirty="0"/>
              <a:t>简单的扩展</a:t>
            </a:r>
            <a:endParaRPr lang="en-US" altLang="zh-CN" sz="2000" dirty="0"/>
          </a:p>
          <a:p>
            <a:pPr lvl="1"/>
            <a:r>
              <a:rPr lang="zh-CN" altLang="en-US" sz="1600" dirty="0"/>
              <a:t>如果元素的数值非常大，需要注意什么？</a:t>
            </a:r>
            <a:endParaRPr lang="en-US" altLang="zh-CN" sz="1600" dirty="0"/>
          </a:p>
          <a:p>
            <a:pPr lvl="1"/>
            <a:r>
              <a:rPr lang="zh-CN" altLang="en-US" sz="1600" dirty="0"/>
              <a:t>如果一维数组很长，需要注意什么？</a:t>
            </a:r>
            <a:endParaRPr lang="en-US" altLang="zh-CN" sz="1600" dirty="0"/>
          </a:p>
          <a:p>
            <a:r>
              <a:rPr lang="zh-CN" altLang="en-US" sz="2000" dirty="0"/>
              <a:t>功能的扩展</a:t>
            </a:r>
            <a:endParaRPr lang="en-US" altLang="zh-CN" sz="2000" dirty="0"/>
          </a:p>
          <a:p>
            <a:pPr lvl="1"/>
            <a:r>
              <a:rPr lang="zh-CN" altLang="en-US" sz="2000" dirty="0"/>
              <a:t>把数据放在文件里面，从文件中读数据</a:t>
            </a:r>
            <a:endParaRPr lang="en-US" altLang="zh-CN" sz="2000" dirty="0"/>
          </a:p>
          <a:p>
            <a:pPr lvl="1"/>
            <a:r>
              <a:rPr lang="zh-CN" altLang="en-US" sz="2000" dirty="0"/>
              <a:t>把这个程序放到网上去</a:t>
            </a:r>
            <a:endParaRPr lang="en-US" altLang="zh-CN" sz="2000" dirty="0"/>
          </a:p>
          <a:p>
            <a:r>
              <a:rPr lang="zh-CN" altLang="en-US" sz="2000" dirty="0"/>
              <a:t>数据量的扩展</a:t>
            </a:r>
            <a:endParaRPr lang="en-US" altLang="zh-CN" sz="2000" dirty="0"/>
          </a:p>
          <a:p>
            <a:pPr lvl="1"/>
            <a:r>
              <a:rPr lang="zh-CN" altLang="en-US" sz="2000" dirty="0"/>
              <a:t>如果元素的个数超过</a:t>
            </a:r>
            <a:r>
              <a:rPr lang="en-US" altLang="zh-CN" sz="2000" dirty="0"/>
              <a:t>10,000 </a:t>
            </a:r>
            <a:r>
              <a:rPr lang="zh-CN" altLang="en-US" sz="2000" dirty="0"/>
              <a:t>个</a:t>
            </a:r>
            <a:r>
              <a:rPr lang="en-US" altLang="zh-CN" sz="2000" dirty="0"/>
              <a:t>? </a:t>
            </a:r>
            <a:r>
              <a:rPr lang="zh-CN" altLang="en-US" sz="2000" dirty="0"/>
              <a:t>超过</a:t>
            </a:r>
            <a:r>
              <a:rPr lang="en-US" altLang="zh-CN" sz="2000" dirty="0"/>
              <a:t>1</a:t>
            </a:r>
            <a:r>
              <a:rPr lang="zh-CN" altLang="en-US" sz="2000" dirty="0"/>
              <a:t>百万个</a:t>
            </a:r>
            <a:r>
              <a:rPr lang="en-US" altLang="zh-CN" sz="2000" dirty="0"/>
              <a:t>?</a:t>
            </a:r>
          </a:p>
          <a:p>
            <a:r>
              <a:rPr lang="zh-CN" altLang="en-US" sz="2000" dirty="0"/>
              <a:t>维度的扩展</a:t>
            </a:r>
            <a:endParaRPr lang="en-US" altLang="zh-CN" sz="2000" dirty="0"/>
          </a:p>
          <a:p>
            <a:pPr lvl="1"/>
            <a:r>
              <a:rPr lang="zh-CN" altLang="en-US" sz="2000" dirty="0"/>
              <a:t>二维，三维，首尾相连</a:t>
            </a:r>
            <a:endParaRPr lang="en-US" altLang="zh-CN" sz="2000" dirty="0"/>
          </a:p>
          <a:p>
            <a:pPr lvl="1"/>
            <a:r>
              <a:rPr lang="zh-CN" altLang="en-US" sz="2000" dirty="0"/>
              <a:t>考虑程序如何展现这些“子数组”</a:t>
            </a:r>
            <a:endParaRPr lang="en-US" altLang="zh-CN"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简单的测试要点</a:t>
            </a:r>
            <a:endParaRPr lang="en-US" dirty="0"/>
          </a:p>
        </p:txBody>
      </p:sp>
      <p:sp>
        <p:nvSpPr>
          <p:cNvPr id="3" name="内容占位符 2"/>
          <p:cNvSpPr>
            <a:spLocks noGrp="1"/>
          </p:cNvSpPr>
          <p:nvPr>
            <p:ph idx="1"/>
          </p:nvPr>
        </p:nvSpPr>
        <p:spPr/>
        <p:txBody>
          <a:bodyPr>
            <a:normAutofit fontScale="92500" lnSpcReduction="10000"/>
          </a:bodyPr>
          <a:lstStyle/>
          <a:p>
            <a:pPr marL="118745" indent="0">
              <a:buNone/>
            </a:pPr>
            <a:r>
              <a:rPr lang="zh-CN" altLang="en-US" dirty="0"/>
              <a:t>要写多少测试用例才够呢？</a:t>
            </a:r>
            <a:endParaRPr lang="en-US" altLang="zh-CN" dirty="0"/>
          </a:p>
          <a:p>
            <a:r>
              <a:rPr lang="en-US" altLang="zh-CN" dirty="0"/>
              <a:t>Right-BICEP</a:t>
            </a:r>
            <a:r>
              <a:rPr lang="zh-CN" altLang="en-US" dirty="0"/>
              <a:t>方法：</a:t>
            </a:r>
            <a:endParaRPr lang="en-US" altLang="zh-CN" dirty="0"/>
          </a:p>
          <a:p>
            <a:pPr lvl="1"/>
            <a:r>
              <a:rPr lang="en-US" altLang="zh-CN" b="1" dirty="0"/>
              <a:t>Right</a:t>
            </a:r>
            <a:r>
              <a:rPr lang="zh-CN" altLang="en-US" dirty="0"/>
              <a:t>－结果是否正确？</a:t>
            </a:r>
            <a:endParaRPr lang="en-US" altLang="zh-CN" dirty="0"/>
          </a:p>
          <a:p>
            <a:pPr lvl="1"/>
            <a:r>
              <a:rPr lang="en-US" altLang="zh-CN" b="1" dirty="0"/>
              <a:t>B</a:t>
            </a:r>
            <a:r>
              <a:rPr lang="en-US" altLang="zh-CN" dirty="0"/>
              <a:t>order Condition</a:t>
            </a:r>
            <a:r>
              <a:rPr lang="zh-CN" altLang="en-US" dirty="0"/>
              <a:t>－是否所有的边界条件都是正确的</a:t>
            </a:r>
            <a:r>
              <a:rPr lang="en-US" altLang="zh-CN" dirty="0"/>
              <a:t>?</a:t>
            </a:r>
          </a:p>
          <a:p>
            <a:pPr lvl="1"/>
            <a:r>
              <a:rPr lang="en-US" altLang="zh-CN" b="1" dirty="0"/>
              <a:t>I</a:t>
            </a:r>
            <a:r>
              <a:rPr lang="en-US" altLang="zh-CN" dirty="0"/>
              <a:t>nverse Relation: </a:t>
            </a:r>
            <a:r>
              <a:rPr lang="zh-CN" altLang="en-US" dirty="0"/>
              <a:t>能查一下反向关联吗？</a:t>
            </a:r>
            <a:endParaRPr lang="en-US" altLang="zh-CN" dirty="0"/>
          </a:p>
          <a:p>
            <a:pPr lvl="1"/>
            <a:r>
              <a:rPr lang="en-US" altLang="zh-CN" b="1" dirty="0"/>
              <a:t>C</a:t>
            </a:r>
            <a:r>
              <a:rPr lang="en-US" altLang="zh-CN" dirty="0"/>
              <a:t>ross check: </a:t>
            </a:r>
            <a:r>
              <a:rPr lang="zh-CN" altLang="en-US" dirty="0"/>
              <a:t>能用其他手段交叉检查一下结果吗？</a:t>
            </a:r>
            <a:endParaRPr lang="en-US" altLang="zh-CN" dirty="0"/>
          </a:p>
          <a:p>
            <a:pPr lvl="1"/>
            <a:r>
              <a:rPr lang="en-US" altLang="zh-CN" b="1" dirty="0"/>
              <a:t>E</a:t>
            </a:r>
            <a:r>
              <a:rPr lang="en-US" altLang="zh-CN" dirty="0"/>
              <a:t>rror</a:t>
            </a:r>
            <a:r>
              <a:rPr lang="zh-CN" altLang="en-US" dirty="0"/>
              <a:t>－你是否可以强制错误条件发生？</a:t>
            </a:r>
            <a:endParaRPr lang="en-US" altLang="zh-CN" dirty="0"/>
          </a:p>
          <a:p>
            <a:pPr lvl="1"/>
            <a:r>
              <a:rPr lang="en-US" altLang="zh-CN" b="1" dirty="0"/>
              <a:t>P</a:t>
            </a:r>
            <a:r>
              <a:rPr lang="en-US" altLang="zh-CN" dirty="0"/>
              <a:t>erformance</a:t>
            </a:r>
            <a:r>
              <a:rPr lang="zh-CN" altLang="en-US" dirty="0"/>
              <a:t>－是否满足性能要求？</a:t>
            </a:r>
            <a:endParaRPr lang="en-US" altLang="zh-CN" dirty="0"/>
          </a:p>
          <a:p>
            <a:r>
              <a:rPr lang="zh-CN" altLang="en-US" dirty="0"/>
              <a:t>看大部分代码是否被覆盖了</a:t>
            </a:r>
            <a:endParaRPr lang="en-US" altLang="zh-CN" dirty="0"/>
          </a:p>
          <a:p>
            <a:r>
              <a:rPr lang="zh-CN" altLang="en-US" dirty="0"/>
              <a:t>练习：</a:t>
            </a:r>
            <a:endParaRPr lang="en-US" altLang="zh-CN" dirty="0"/>
          </a:p>
          <a:p>
            <a:pPr lvl="1"/>
            <a:r>
              <a:rPr lang="zh-CN" altLang="en-US" dirty="0"/>
              <a:t>请举出你在测试用例中，</a:t>
            </a:r>
            <a:r>
              <a:rPr lang="en-US" altLang="zh-CN" dirty="0"/>
              <a:t>BICEP </a:t>
            </a:r>
            <a:r>
              <a:rPr lang="zh-CN" altLang="en-US" dirty="0"/>
              <a:t>是如何达到的？</a:t>
            </a:r>
            <a:endParaRPr lang="en-US" altLang="zh-CN" dirty="0"/>
          </a:p>
          <a:p>
            <a:pPr marL="118745" indent="0">
              <a:buNone/>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 </a:t>
            </a:r>
            <a:r>
              <a:rPr lang="en-US" altLang="zh-CN" dirty="0"/>
              <a:t>– </a:t>
            </a:r>
            <a:r>
              <a:rPr lang="zh-CN" altLang="en-US" dirty="0"/>
              <a:t>算法的扩展</a:t>
            </a:r>
            <a:endParaRPr lang="en-US" dirty="0"/>
          </a:p>
        </p:txBody>
      </p:sp>
      <p:sp>
        <p:nvSpPr>
          <p:cNvPr id="3" name="内容占位符 2"/>
          <p:cNvSpPr>
            <a:spLocks noGrp="1"/>
          </p:cNvSpPr>
          <p:nvPr>
            <p:ph idx="1"/>
          </p:nvPr>
        </p:nvSpPr>
        <p:spPr>
          <a:xfrm>
            <a:off x="2511425" y="1470025"/>
            <a:ext cx="7772400" cy="4572000"/>
          </a:xfrm>
        </p:spPr>
        <p:txBody>
          <a:bodyPr/>
          <a:lstStyle/>
          <a:p>
            <a:r>
              <a:rPr lang="zh-CN" altLang="en-US" sz="2000" dirty="0"/>
              <a:t>二维数组中</a:t>
            </a:r>
            <a:r>
              <a:rPr lang="en-US" altLang="zh-CN" sz="2000" dirty="0"/>
              <a:t>【</a:t>
            </a:r>
            <a:r>
              <a:rPr lang="zh-CN" altLang="en-US" sz="2000" dirty="0"/>
              <a:t>子数组</a:t>
            </a:r>
            <a:r>
              <a:rPr lang="en-US" altLang="zh-CN" sz="2000" dirty="0"/>
              <a:t>】</a:t>
            </a:r>
            <a:r>
              <a:rPr lang="zh-CN" altLang="en-US" sz="2000" dirty="0"/>
              <a:t>定义的扩展</a:t>
            </a:r>
            <a:endParaRPr lang="en-US" altLang="zh-CN" sz="2000" dirty="0"/>
          </a:p>
          <a:p>
            <a:pPr lvl="1"/>
            <a:r>
              <a:rPr lang="zh-CN" altLang="en-US" sz="2000" dirty="0"/>
              <a:t>传统</a:t>
            </a:r>
            <a:r>
              <a:rPr lang="en-US" altLang="zh-CN" sz="2000" dirty="0"/>
              <a:t>: </a:t>
            </a:r>
            <a:r>
              <a:rPr lang="zh-CN" altLang="en-US" sz="2000" dirty="0"/>
              <a:t>矩形的子数组</a:t>
            </a:r>
            <a:endParaRPr lang="en-US" altLang="zh-CN" sz="2000" dirty="0"/>
          </a:p>
          <a:p>
            <a:pPr lvl="1"/>
            <a:r>
              <a:rPr lang="zh-CN" altLang="en-US" sz="2000" dirty="0"/>
              <a:t>扩展</a:t>
            </a:r>
            <a:r>
              <a:rPr lang="en-US" altLang="zh-CN" sz="2000" dirty="0"/>
              <a:t>: </a:t>
            </a:r>
            <a:r>
              <a:rPr lang="zh-CN" altLang="en-US" sz="2000" dirty="0"/>
              <a:t>凡是相连就认为是子数组</a:t>
            </a:r>
            <a:endParaRPr lang="en-US" altLang="zh-CN" sz="2000" dirty="0"/>
          </a:p>
          <a:p>
            <a:r>
              <a:rPr lang="zh-CN" altLang="en-US" sz="2000" dirty="0"/>
              <a:t>参考：</a:t>
            </a:r>
            <a:endParaRPr lang="en-US" altLang="zh-CN" sz="2000" dirty="0"/>
          </a:p>
          <a:p>
            <a:pPr lvl="1"/>
            <a:r>
              <a:rPr lang="en-US" sz="2000" dirty="0">
                <a:hlinkClick r:id="rId2"/>
              </a:rPr>
              <a:t>http://www.cnblogs.com/xinz/p/3318230.html</a:t>
            </a:r>
            <a:endParaRPr lang="en-US" sz="2000" dirty="0"/>
          </a:p>
          <a:p>
            <a:pPr marL="319405" lvl="1" indent="0">
              <a:buNone/>
            </a:pPr>
            <a:endParaRPr lang="en-US" sz="2000" dirty="0"/>
          </a:p>
        </p:txBody>
      </p:sp>
      <p:pic>
        <p:nvPicPr>
          <p:cNvPr id="1026" name="Picture 2" descr="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1426" y="3709844"/>
            <a:ext cx="2371725" cy="13239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0313" y="3709843"/>
            <a:ext cx="2714625" cy="24479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zh-CN" altLang="en-US" dirty="0"/>
              <a:t>扩展 </a:t>
            </a:r>
            <a:r>
              <a:rPr lang="en-US" dirty="0"/>
              <a:t>2D array</a:t>
            </a:r>
          </a:p>
        </p:txBody>
      </p:sp>
      <p:pic>
        <p:nvPicPr>
          <p:cNvPr id="1024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465512" y="2739231"/>
            <a:ext cx="5543550" cy="2524125"/>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 </a:t>
            </a:r>
            <a:r>
              <a:rPr lang="en-US" altLang="zh-CN" dirty="0"/>
              <a:t>2.5 </a:t>
            </a:r>
            <a:r>
              <a:rPr lang="zh-CN" altLang="en-US" dirty="0"/>
              <a:t>维度</a:t>
            </a:r>
            <a:endParaRPr lang="en-US" dirty="0"/>
          </a:p>
        </p:txBody>
      </p:sp>
      <p:sp>
        <p:nvSpPr>
          <p:cNvPr id="3" name="内容占位符 2"/>
          <p:cNvSpPr>
            <a:spLocks noGrp="1"/>
          </p:cNvSpPr>
          <p:nvPr>
            <p:ph idx="1"/>
          </p:nvPr>
        </p:nvSpPr>
        <p:spPr/>
        <p:txBody>
          <a:bodyPr>
            <a:normAutofit lnSpcReduction="10000"/>
          </a:bodyPr>
          <a:lstStyle/>
          <a:p>
            <a:r>
              <a:rPr lang="zh-CN" altLang="en-US" dirty="0"/>
              <a:t>如果这个二维数组首尾相连，上下相连呢？</a:t>
            </a:r>
            <a:endParaRPr lang="en-US" altLang="zh-CN" dirty="0"/>
          </a:p>
          <a:p>
            <a:r>
              <a:rPr lang="zh-CN" altLang="en-US" dirty="0"/>
              <a:t>请花一分钟画出这个 </a:t>
            </a:r>
            <a:r>
              <a:rPr lang="en-US" altLang="zh-CN" dirty="0"/>
              <a:t>2.5 </a:t>
            </a:r>
            <a:r>
              <a:rPr lang="zh-CN" altLang="en-US" dirty="0"/>
              <a:t>维度的二维数组</a:t>
            </a:r>
            <a:endParaRPr lang="en-US" altLang="zh-CN" dirty="0"/>
          </a:p>
          <a:p>
            <a:endParaRPr lang="en-US" dirty="0"/>
          </a:p>
          <a:p>
            <a:endParaRPr lang="en-US" dirty="0"/>
          </a:p>
          <a:p>
            <a:endParaRPr lang="en-US" dirty="0"/>
          </a:p>
          <a:p>
            <a:endParaRPr lang="en-US" dirty="0"/>
          </a:p>
          <a:p>
            <a:endParaRPr lang="en-US" dirty="0"/>
          </a:p>
          <a:p>
            <a:endParaRPr lang="en-US" dirty="0"/>
          </a:p>
          <a:p>
            <a:r>
              <a:rPr lang="zh-CN" altLang="en-US" dirty="0"/>
              <a:t>倒计时 </a:t>
            </a:r>
            <a:r>
              <a:rPr lang="en-US" altLang="zh-CN" dirty="0"/>
              <a:t>60 – 0 </a:t>
            </a:r>
            <a:r>
              <a:rPr lang="zh-CN" altLang="en-US" dirty="0"/>
              <a:t>秒</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zh-CN" altLang="en-US" dirty="0"/>
              <a:t>扩展</a:t>
            </a:r>
            <a:r>
              <a:rPr lang="en-US" altLang="zh-CN" dirty="0"/>
              <a:t>2.5</a:t>
            </a:r>
            <a:r>
              <a:rPr lang="en-US" dirty="0"/>
              <a:t>D result</a:t>
            </a:r>
          </a:p>
        </p:txBody>
      </p:sp>
      <p:pic>
        <p:nvPicPr>
          <p:cNvPr id="1126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95400"/>
            <a:ext cx="91440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a:t>
            </a:r>
            <a:r>
              <a:rPr lang="en-US" altLang="zh-CN" dirty="0"/>
              <a:t>3D</a:t>
            </a:r>
            <a:endParaRPr lang="en-US" dirty="0"/>
          </a:p>
        </p:txBody>
      </p:sp>
      <p:sp>
        <p:nvSpPr>
          <p:cNvPr id="3" name="内容占位符 2"/>
          <p:cNvSpPr>
            <a:spLocks noGrp="1"/>
          </p:cNvSpPr>
          <p:nvPr>
            <p:ph idx="1"/>
          </p:nvPr>
        </p:nvSpPr>
        <p:spPr/>
        <p:txBody>
          <a:bodyPr/>
          <a:lstStyle/>
          <a:p>
            <a:r>
              <a:rPr lang="zh-CN" altLang="en-US" dirty="0"/>
              <a:t>一个立方体，每个（</a:t>
            </a:r>
            <a:r>
              <a:rPr lang="en-US" altLang="zh-CN" dirty="0"/>
              <a:t>x</a:t>
            </a:r>
            <a:r>
              <a:rPr lang="zh-CN" altLang="en-US" dirty="0"/>
              <a:t>，</a:t>
            </a:r>
            <a:r>
              <a:rPr lang="en-US" altLang="zh-CN" dirty="0"/>
              <a:t>y</a:t>
            </a:r>
            <a:r>
              <a:rPr lang="zh-CN" altLang="en-US" dirty="0"/>
              <a:t>，</a:t>
            </a:r>
            <a:r>
              <a:rPr lang="en-US" altLang="zh-CN" dirty="0"/>
              <a:t>z</a:t>
            </a:r>
            <a:r>
              <a:rPr lang="zh-CN" altLang="en-US" dirty="0"/>
              <a:t>）点有一个数值</a:t>
            </a:r>
            <a:endParaRPr lang="en-US" altLang="zh-CN" dirty="0"/>
          </a:p>
          <a:p>
            <a:r>
              <a:rPr lang="zh-CN" altLang="en-US"/>
              <a:t>如何求得最大子立方体，使它的和最大？</a:t>
            </a:r>
            <a:endParaRPr lang="en-US" altLang="zh-CN"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效能分析</a:t>
            </a:r>
            <a:endParaRPr lang="en-US" dirty="0"/>
          </a:p>
        </p:txBody>
      </p:sp>
      <p:pic>
        <p:nvPicPr>
          <p:cNvPr id="4" name="Content Placeholder 3"/>
          <p:cNvPicPr>
            <a:picLocks noGrp="1" noChangeAspect="1"/>
          </p:cNvPicPr>
          <p:nvPr>
            <p:ph idx="1"/>
          </p:nvPr>
        </p:nvPicPr>
        <p:blipFill>
          <a:blip r:embed="rId2"/>
          <a:stretch>
            <a:fillRect/>
          </a:stretch>
        </p:blipFill>
        <p:spPr>
          <a:xfrm>
            <a:off x="1595176" y="1825625"/>
            <a:ext cx="9284222" cy="43513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效能分析</a:t>
            </a:r>
            <a:endParaRPr lang="en-US" dirty="0"/>
          </a:p>
        </p:txBody>
      </p:sp>
      <p:sp>
        <p:nvSpPr>
          <p:cNvPr id="3" name="内容占位符 2"/>
          <p:cNvSpPr>
            <a:spLocks noGrp="1"/>
          </p:cNvSpPr>
          <p:nvPr>
            <p:ph idx="1"/>
          </p:nvPr>
        </p:nvSpPr>
        <p:spPr/>
        <p:txBody>
          <a:bodyPr/>
          <a:lstStyle/>
          <a:p>
            <a:r>
              <a:rPr lang="zh-CN" altLang="en-US" dirty="0"/>
              <a:t>请看教材 </a:t>
            </a:r>
            <a:r>
              <a:rPr lang="en-US" altLang="zh-CN" dirty="0"/>
              <a:t>2.2 </a:t>
            </a:r>
            <a:r>
              <a:rPr lang="zh-CN" altLang="en-US" dirty="0"/>
              <a:t>节</a:t>
            </a:r>
            <a:endParaRPr lang="en-US" altLang="zh-CN" dirty="0"/>
          </a:p>
          <a:p>
            <a:r>
              <a:rPr lang="en-US" dirty="0">
                <a:hlinkClick r:id="rId2"/>
              </a:rPr>
              <a:t>http://www.cnblogs.com/xinz/archive/2011/11/20/2255809.html</a:t>
            </a:r>
            <a:endParaRPr lang="en-US" dirty="0"/>
          </a:p>
          <a:p>
            <a:endParaRPr lang="en-US" dirty="0"/>
          </a:p>
          <a:p>
            <a:r>
              <a:rPr lang="en-US" altLang="zh-CN" dirty="0"/>
              <a:t>Java </a:t>
            </a:r>
            <a:r>
              <a:rPr lang="zh-CN" altLang="en-US" dirty="0"/>
              <a:t>程序的效能建议：</a:t>
            </a:r>
            <a:endParaRPr lang="en-US" altLang="zh-CN" dirty="0"/>
          </a:p>
          <a:p>
            <a:r>
              <a:rPr lang="en-US" dirty="0">
                <a:hlinkClick r:id="rId3"/>
              </a:rPr>
              <a:t>http://www.cnblogs.com/xrq730/p/4865416.html</a:t>
            </a:r>
            <a:endParaRPr lang="en-US" dirty="0"/>
          </a:p>
          <a:p>
            <a:endParaRPr lang="en-US" dirty="0"/>
          </a:p>
          <a:p>
            <a:endParaRPr lang="en-US" dirty="0"/>
          </a:p>
          <a:p>
            <a:endParaRPr lang="en-US" dirty="0"/>
          </a:p>
          <a:p>
            <a:pPr marL="118745" indent="0">
              <a:buNone/>
            </a:pPr>
            <a:endParaRPr 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Python </a:t>
            </a:r>
            <a:r>
              <a:rPr lang="zh-CN" altLang="en-US" dirty="0"/>
              <a:t>的效能分析</a:t>
            </a:r>
            <a:endParaRPr lang="en-US" dirty="0"/>
          </a:p>
        </p:txBody>
      </p:sp>
      <p:sp>
        <p:nvSpPr>
          <p:cNvPr id="3" name="Content Placeholder 2"/>
          <p:cNvSpPr>
            <a:spLocks noGrp="1"/>
          </p:cNvSpPr>
          <p:nvPr>
            <p:ph idx="1"/>
          </p:nvPr>
        </p:nvSpPr>
        <p:spPr/>
        <p:txBody>
          <a:bodyPr>
            <a:normAutofit/>
          </a:bodyPr>
          <a:lstStyle/>
          <a:p>
            <a:r>
              <a:rPr lang="en-US" dirty="0">
                <a:hlinkClick r:id="rId2"/>
              </a:rPr>
              <a:t>https://blog.csdn.net/asukasmallriver/article/details/74356771</a:t>
            </a:r>
            <a:endParaRPr lang="en-US" dirty="0"/>
          </a:p>
          <a:p>
            <a:r>
              <a:rPr lang="en-US" dirty="0">
                <a:hlinkClick r:id="rId3"/>
              </a:rPr>
              <a:t>http://www.cnblogs.com/xiadw/p/7455513.html</a:t>
            </a:r>
            <a:endParaRPr lang="en-US" dirty="0"/>
          </a:p>
          <a:p>
            <a:endParaRPr lang="en-US" dirty="0"/>
          </a:p>
          <a:p>
            <a:endParaRPr lang="en-US" dirty="0"/>
          </a:p>
          <a:p>
            <a:r>
              <a:rPr lang="zh-CN" altLang="en-US" dirty="0"/>
              <a:t>作业：</a:t>
            </a:r>
            <a:endParaRPr lang="en-US" altLang="zh-CN" dirty="0"/>
          </a:p>
          <a:p>
            <a:r>
              <a:rPr lang="en-US" dirty="0">
                <a:hlinkClick r:id="rId4"/>
              </a:rPr>
              <a:t>https://edu.cnblogs.com/campus/ntu/Embedded_Application/homework/2154</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PSP </a:t>
            </a:r>
            <a:r>
              <a:rPr lang="zh-CN" altLang="en-US" dirty="0"/>
              <a:t>记录估计和实际耗费的时间</a:t>
            </a:r>
            <a:endParaRPr lang="en-US" dirty="0"/>
          </a:p>
        </p:txBody>
      </p:sp>
      <p:pic>
        <p:nvPicPr>
          <p:cNvPr id="4" name="Content Placeholder 3"/>
          <p:cNvPicPr>
            <a:picLocks noGrp="1" noChangeAspect="1"/>
          </p:cNvPicPr>
          <p:nvPr>
            <p:ph idx="1"/>
          </p:nvPr>
        </p:nvPicPr>
        <p:blipFill>
          <a:blip r:embed="rId2"/>
          <a:stretch>
            <a:fillRect/>
          </a:stretch>
        </p:blipFill>
        <p:spPr>
          <a:xfrm>
            <a:off x="3208777" y="1825625"/>
            <a:ext cx="6057020" cy="435133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先填估计值，在练习中记录实际值</a:t>
            </a:r>
            <a:endParaRPr lang="en-US" dirty="0"/>
          </a:p>
        </p:txBody>
      </p:sp>
      <p:pic>
        <p:nvPicPr>
          <p:cNvPr id="4" name="Content Placeholder 3"/>
          <p:cNvPicPr>
            <a:picLocks noGrp="1" noChangeAspect="1"/>
          </p:cNvPicPr>
          <p:nvPr>
            <p:ph idx="1"/>
          </p:nvPr>
        </p:nvPicPr>
        <p:blipFill>
          <a:blip r:embed="rId2"/>
          <a:stretch>
            <a:fillRect/>
          </a:stretch>
        </p:blipFill>
        <p:spPr>
          <a:xfrm>
            <a:off x="3785317" y="1825625"/>
            <a:ext cx="4903941" cy="435133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练习</a:t>
            </a:r>
            <a:endParaRPr lang="en-US" dirty="0"/>
          </a:p>
        </p:txBody>
      </p:sp>
      <p:sp>
        <p:nvSpPr>
          <p:cNvPr id="3" name="内容占位符 2"/>
          <p:cNvSpPr>
            <a:spLocks noGrp="1"/>
          </p:cNvSpPr>
          <p:nvPr>
            <p:ph idx="1"/>
          </p:nvPr>
        </p:nvSpPr>
        <p:spPr/>
        <p:txBody>
          <a:bodyPr>
            <a:normAutofit fontScale="85000" lnSpcReduction="20000"/>
          </a:bodyPr>
          <a:lstStyle/>
          <a:p>
            <a:pPr>
              <a:lnSpc>
                <a:spcPct val="120000"/>
              </a:lnSpc>
            </a:pPr>
            <a:r>
              <a:rPr lang="zh-CN" altLang="en-US" dirty="0"/>
              <a:t>贯彻“做中学”的思想，动手实现下 面的项目，并和别人的成绩相比较，分析产生差距的原因。</a:t>
            </a:r>
          </a:p>
          <a:p>
            <a:pPr lvl="1">
              <a:lnSpc>
                <a:spcPct val="120000"/>
              </a:lnSpc>
            </a:pPr>
            <a:r>
              <a:rPr lang="zh-CN" altLang="en-US" dirty="0"/>
              <a:t>实现一个简单而完整的工具 </a:t>
            </a:r>
            <a:endParaRPr lang="en-US" altLang="zh-CN" dirty="0"/>
          </a:p>
          <a:p>
            <a:pPr lvl="1">
              <a:lnSpc>
                <a:spcPct val="120000"/>
              </a:lnSpc>
            </a:pPr>
            <a:r>
              <a:rPr lang="zh-CN" altLang="en-US" dirty="0"/>
              <a:t>进行单元测试、回归测试、效能测试，在实现上述程序的过程中使用相关的工具。 </a:t>
            </a:r>
            <a:endParaRPr lang="en-US" altLang="zh-CN" dirty="0"/>
          </a:p>
          <a:p>
            <a:pPr lvl="1">
              <a:lnSpc>
                <a:spcPct val="120000"/>
              </a:lnSpc>
            </a:pPr>
            <a:r>
              <a:rPr lang="zh-CN" altLang="en-US" dirty="0"/>
              <a:t>进行个人软件过程（</a:t>
            </a:r>
            <a:r>
              <a:rPr lang="en-US" altLang="zh-CN" dirty="0"/>
              <a:t>PSP</a:t>
            </a:r>
            <a:r>
              <a:rPr lang="zh-CN" altLang="en-US" dirty="0"/>
              <a:t>）的实践，逐步记录自己在每个软件工程环节花费的时间。</a:t>
            </a:r>
            <a:endParaRPr lang="en-US" altLang="zh-CN" dirty="0"/>
          </a:p>
          <a:p>
            <a:pPr lvl="1">
              <a:lnSpc>
                <a:spcPct val="120000"/>
              </a:lnSpc>
            </a:pPr>
            <a:r>
              <a:rPr lang="zh-CN" altLang="en-US" dirty="0"/>
              <a:t>练习签入代码到源代码管理 （</a:t>
            </a:r>
            <a:r>
              <a:rPr lang="en-US" altLang="zh-CN" dirty="0"/>
              <a:t>GitHub</a:t>
            </a:r>
            <a:r>
              <a:rPr lang="zh-CN" altLang="en-US" dirty="0"/>
              <a:t>）</a:t>
            </a:r>
            <a:endParaRPr lang="en-US" altLang="zh-CN" dirty="0"/>
          </a:p>
          <a:p>
            <a:pPr lvl="2">
              <a:lnSpc>
                <a:spcPct val="120000"/>
              </a:lnSpc>
            </a:pPr>
            <a:r>
              <a:rPr lang="zh-CN" altLang="en-US" dirty="0"/>
              <a:t>做完一个功能，实现一个算法，就签入一次</a:t>
            </a:r>
            <a:endParaRPr lang="en-US" altLang="zh-CN" dirty="0"/>
          </a:p>
          <a:p>
            <a:pPr>
              <a:lnSpc>
                <a:spcPct val="120000"/>
              </a:lnSpc>
            </a:pPr>
            <a:r>
              <a:rPr lang="zh-CN" altLang="en-US" dirty="0"/>
              <a:t>程序练习：</a:t>
            </a:r>
            <a:endParaRPr lang="en-US" altLang="zh-CN" dirty="0"/>
          </a:p>
          <a:p>
            <a:pPr lvl="1">
              <a:lnSpc>
                <a:spcPct val="120000"/>
              </a:lnSpc>
            </a:pPr>
            <a:r>
              <a:rPr lang="en-US" altLang="zh-CN" dirty="0">
                <a:hlinkClick r:id="rId2"/>
              </a:rPr>
              <a:t>Word Counter</a:t>
            </a:r>
            <a:endParaRPr lang="en-US" altLang="zh-CN" dirty="0"/>
          </a:p>
          <a:p>
            <a:pPr lvl="1">
              <a:lnSpc>
                <a:spcPct val="120000"/>
              </a:lnSpc>
            </a:pPr>
            <a:r>
              <a:rPr lang="en-US" altLang="zh-CN" dirty="0">
                <a:hlinkClick r:id="rId3"/>
              </a:rPr>
              <a:t>Word Frequency</a:t>
            </a:r>
            <a:endParaRPr lang="en-US" altLang="zh-CN" dirty="0"/>
          </a:p>
          <a:p>
            <a:pPr lvl="1">
              <a:lnSpc>
                <a:spcPct val="120000"/>
              </a:lnSpc>
            </a:pPr>
            <a:r>
              <a:rPr lang="zh-CN" altLang="en-US" dirty="0">
                <a:hlinkClick r:id="rId4"/>
              </a:rPr>
              <a:t>四则运算</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编程作业 </a:t>
            </a:r>
            <a:r>
              <a:rPr lang="en-US" altLang="zh-CN" dirty="0"/>
              <a:t>vs. </a:t>
            </a:r>
            <a:r>
              <a:rPr lang="zh-CN" altLang="en-US" dirty="0"/>
              <a:t>软件工程作业</a:t>
            </a:r>
            <a:endParaRPr lang="en-US" dirty="0"/>
          </a:p>
        </p:txBody>
      </p:sp>
      <p:sp>
        <p:nvSpPr>
          <p:cNvPr id="3" name="Content Placeholder 2"/>
          <p:cNvSpPr>
            <a:spLocks noGrp="1"/>
          </p:cNvSpPr>
          <p:nvPr>
            <p:ph idx="1"/>
          </p:nvPr>
        </p:nvSpPr>
        <p:spPr/>
        <p:txBody>
          <a:bodyPr>
            <a:normAutofit fontScale="92500" lnSpcReduction="20000"/>
          </a:bodyPr>
          <a:lstStyle/>
          <a:p>
            <a:pPr>
              <a:lnSpc>
                <a:spcPct val="120000"/>
              </a:lnSpc>
            </a:pPr>
            <a:r>
              <a:rPr lang="zh-CN" altLang="en-US" dirty="0"/>
              <a:t>在软件工程课上的编程作业通常有三类： </a:t>
            </a:r>
          </a:p>
          <a:p>
            <a:pPr lvl="1">
              <a:lnSpc>
                <a:spcPct val="120000"/>
              </a:lnSpc>
            </a:pPr>
            <a:r>
              <a:rPr lang="zh-CN" altLang="en-US" dirty="0"/>
              <a:t>学习某种编程语言的特性，例如学习</a:t>
            </a:r>
            <a:r>
              <a:rPr lang="en-US" altLang="zh-CN" dirty="0"/>
              <a:t>C++ </a:t>
            </a:r>
            <a:r>
              <a:rPr lang="zh-CN" altLang="en-US" dirty="0"/>
              <a:t>语言的类的各种知识。这是学习编程语言的基础，不是软件工程作业。</a:t>
            </a:r>
          </a:p>
          <a:p>
            <a:pPr lvl="1">
              <a:lnSpc>
                <a:spcPct val="120000"/>
              </a:lnSpc>
            </a:pPr>
            <a:r>
              <a:rPr lang="zh-CN" altLang="en-US" dirty="0"/>
              <a:t>练习某些算法或按某种模式处理数据， 例如：对输入数据进行排序处理，并输出。这是算法和数据结构的练习，不是软件工程作业。</a:t>
            </a:r>
          </a:p>
          <a:p>
            <a:pPr lvl="1">
              <a:lnSpc>
                <a:spcPct val="120000"/>
              </a:lnSpc>
            </a:pPr>
            <a:r>
              <a:rPr lang="zh-CN" altLang="en-US" dirty="0"/>
              <a:t>按照给定的需求实现一个较复杂的软件系统，但没有要求系统进行大规模的测试、模拟、实际运行，或后续演化。全国大学生交上来的成千上万的“图书馆信息系统” 就是其中翘楚。这个作业有一定的复杂性，但是离实际的软件还差很远。</a:t>
            </a:r>
            <a:endParaRPr lang="en-US" altLang="zh-CN" dirty="0"/>
          </a:p>
          <a:p>
            <a:pPr lvl="1">
              <a:lnSpc>
                <a:spcPct val="120000"/>
              </a:lnSpc>
            </a:pPr>
            <a:endParaRPr lang="zh-CN" altLang="en-US" dirty="0"/>
          </a:p>
          <a:p>
            <a:pPr>
              <a:lnSpc>
                <a:spcPct val="120000"/>
              </a:lnSpc>
            </a:pPr>
            <a:r>
              <a:rPr lang="zh-CN" altLang="en-US" dirty="0"/>
              <a:t>软件</a:t>
            </a:r>
            <a:r>
              <a:rPr lang="zh-CN" altLang="en-US" b="1" dirty="0"/>
              <a:t>工程</a:t>
            </a:r>
            <a:r>
              <a:rPr lang="zh-CN" altLang="en-US" dirty="0"/>
              <a:t>作业是为了练习用工具来解决软件的</a:t>
            </a:r>
            <a:r>
              <a:rPr lang="zh-CN" altLang="en-US" b="1" dirty="0"/>
              <a:t>复杂性</a:t>
            </a:r>
            <a:endParaRPr lang="en-US" altLang="zh-CN" b="1" dirty="0"/>
          </a:p>
          <a:p>
            <a:pPr marL="118745" indent="0">
              <a:lnSpc>
                <a:spcPct val="120000"/>
              </a:lnSpc>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软件的复杂性、易变性</a:t>
            </a:r>
            <a:endParaRPr lang="en-US" dirty="0"/>
          </a:p>
        </p:txBody>
      </p:sp>
      <p:sp>
        <p:nvSpPr>
          <p:cNvPr id="3" name="Content Placeholder 2"/>
          <p:cNvSpPr>
            <a:spLocks noGrp="1"/>
          </p:cNvSpPr>
          <p:nvPr>
            <p:ph idx="1"/>
          </p:nvPr>
        </p:nvSpPr>
        <p:spPr/>
        <p:txBody>
          <a:bodyPr/>
          <a:lstStyle/>
          <a:p>
            <a:r>
              <a:rPr lang="zh-CN" altLang="en-US" dirty="0"/>
              <a:t>复杂性和易变性。</a:t>
            </a:r>
            <a:endParaRPr lang="en-US" altLang="zh-CN" dirty="0"/>
          </a:p>
          <a:p>
            <a:r>
              <a:rPr lang="zh-CN" altLang="en-US" dirty="0"/>
              <a:t>程序 </a:t>
            </a:r>
            <a:r>
              <a:rPr lang="en-US" altLang="zh-CN" dirty="0"/>
              <a:t>= </a:t>
            </a:r>
            <a:r>
              <a:rPr lang="zh-CN" altLang="en-US" dirty="0"/>
              <a:t>算法 </a:t>
            </a:r>
            <a:r>
              <a:rPr lang="en-US" altLang="zh-CN" dirty="0"/>
              <a:t>+ </a:t>
            </a:r>
            <a:r>
              <a:rPr lang="zh-CN" altLang="en-US" dirty="0"/>
              <a:t>数据结构；</a:t>
            </a:r>
            <a:endParaRPr lang="en-US" altLang="zh-CN" dirty="0"/>
          </a:p>
          <a:p>
            <a:r>
              <a:rPr lang="zh-CN" altLang="en-US" dirty="0"/>
              <a:t>软件 </a:t>
            </a:r>
            <a:r>
              <a:rPr lang="en-US" altLang="zh-CN" dirty="0"/>
              <a:t>= </a:t>
            </a:r>
            <a:r>
              <a:rPr lang="zh-CN" altLang="en-US" dirty="0"/>
              <a:t>程序 </a:t>
            </a:r>
            <a:r>
              <a:rPr lang="en-US" altLang="zh-CN" dirty="0"/>
              <a:t>+ </a:t>
            </a:r>
            <a:r>
              <a:rPr lang="zh-CN" altLang="en-US" dirty="0"/>
              <a:t>软件工程。</a:t>
            </a:r>
            <a:endParaRPr lang="en-US" altLang="zh-CN" dirty="0"/>
          </a:p>
          <a:p>
            <a:r>
              <a:rPr lang="zh-CN" altLang="en-US" dirty="0"/>
              <a:t>软件工程的编程作业，不仅仅是程序，而是要加入软件工程的要素（复杂性、易变性和其他），有价值的软件工程的作业必须要触及这两个基本要素！ </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两个原则</a:t>
            </a:r>
            <a:endParaRPr lang="en-US" dirty="0"/>
          </a:p>
        </p:txBody>
      </p:sp>
      <p:sp>
        <p:nvSpPr>
          <p:cNvPr id="3" name="Content Placeholder 2"/>
          <p:cNvSpPr>
            <a:spLocks noGrp="1"/>
          </p:cNvSpPr>
          <p:nvPr>
            <p:ph idx="1"/>
          </p:nvPr>
        </p:nvSpPr>
        <p:spPr/>
        <p:txBody>
          <a:bodyPr>
            <a:normAutofit/>
          </a:bodyPr>
          <a:lstStyle/>
          <a:p>
            <a:r>
              <a:rPr lang="zh-CN" altLang="en-US" dirty="0"/>
              <a:t>单一职责原则（</a:t>
            </a:r>
            <a:r>
              <a:rPr lang="en-US" dirty="0"/>
              <a:t>Single Responsibility Principle, SRP）</a:t>
            </a:r>
            <a:r>
              <a:rPr lang="zh-CN" altLang="en-US" dirty="0"/>
              <a:t>指出</a:t>
            </a:r>
          </a:p>
          <a:p>
            <a:pPr lvl="1"/>
            <a:r>
              <a:rPr lang="zh-CN" altLang="en-US" dirty="0"/>
              <a:t>一个模块（类）应该只有一个导致它变化的原因，一个模块应该完全对某个功能负责。</a:t>
            </a:r>
            <a:endParaRPr lang="en-US" altLang="zh-CN" dirty="0"/>
          </a:p>
          <a:p>
            <a:r>
              <a:rPr lang="zh-CN" altLang="en-US" dirty="0"/>
              <a:t>另一个重要的软件设计原则是开放</a:t>
            </a:r>
            <a:r>
              <a:rPr lang="en-US" altLang="zh-CN" dirty="0"/>
              <a:t>- </a:t>
            </a:r>
            <a:r>
              <a:rPr lang="zh-CN" altLang="en-US" dirty="0"/>
              <a:t>封闭原则（</a:t>
            </a:r>
            <a:r>
              <a:rPr lang="en-US" dirty="0"/>
              <a:t>Open-Close Principle， OCP）: </a:t>
            </a:r>
          </a:p>
          <a:p>
            <a:pPr lvl="1"/>
            <a:r>
              <a:rPr lang="zh-CN" altLang="en-US" dirty="0"/>
              <a:t>软件实体应该是可以扩展的，同时是不可修改的。</a:t>
            </a:r>
          </a:p>
          <a:p>
            <a:pPr lvl="2"/>
            <a:r>
              <a:rPr lang="zh-CN" altLang="en-US" dirty="0"/>
              <a:t>允许扩展（</a:t>
            </a:r>
            <a:r>
              <a:rPr lang="en-US" altLang="zh-CN" dirty="0"/>
              <a:t>Open for extension</a:t>
            </a:r>
            <a:r>
              <a:rPr lang="zh-CN" altLang="en-US" dirty="0"/>
              <a:t>）。当应用的需求发生改变时，我们可以对模块进行扩 展，从而改变模块的功能。</a:t>
            </a:r>
          </a:p>
          <a:p>
            <a:pPr lvl="2"/>
            <a:r>
              <a:rPr lang="zh-CN" altLang="en-US" dirty="0"/>
              <a:t>不允许修改（</a:t>
            </a:r>
            <a:r>
              <a:rPr lang="en-US" dirty="0"/>
              <a:t>Closed for modification）。</a:t>
            </a:r>
            <a:r>
              <a:rPr lang="zh-CN" altLang="en-US" dirty="0"/>
              <a:t>对模块行为进行扩展时，不必改变模块的本身。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何时需要应用这些原则？</a:t>
            </a:r>
            <a:endParaRPr lang="en-US" dirty="0"/>
          </a:p>
        </p:txBody>
      </p:sp>
      <p:sp>
        <p:nvSpPr>
          <p:cNvPr id="3" name="Content Placeholder 2"/>
          <p:cNvSpPr>
            <a:spLocks noGrp="1"/>
          </p:cNvSpPr>
          <p:nvPr>
            <p:ph idx="1"/>
          </p:nvPr>
        </p:nvSpPr>
        <p:spPr/>
        <p:txBody>
          <a:bodyPr/>
          <a:lstStyle/>
          <a:p>
            <a:r>
              <a:rPr lang="zh-CN" altLang="en-US" dirty="0"/>
              <a:t>在什么情况下使用这些原则呢？ </a:t>
            </a:r>
          </a:p>
          <a:p>
            <a:pPr lvl="1"/>
            <a:r>
              <a:rPr lang="zh-CN" altLang="en-US" dirty="0"/>
              <a:t>变化的轴线仅当变化实际发生时才具有真正的意义。如果没有征兆，那么去应用</a:t>
            </a:r>
            <a:r>
              <a:rPr lang="en-US" altLang="zh-CN" dirty="0"/>
              <a:t>SRP</a:t>
            </a:r>
            <a:r>
              <a:rPr lang="zh-CN" altLang="en-US" dirty="0"/>
              <a:t>，或者其他原则都是不明智的。</a:t>
            </a:r>
          </a:p>
          <a:p>
            <a:pPr lvl="1"/>
            <a:r>
              <a:rPr lang="zh-CN" altLang="en-US" dirty="0"/>
              <a:t>遵循 </a:t>
            </a:r>
            <a:r>
              <a:rPr lang="en-US" altLang="zh-CN" dirty="0"/>
              <a:t>OCP </a:t>
            </a:r>
            <a:r>
              <a:rPr lang="zh-CN" altLang="en-US" dirty="0"/>
              <a:t>的代价也是昂贵的</a:t>
            </a:r>
            <a:r>
              <a:rPr lang="en-US" altLang="zh-CN" dirty="0"/>
              <a:t>……</a:t>
            </a:r>
            <a:r>
              <a:rPr lang="zh-CN" altLang="en-US" dirty="0"/>
              <a:t>显然，我们希望把 </a:t>
            </a:r>
            <a:r>
              <a:rPr lang="en-US" altLang="zh-CN" dirty="0"/>
              <a:t>OCP </a:t>
            </a:r>
            <a:r>
              <a:rPr lang="zh-CN" altLang="en-US" dirty="0"/>
              <a:t>的应用限定在可能会发生的变化上。</a:t>
            </a:r>
            <a:r>
              <a:rPr lang="en-US" altLang="zh-CN" dirty="0"/>
              <a:t>……</a:t>
            </a:r>
            <a:r>
              <a:rPr lang="zh-CN" altLang="en-US" dirty="0"/>
              <a:t>最终，我们会一直等到变化发生时才采取行动。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(1)</a:t>
            </a:r>
            <a:endParaRPr lang="en-US" dirty="0"/>
          </a:p>
        </p:txBody>
      </p:sp>
      <p:sp>
        <p:nvSpPr>
          <p:cNvPr id="3" name="Content Placeholder 2"/>
          <p:cNvSpPr>
            <a:spLocks noGrp="1"/>
          </p:cNvSpPr>
          <p:nvPr>
            <p:ph idx="1"/>
          </p:nvPr>
        </p:nvSpPr>
        <p:spPr/>
        <p:txBody>
          <a:bodyPr>
            <a:normAutofit fontScale="92500"/>
          </a:bodyPr>
          <a:lstStyle/>
          <a:p>
            <a:pPr>
              <a:lnSpc>
                <a:spcPct val="120000"/>
              </a:lnSpc>
            </a:pPr>
            <a:r>
              <a:rPr lang="zh-CN" altLang="en-US" dirty="0"/>
              <a:t>从数据方面扩展： </a:t>
            </a:r>
          </a:p>
          <a:p>
            <a:pPr lvl="1">
              <a:lnSpc>
                <a:spcPct val="120000"/>
              </a:lnSpc>
            </a:pPr>
            <a:r>
              <a:rPr lang="zh-CN" altLang="en-US" dirty="0"/>
              <a:t>从数据本身的属性扩展，例如处理“ 最大子数组的和”的程序，可以扩展到大数（超 过</a:t>
            </a:r>
            <a:r>
              <a:rPr lang="en-US" altLang="zh-CN" dirty="0"/>
              <a:t>64 </a:t>
            </a:r>
            <a:r>
              <a:rPr lang="zh-CN" altLang="en-US" dirty="0"/>
              <a:t>位的数字），这样引入大数的处理。</a:t>
            </a:r>
          </a:p>
          <a:p>
            <a:pPr lvl="1">
              <a:lnSpc>
                <a:spcPct val="120000"/>
              </a:lnSpc>
            </a:pPr>
            <a:r>
              <a:rPr lang="zh-CN" altLang="en-US" dirty="0"/>
              <a:t>从数据的数量扩展，很多老师出题就假设数组只有六七个元素，直接写死在程序中。 如果这个数组有一万个、十万个元素呢？如果元素保存在文件里呢？ </a:t>
            </a:r>
          </a:p>
          <a:p>
            <a:pPr lvl="1">
              <a:lnSpc>
                <a:spcPct val="120000"/>
              </a:lnSpc>
            </a:pPr>
            <a:r>
              <a:rPr lang="zh-CN" altLang="en-US" dirty="0"/>
              <a:t>从数据的维度扩展，如果数据是在多维数组中呢？ </a:t>
            </a:r>
          </a:p>
          <a:p>
            <a:pPr lvl="1">
              <a:lnSpc>
                <a:spcPct val="120000"/>
              </a:lnSpc>
            </a:pPr>
            <a:r>
              <a:rPr lang="zh-CN" altLang="en-US" dirty="0"/>
              <a:t>从数据的其他属性扩展，例如，如果你的程序能处理北京的地铁数据，如何改进你的 程序，让它能动态处理上海或其他城市的数据呢？这样程序就要引入某种抽象来表示“地点”，而不是僵化地假设数据就是北京的。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(2)</a:t>
            </a:r>
            <a:endParaRPr lang="en-US" dirty="0"/>
          </a:p>
        </p:txBody>
      </p:sp>
      <p:sp>
        <p:nvSpPr>
          <p:cNvPr id="3" name="Content Placeholder 2"/>
          <p:cNvSpPr>
            <a:spLocks noGrp="1"/>
          </p:cNvSpPr>
          <p:nvPr>
            <p:ph idx="1"/>
          </p:nvPr>
        </p:nvSpPr>
        <p:spPr/>
        <p:txBody>
          <a:bodyPr>
            <a:normAutofit fontScale="70000" lnSpcReduction="20000"/>
          </a:bodyPr>
          <a:lstStyle/>
          <a:p>
            <a:pPr>
              <a:lnSpc>
                <a:spcPct val="120000"/>
              </a:lnSpc>
            </a:pPr>
            <a:r>
              <a:rPr lang="zh-CN" altLang="en-US" dirty="0"/>
              <a:t>从需求方面扩展</a:t>
            </a:r>
            <a:r>
              <a:rPr lang="en-US" altLang="zh-CN" dirty="0"/>
              <a:t>, </a:t>
            </a:r>
            <a:r>
              <a:rPr lang="zh-CN" altLang="en-US" dirty="0"/>
              <a:t>很多程序的需求都是非常抽象，可以用数学公式描述和验证的，例如：“找出数组中的最大值”，然而实际需求的复杂度往往超过了数学公式的表达能力。请考虑下面几种扩展的方式： </a:t>
            </a:r>
          </a:p>
          <a:p>
            <a:pPr lvl="1">
              <a:lnSpc>
                <a:spcPct val="120000"/>
              </a:lnSpc>
            </a:pPr>
            <a:r>
              <a:rPr lang="zh-CN" altLang="en-US" dirty="0"/>
              <a:t>不是仅仅要求结果，而是要让程序把计算的过程显示出来。请搜索各种“动画显示排 序过程”的资料，然后自己实现一下。</a:t>
            </a:r>
          </a:p>
          <a:p>
            <a:pPr lvl="1">
              <a:lnSpc>
                <a:spcPct val="120000"/>
              </a:lnSpc>
            </a:pPr>
            <a:r>
              <a:rPr lang="zh-CN" altLang="en-US" dirty="0"/>
              <a:t>从需求的维度方面扩展，例如学生写了一个“统计程序有多少行” 的程序，我们可以 进一步要求，能把注释行、空行、只有一个字符的行去掉么？能处理目录里面的多个文件么？ </a:t>
            </a:r>
          </a:p>
          <a:p>
            <a:pPr lvl="1">
              <a:lnSpc>
                <a:spcPct val="120000"/>
              </a:lnSpc>
            </a:pPr>
            <a:r>
              <a:rPr lang="zh-CN" altLang="en-US" dirty="0"/>
              <a:t>重复一个成熟的、学生比较熟悉的需求，这也是可行的，关键是要体现“ 工程”的特 点。 例如做一个文档编辑软件，要求能处理</a:t>
            </a:r>
            <a:r>
              <a:rPr lang="en-US" altLang="zh-CN" dirty="0"/>
              <a:t>10M </a:t>
            </a:r>
            <a:r>
              <a:rPr lang="zh-CN" altLang="en-US" dirty="0"/>
              <a:t>大小的文本文件；做一个图书信息系统，要求有</a:t>
            </a:r>
            <a:r>
              <a:rPr lang="en-US" altLang="zh-CN" dirty="0"/>
              <a:t>10 </a:t>
            </a:r>
            <a:r>
              <a:rPr lang="zh-CN" altLang="en-US" dirty="0"/>
              <a:t>万本书，</a:t>
            </a:r>
            <a:r>
              <a:rPr lang="en-US" altLang="zh-CN" dirty="0"/>
              <a:t>100 </a:t>
            </a:r>
            <a:r>
              <a:rPr lang="zh-CN" altLang="en-US" dirty="0"/>
              <a:t>万条借</a:t>
            </a:r>
            <a:r>
              <a:rPr lang="en-US" altLang="zh-CN" dirty="0"/>
              <a:t>/ </a:t>
            </a:r>
            <a:r>
              <a:rPr lang="zh-CN" altLang="en-US" dirty="0"/>
              <a:t>还书记录。很多同学做的图书馆信息系统只有不到</a:t>
            </a:r>
            <a:r>
              <a:rPr lang="en-US" altLang="zh-CN" dirty="0"/>
              <a:t>10 </a:t>
            </a:r>
            <a:r>
              <a:rPr lang="zh-CN" altLang="en-US" dirty="0"/>
              <a:t>本书的记录，这是图书馆么？ </a:t>
            </a:r>
          </a:p>
          <a:p>
            <a:pPr lvl="1">
              <a:lnSpc>
                <a:spcPct val="120000"/>
              </a:lnSpc>
            </a:pPr>
            <a:r>
              <a:rPr lang="zh-CN" altLang="en-US" dirty="0"/>
              <a:t>在已有的需求上增量改进，例如，让文档编辑软件支持 </a:t>
            </a:r>
            <a:r>
              <a:rPr lang="en-US" altLang="zh-CN" dirty="0"/>
              <a:t>markdown </a:t>
            </a:r>
            <a:r>
              <a:rPr lang="zh-CN" altLang="en-US" dirty="0"/>
              <a:t>语法，支持无限的 “后悔”操作；让图书馆信息系统支持手机客户端。如果图形编辑器支持三种图形模板，现在引入五种新的模板，在这种情况下，程序员就会审视自己的设计是否能遵循一些设计原则，来高效率地满足需求。</a:t>
            </a:r>
          </a:p>
          <a:p>
            <a:pPr lvl="1">
              <a:lnSpc>
                <a:spcPct val="120000"/>
              </a:lnSpc>
            </a:pPr>
            <a:r>
              <a:rPr lang="zh-CN" altLang="en-US" dirty="0"/>
              <a:t>探索创新的方式来满足已有的需求，或即将出现的需求。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(3)</a:t>
            </a:r>
            <a:endParaRPr lang="en-US" dirty="0"/>
          </a:p>
        </p:txBody>
      </p:sp>
      <p:sp>
        <p:nvSpPr>
          <p:cNvPr id="3" name="Content Placeholder 2"/>
          <p:cNvSpPr>
            <a:spLocks noGrp="1"/>
          </p:cNvSpPr>
          <p:nvPr>
            <p:ph idx="1"/>
          </p:nvPr>
        </p:nvSpPr>
        <p:spPr/>
        <p:txBody>
          <a:bodyPr>
            <a:normAutofit fontScale="92500" lnSpcReduction="10000"/>
          </a:bodyPr>
          <a:lstStyle/>
          <a:p>
            <a:pPr>
              <a:lnSpc>
                <a:spcPct val="120000"/>
              </a:lnSpc>
            </a:pPr>
            <a:r>
              <a:rPr lang="zh-CN" altLang="en-US" dirty="0"/>
              <a:t>从用户方面扩展：绝大部分大作业都是单机运行，给一个用户（老师）看一次，看完就万事大吉。我们可以考虑下面的扩展方式： </a:t>
            </a:r>
          </a:p>
          <a:p>
            <a:pPr lvl="1">
              <a:lnSpc>
                <a:spcPct val="120000"/>
              </a:lnSpc>
            </a:pPr>
            <a:r>
              <a:rPr lang="zh-CN" altLang="en-US" dirty="0"/>
              <a:t>单用户第二次使用这个软件的时候，能有什么功能，让单用户更喜欢这个软件？（例 如：记住上次的状态，自动展现上次文档最后编辑的地方，等等。） </a:t>
            </a:r>
          </a:p>
          <a:p>
            <a:pPr lvl="1">
              <a:lnSpc>
                <a:spcPct val="120000"/>
              </a:lnSpc>
            </a:pPr>
            <a:r>
              <a:rPr lang="zh-CN" altLang="en-US" dirty="0"/>
              <a:t>如果多用户使用这个系统，会出现什么问题，例如，学生的图书馆信息系统考虑到有 </a:t>
            </a:r>
            <a:r>
              <a:rPr lang="en-US" altLang="zh-CN" dirty="0"/>
              <a:t>100 </a:t>
            </a:r>
            <a:r>
              <a:rPr lang="zh-CN" altLang="en-US" dirty="0"/>
              <a:t>人同时查询的情况么？如何模拟这样的测试？我们在课堂上让几十个学生玩的“黄金点”游戏，如果是全世界的用户都可以编程序玩这个游戏，会出现什么</a:t>
            </a:r>
            <a:r>
              <a:rPr lang="en-US" altLang="zh-CN" dirty="0"/>
              <a:t>9 </a:t>
            </a:r>
            <a:r>
              <a:rPr lang="zh-CN" altLang="en-US" dirty="0"/>
              <a:t>？如何设计游戏的服务？ </a:t>
            </a:r>
          </a:p>
          <a:p>
            <a:pPr lvl="1">
              <a:lnSpc>
                <a:spcPct val="120000"/>
              </a:lnSpc>
            </a:pPr>
            <a:r>
              <a:rPr lang="zh-CN" altLang="en-US" dirty="0"/>
              <a:t>用户从世界各地来，怎么办？你的“程序”能提供多种语言的界面么？ </a:t>
            </a:r>
          </a:p>
          <a:p>
            <a:pPr lvl="1">
              <a:lnSpc>
                <a:spcPct val="120000"/>
              </a:lnSpc>
            </a:pPr>
            <a:r>
              <a:rPr lang="zh-CN" altLang="en-US" dirty="0"/>
              <a:t>用户有善意的和恶意的，如何让你的程序更安全？如何测试安全性？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(4)</a:t>
            </a:r>
            <a:endParaRPr lang="en-US" dirty="0"/>
          </a:p>
        </p:txBody>
      </p:sp>
      <p:sp>
        <p:nvSpPr>
          <p:cNvPr id="3" name="Content Placeholder 2"/>
          <p:cNvSpPr>
            <a:spLocks noGrp="1"/>
          </p:cNvSpPr>
          <p:nvPr>
            <p:ph idx="1"/>
          </p:nvPr>
        </p:nvSpPr>
        <p:spPr/>
        <p:txBody>
          <a:bodyPr/>
          <a:lstStyle/>
          <a:p>
            <a:r>
              <a:rPr lang="zh-CN" altLang="en-US" dirty="0"/>
              <a:t>从软件构建方面扩展： </a:t>
            </a:r>
          </a:p>
          <a:p>
            <a:pPr lvl="1"/>
            <a:r>
              <a:rPr lang="zh-CN" altLang="en-US" dirty="0"/>
              <a:t>如果是把一个已有的软件从一个平台迁移到另一个平台，怎么办？ </a:t>
            </a:r>
          </a:p>
          <a:p>
            <a:pPr lvl="1"/>
            <a:r>
              <a:rPr lang="zh-CN" altLang="en-US" dirty="0"/>
              <a:t>大多数的“程序”都是用单一的语言写的，如果软件有多个语言写成的不同模块，如 何定义彼此的接口（</a:t>
            </a:r>
            <a:r>
              <a:rPr lang="en-US" altLang="zh-CN" dirty="0"/>
              <a:t>API</a:t>
            </a:r>
            <a:r>
              <a:rPr lang="zh-CN" altLang="en-US" dirty="0"/>
              <a:t>） ？ </a:t>
            </a:r>
          </a:p>
          <a:p>
            <a:pPr lvl="1"/>
            <a:r>
              <a:rPr lang="zh-CN" altLang="en-US" dirty="0"/>
              <a:t>如果软件已经在服务中（例如图书馆信息系统），如何升级部分模块，同时尽量减少 系统下线的时间？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构建软件的步骤</a:t>
            </a:r>
            <a:endParaRPr lang="en-US" dirty="0"/>
          </a:p>
        </p:txBody>
      </p:sp>
      <p:sp>
        <p:nvSpPr>
          <p:cNvPr id="3" name="Content Placeholder 2"/>
          <p:cNvSpPr>
            <a:spLocks noGrp="1"/>
          </p:cNvSpPr>
          <p:nvPr>
            <p:ph idx="1"/>
          </p:nvPr>
        </p:nvSpPr>
        <p:spPr/>
        <p:txBody>
          <a:bodyPr>
            <a:normAutofit/>
          </a:bodyPr>
          <a:lstStyle/>
          <a:p>
            <a:pPr marL="118745" indent="0">
              <a:buNone/>
            </a:pPr>
            <a:r>
              <a:rPr lang="zh-CN" altLang="en-US" dirty="0"/>
              <a:t>通过锻炼过来，我们可以看出一个从实践出发的构建软件的步骤：</a:t>
            </a:r>
          </a:p>
          <a:p>
            <a:pPr marL="925830" lvl="1" indent="-514350">
              <a:buFont typeface="+mj-lt"/>
              <a:buAutoNum type="arabicPeriod"/>
            </a:pPr>
            <a:r>
              <a:rPr lang="en-US" dirty="0"/>
              <a:t>make it work   </a:t>
            </a:r>
            <a:r>
              <a:rPr lang="zh-CN" altLang="en-US" dirty="0"/>
              <a:t>先把最主要的情况处理对，程序能跑起来</a:t>
            </a:r>
          </a:p>
          <a:p>
            <a:pPr marL="925830" lvl="1" indent="-514350">
              <a:buFont typeface="+mj-lt"/>
              <a:buAutoNum type="arabicPeriod"/>
            </a:pPr>
            <a:r>
              <a:rPr lang="en-US" dirty="0"/>
              <a:t>make it right   </a:t>
            </a:r>
            <a:r>
              <a:rPr lang="zh-CN" altLang="en-US" dirty="0"/>
              <a:t>再把各种情况处理好</a:t>
            </a:r>
          </a:p>
          <a:p>
            <a:pPr marL="925830" lvl="1" indent="-514350">
              <a:buFont typeface="+mj-lt"/>
              <a:buAutoNum type="arabicPeriod"/>
            </a:pPr>
            <a:r>
              <a:rPr lang="en-US" dirty="0"/>
              <a:t>make it fast    </a:t>
            </a:r>
            <a:r>
              <a:rPr lang="zh-CN" altLang="en-US" dirty="0"/>
              <a:t>优化速度</a:t>
            </a:r>
          </a:p>
          <a:p>
            <a:pPr marL="925830" lvl="1" indent="-514350">
              <a:buFont typeface="+mj-lt"/>
              <a:buAutoNum type="arabicPeriod"/>
            </a:pPr>
            <a:r>
              <a:rPr lang="en-US" dirty="0"/>
              <a:t>make it extensible    </a:t>
            </a:r>
            <a:r>
              <a:rPr lang="zh-CN" altLang="en-US" dirty="0"/>
              <a:t>让程序可扩展，既然能处理这个问题，我们让它处理一些扩展问题如何？</a:t>
            </a:r>
          </a:p>
          <a:p>
            <a:pPr marL="925830" lvl="1" indent="-514350">
              <a:buFont typeface="+mj-lt"/>
              <a:buAutoNum type="arabicPeriod"/>
            </a:pPr>
            <a:r>
              <a:rPr lang="en-US" dirty="0"/>
              <a:t>make it maintainable     </a:t>
            </a:r>
            <a:r>
              <a:rPr lang="zh-CN" altLang="en-US" dirty="0"/>
              <a:t>让程序可读，可维护。</a:t>
            </a:r>
          </a:p>
          <a:p>
            <a:pPr marL="925830" lvl="1" indent="-514350">
              <a:buFont typeface="+mj-lt"/>
              <a:buAutoNum type="arabicPeriod"/>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解决问题的流程</a:t>
            </a:r>
            <a:endParaRPr lang="en-US" dirty="0"/>
          </a:p>
        </p:txBody>
      </p:sp>
      <p:sp>
        <p:nvSpPr>
          <p:cNvPr id="3" name="内容占位符 2"/>
          <p:cNvSpPr>
            <a:spLocks noGrp="1"/>
          </p:cNvSpPr>
          <p:nvPr>
            <p:ph idx="1"/>
          </p:nvPr>
        </p:nvSpPr>
        <p:spPr/>
        <p:txBody>
          <a:bodyPr>
            <a:normAutofit/>
          </a:bodyPr>
          <a:lstStyle/>
          <a:p>
            <a:r>
              <a:rPr lang="zh-CN" altLang="en-US" dirty="0"/>
              <a:t>让同学们熟悉解决问题的流程</a:t>
            </a:r>
            <a:endParaRPr lang="en-US" altLang="zh-CN" dirty="0"/>
          </a:p>
          <a:p>
            <a:pPr marL="971550" lvl="1" indent="-514350">
              <a:buFont typeface="+mj-lt"/>
              <a:buAutoNum type="arabicPeriod"/>
            </a:pPr>
            <a:r>
              <a:rPr lang="zh-CN" altLang="en-US" dirty="0"/>
              <a:t>分析问题</a:t>
            </a:r>
            <a:endParaRPr lang="en-US" altLang="zh-CN" dirty="0"/>
          </a:p>
          <a:p>
            <a:pPr marL="971550" lvl="1" indent="-514350">
              <a:buFont typeface="+mj-lt"/>
              <a:buAutoNum type="arabicPeriod"/>
            </a:pPr>
            <a:r>
              <a:rPr lang="zh-CN" altLang="en-US" dirty="0"/>
              <a:t>形成方案</a:t>
            </a:r>
            <a:endParaRPr lang="en-US" altLang="zh-CN" dirty="0"/>
          </a:p>
          <a:p>
            <a:pPr marL="971550" lvl="1" indent="-514350">
              <a:buFont typeface="+mj-lt"/>
              <a:buAutoNum type="arabicPeriod"/>
            </a:pPr>
            <a:r>
              <a:rPr lang="zh-CN" altLang="en-US" dirty="0"/>
              <a:t>探索、尝试解决问题</a:t>
            </a:r>
            <a:endParaRPr lang="en-US" altLang="zh-CN" dirty="0"/>
          </a:p>
          <a:p>
            <a:pPr marL="971550" lvl="1" indent="-514350">
              <a:buFont typeface="+mj-lt"/>
              <a:buAutoNum type="arabicPeriod"/>
            </a:pPr>
            <a:r>
              <a:rPr lang="zh-CN" altLang="en-US" dirty="0"/>
              <a:t>确保质量 （单元测试）</a:t>
            </a:r>
            <a:endParaRPr lang="en-US" altLang="zh-CN" dirty="0"/>
          </a:p>
          <a:p>
            <a:pPr marL="971550" lvl="1" indent="-514350">
              <a:buFont typeface="+mj-lt"/>
              <a:buAutoNum type="arabicPeriod"/>
            </a:pPr>
            <a:r>
              <a:rPr lang="zh-CN" altLang="en-US" dirty="0"/>
              <a:t>重构程序以满足不断变化的需求</a:t>
            </a:r>
            <a:endParaRPr lang="en-US" altLang="zh-CN" dirty="0"/>
          </a:p>
          <a:p>
            <a:pPr marL="971550" lvl="1" indent="-514350">
              <a:buFont typeface="+mj-lt"/>
              <a:buAutoNum type="arabicPeriod"/>
            </a:pPr>
            <a:r>
              <a:rPr lang="zh-CN" altLang="en-US" dirty="0"/>
              <a:t>（回到第一步，解决新问题）</a:t>
            </a:r>
            <a:endParaRPr lang="en-US" altLang="zh-CN" dirty="0"/>
          </a:p>
          <a:p>
            <a:pPr marL="678815" indent="-514350"/>
            <a:r>
              <a:rPr lang="zh-CN" altLang="en-US" dirty="0"/>
              <a:t>还可以从单元测试开始</a:t>
            </a:r>
            <a:endParaRPr lang="en-US" altLang="zh-CN" dirty="0"/>
          </a:p>
          <a:p>
            <a:pPr marL="971550" lvl="1" indent="-514350"/>
            <a:r>
              <a:rPr lang="en-US" altLang="zh-CN"/>
              <a:t>Test-Driven-Development</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z="4000" dirty="0"/>
              <a:t>What Consists of SE?</a:t>
            </a:r>
            <a:endParaRPr lang="en-US" dirty="0"/>
          </a:p>
        </p:txBody>
      </p:sp>
      <p:sp>
        <p:nvSpPr>
          <p:cNvPr id="3" name="Content Placeholder 2"/>
          <p:cNvSpPr>
            <a:spLocks noGrp="1"/>
          </p:cNvSpPr>
          <p:nvPr>
            <p:ph idx="1"/>
          </p:nvPr>
        </p:nvSpPr>
        <p:spPr/>
        <p:txBody>
          <a:bodyPr>
            <a:normAutofit/>
          </a:bodyPr>
          <a:lstStyle/>
          <a:p>
            <a:pPr marL="5080" indent="-5080">
              <a:buClr>
                <a:schemeClr val="accent3"/>
              </a:buClr>
              <a:buNone/>
              <a:defRPr/>
            </a:pPr>
            <a:r>
              <a:rPr lang="en-US" sz="2400" dirty="0"/>
              <a:t>It encompasses techniques and procedures, often regulated by a </a:t>
            </a:r>
            <a:r>
              <a:rPr lang="en-US" sz="2400" b="1" dirty="0"/>
              <a:t>software development process</a:t>
            </a:r>
            <a:r>
              <a:rPr lang="en-US" sz="2400" dirty="0"/>
              <a:t>, with the purpose of improving the effectiveness, reliability, and maintainability of software systems.</a:t>
            </a:r>
            <a:endParaRPr lang="en-US" sz="2400" baseline="30000" dirty="0"/>
          </a:p>
          <a:p>
            <a:pPr marL="274320" indent="-274320">
              <a:buClr>
                <a:schemeClr val="accent3"/>
              </a:buClr>
              <a:buNone/>
              <a:defRPr/>
            </a:pPr>
            <a:r>
              <a:rPr lang="en-US" dirty="0"/>
              <a:t>We have:</a:t>
            </a:r>
          </a:p>
          <a:p>
            <a:pPr>
              <a:buClr>
                <a:schemeClr val="accent3"/>
              </a:buClr>
              <a:defRPr/>
            </a:pPr>
            <a:r>
              <a:rPr lang="en-US" dirty="0"/>
              <a:t>Personal Software Process</a:t>
            </a:r>
          </a:p>
          <a:p>
            <a:pPr>
              <a:buClr>
                <a:schemeClr val="accent3"/>
              </a:buClr>
              <a:defRPr/>
            </a:pPr>
            <a:endParaRPr lang="en-US" dirty="0"/>
          </a:p>
          <a:p>
            <a:pPr>
              <a:buClr>
                <a:schemeClr val="accent3"/>
              </a:buClr>
              <a:defRPr/>
            </a:pPr>
            <a:endParaRPr lang="en-US" dirty="0"/>
          </a:p>
          <a:p>
            <a:pPr>
              <a:buClr>
                <a:schemeClr val="accent3"/>
              </a:buClr>
              <a:defRPr/>
            </a:pPr>
            <a:r>
              <a:rPr lang="en-US" dirty="0"/>
              <a:t>Team Software Process</a:t>
            </a:r>
          </a:p>
        </p:txBody>
      </p:sp>
      <p:pic>
        <p:nvPicPr>
          <p:cNvPr id="1026" name="Picture 2" descr="C:\Program Files\Microsoft Office\MEDIA\CAGCAT10\j0195384.wmf"/>
          <p:cNvPicPr>
            <a:picLocks noChangeAspect="1" noChangeArrowheads="1"/>
          </p:cNvPicPr>
          <p:nvPr/>
        </p:nvPicPr>
        <p:blipFill>
          <a:blip r:embed="rId2" cstate="print"/>
          <a:srcRect/>
          <a:stretch>
            <a:fillRect/>
          </a:stretch>
        </p:blipFill>
        <p:spPr bwMode="auto">
          <a:xfrm>
            <a:off x="6934200" y="2819400"/>
            <a:ext cx="1795882" cy="1833372"/>
          </a:xfrm>
          <a:prstGeom prst="rect">
            <a:avLst/>
          </a:prstGeom>
          <a:noFill/>
        </p:spPr>
      </p:pic>
      <p:pic>
        <p:nvPicPr>
          <p:cNvPr id="1027" name="Picture 3" descr="C:\Users\xinz.000\AppData\Local\Microsoft\Windows\Temporary Internet Files\Content.IE5\7YP7J5AX\MCj04369980000[1].wmf"/>
          <p:cNvPicPr>
            <a:picLocks noChangeAspect="1" noChangeArrowheads="1"/>
          </p:cNvPicPr>
          <p:nvPr/>
        </p:nvPicPr>
        <p:blipFill>
          <a:blip r:embed="rId3" cstate="print"/>
          <a:srcRect/>
          <a:stretch>
            <a:fillRect/>
          </a:stretch>
        </p:blipFill>
        <p:spPr bwMode="auto">
          <a:xfrm>
            <a:off x="6781800" y="4800600"/>
            <a:ext cx="2246046" cy="1447800"/>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2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0"/>
                                  </p:iterate>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7"/>
                                        </p:tgtEl>
                                        <p:attrNameLst>
                                          <p:attrName>style.visibility</p:attrName>
                                        </p:attrNameLst>
                                      </p:cBhvr>
                                      <p:to>
                                        <p:strVal val="visible"/>
                                      </p:to>
                                    </p:set>
                                    <p:animEffect transition="in" filter="fade">
                                      <p:cBhvr>
                                        <p:cTn id="32"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Soccer as Example </a:t>
            </a:r>
          </a:p>
        </p:txBody>
      </p:sp>
      <p:sp>
        <p:nvSpPr>
          <p:cNvPr id="3" name="Content Placeholder 2"/>
          <p:cNvSpPr>
            <a:spLocks noGrp="1"/>
          </p:cNvSpPr>
          <p:nvPr>
            <p:ph idx="1"/>
          </p:nvPr>
        </p:nvSpPr>
        <p:spPr>
          <a:xfrm>
            <a:off x="1981200" y="1600200"/>
            <a:ext cx="4114800" cy="4876800"/>
          </a:xfrm>
        </p:spPr>
        <p:txBody>
          <a:bodyPr>
            <a:normAutofit fontScale="92500" lnSpcReduction="10000"/>
          </a:bodyPr>
          <a:lstStyle/>
          <a:p>
            <a:r>
              <a:rPr lang="en-US" dirty="0"/>
              <a:t>Personal Soccer Process</a:t>
            </a:r>
          </a:p>
          <a:p>
            <a:pPr lvl="1"/>
            <a:r>
              <a:rPr lang="zh-CN" altLang="en-US" dirty="0"/>
              <a:t>体能</a:t>
            </a:r>
            <a:endParaRPr lang="en-US" altLang="zh-CN" dirty="0"/>
          </a:p>
          <a:p>
            <a:pPr lvl="1"/>
            <a:r>
              <a:rPr lang="zh-CN" altLang="en-US" dirty="0"/>
              <a:t>技术</a:t>
            </a:r>
            <a:endParaRPr lang="en-US" altLang="zh-CN" dirty="0"/>
          </a:p>
          <a:p>
            <a:pPr lvl="1"/>
            <a:r>
              <a:rPr lang="zh-CN" altLang="en-US" dirty="0"/>
              <a:t>意识</a:t>
            </a:r>
            <a:endParaRPr lang="en-US" altLang="zh-CN" dirty="0"/>
          </a:p>
          <a:p>
            <a:pPr lvl="1"/>
            <a:r>
              <a:rPr lang="en-US" altLang="zh-CN" dirty="0"/>
              <a:t>Ph.D. degree? </a:t>
            </a:r>
          </a:p>
          <a:p>
            <a:pPr lvl="1"/>
            <a:r>
              <a:rPr lang="en-US" altLang="zh-CN" dirty="0"/>
              <a:t>C.S. student?</a:t>
            </a:r>
            <a:endParaRPr lang="en-US" dirty="0"/>
          </a:p>
          <a:p>
            <a:endParaRPr lang="en-US" dirty="0"/>
          </a:p>
          <a:p>
            <a:r>
              <a:rPr lang="en-US" dirty="0"/>
              <a:t>Team Soccer Process</a:t>
            </a:r>
          </a:p>
          <a:p>
            <a:pPr lvl="1"/>
            <a:r>
              <a:rPr lang="zh-CN" altLang="en-US" dirty="0"/>
              <a:t>阵型</a:t>
            </a:r>
            <a:endParaRPr lang="en-US" altLang="zh-CN" dirty="0"/>
          </a:p>
          <a:p>
            <a:pPr lvl="1"/>
            <a:r>
              <a:rPr lang="zh-CN" altLang="en-US" dirty="0"/>
              <a:t>配合</a:t>
            </a:r>
            <a:endParaRPr lang="en-US" altLang="zh-CN" dirty="0"/>
          </a:p>
          <a:p>
            <a:pPr lvl="1"/>
            <a:r>
              <a:rPr lang="zh-CN" altLang="en-US" dirty="0"/>
              <a:t>临场</a:t>
            </a:r>
            <a:endParaRPr lang="en-US" altLang="zh-CN" dirty="0"/>
          </a:p>
          <a:p>
            <a:r>
              <a:rPr lang="en-US" altLang="zh-CN" dirty="0"/>
              <a:t>Process is not the goal. </a:t>
            </a:r>
          </a:p>
          <a:p>
            <a:r>
              <a:rPr lang="en-US" altLang="zh-CN" dirty="0"/>
              <a:t>Winning is the goal. </a:t>
            </a:r>
            <a:endParaRPr lang="en-US" dirty="0"/>
          </a:p>
          <a:p>
            <a:pPr>
              <a:buNone/>
            </a:pPr>
            <a:endParaRPr lang="en-US" dirty="0"/>
          </a:p>
        </p:txBody>
      </p:sp>
      <p:pic>
        <p:nvPicPr>
          <p:cNvPr id="1031" name="Picture 7" descr="http://t1.gstatic.com/images?q=tbn:Ervd0cBao52trM:http://s3.amazonaws.com/pixmac-preview/soccer-player-silhouettes-1.jpg">
            <a:hlinkClick r:id="rId3"/>
          </p:cNvPr>
          <p:cNvPicPr>
            <a:picLocks noChangeAspect="1" noChangeArrowheads="1"/>
          </p:cNvPicPr>
          <p:nvPr/>
        </p:nvPicPr>
        <p:blipFill>
          <a:blip r:embed="rId4" cstate="print"/>
          <a:srcRect/>
          <a:stretch>
            <a:fillRect/>
          </a:stretch>
        </p:blipFill>
        <p:spPr bwMode="auto">
          <a:xfrm>
            <a:off x="6477000" y="1524001"/>
            <a:ext cx="2971800" cy="2276785"/>
          </a:xfrm>
          <a:prstGeom prst="rect">
            <a:avLst/>
          </a:prstGeom>
          <a:noFill/>
        </p:spPr>
      </p:pic>
      <p:pic>
        <p:nvPicPr>
          <p:cNvPr id="1034" name="Picture 10"/>
          <p:cNvPicPr>
            <a:picLocks noChangeAspect="1" noChangeArrowheads="1"/>
          </p:cNvPicPr>
          <p:nvPr/>
        </p:nvPicPr>
        <p:blipFill>
          <a:blip r:embed="rId5" cstate="print"/>
          <a:srcRect/>
          <a:stretch>
            <a:fillRect/>
          </a:stretch>
        </p:blipFill>
        <p:spPr bwMode="auto">
          <a:xfrm>
            <a:off x="6248400" y="4114800"/>
            <a:ext cx="3692906" cy="2552700"/>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1"/>
                                        </p:tgtEl>
                                        <p:attrNameLst>
                                          <p:attrName>style.visibility</p:attrName>
                                        </p:attrNameLst>
                                      </p:cBhvr>
                                      <p:to>
                                        <p:strVal val="visible"/>
                                      </p:to>
                                    </p:set>
                                    <p:animEffect transition="in" filter="fade">
                                      <p:cBhvr>
                                        <p:cTn id="12" dur="2000"/>
                                        <p:tgtEl>
                                          <p:spTgt spid="103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34"/>
                                        </p:tgtEl>
                                        <p:attrNameLst>
                                          <p:attrName>style.visibility</p:attrName>
                                        </p:attrNameLst>
                                      </p:cBhvr>
                                      <p:to>
                                        <p:strVal val="visible"/>
                                      </p:to>
                                    </p:set>
                                    <p:animEffect transition="in" filter="fade">
                                      <p:cBhvr>
                                        <p:cTn id="37" dur="2000"/>
                                        <p:tgtEl>
                                          <p:spTgt spid="10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2000"/>
                                        <p:tgtEl>
                                          <p:spTgt spid="3">
                                            <p:txEl>
                                              <p:pRg st="8" end="8"/>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2000"/>
                                        <p:tgtEl>
                                          <p:spTgt spid="3">
                                            <p:txEl>
                                              <p:pRg st="9" end="9"/>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animEffect transition="in" filter="fade">
                                      <p:cBhvr>
                                        <p:cTn id="46" dur="2000"/>
                                        <p:tgtEl>
                                          <p:spTgt spid="3">
                                            <p:txEl>
                                              <p:pRg st="1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Effect transition="in" filter="fade">
                                      <p:cBhvr>
                                        <p:cTn id="51" dur="2000"/>
                                        <p:tgtEl>
                                          <p:spTgt spid="3">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
                                            <p:txEl>
                                              <p:pRg st="12" end="12"/>
                                            </p:txEl>
                                          </p:spTgt>
                                        </p:tgtEl>
                                        <p:attrNameLst>
                                          <p:attrName>style.visibility</p:attrName>
                                        </p:attrNameLst>
                                      </p:cBhvr>
                                      <p:to>
                                        <p:strVal val="visible"/>
                                      </p:to>
                                    </p:set>
                                    <p:animEffect transition="in" filter="fade">
                                      <p:cBhvr>
                                        <p:cTn id="56"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a:t>Role of “individual”</a:t>
            </a:r>
          </a:p>
        </p:txBody>
      </p:sp>
      <p:sp>
        <p:nvSpPr>
          <p:cNvPr id="11266" name="Content Placeholder 1"/>
          <p:cNvSpPr>
            <a:spLocks noGrp="1"/>
          </p:cNvSpPr>
          <p:nvPr>
            <p:ph idx="1"/>
          </p:nvPr>
        </p:nvSpPr>
        <p:spPr/>
        <p:txBody>
          <a:bodyPr>
            <a:normAutofit/>
          </a:bodyPr>
          <a:lstStyle/>
          <a:p>
            <a:r>
              <a:rPr lang="en-US" dirty="0"/>
              <a:t>Most components in a software system is developed and maintained by Individual Contributor (IC)</a:t>
            </a:r>
          </a:p>
          <a:p>
            <a:r>
              <a:rPr lang="en-US" dirty="0"/>
              <a:t>IC needs to – </a:t>
            </a:r>
          </a:p>
          <a:p>
            <a:pPr lvl="1"/>
            <a:r>
              <a:rPr lang="en-US" sz="2000" dirty="0"/>
              <a:t>Understand the current situation</a:t>
            </a:r>
          </a:p>
          <a:p>
            <a:pPr lvl="1"/>
            <a:r>
              <a:rPr lang="en-US" sz="2000" dirty="0"/>
              <a:t>Find the solution</a:t>
            </a:r>
          </a:p>
          <a:p>
            <a:pPr lvl="1"/>
            <a:r>
              <a:rPr lang="en-US" sz="2000" dirty="0"/>
              <a:t>Estimate the work</a:t>
            </a:r>
          </a:p>
          <a:p>
            <a:pPr lvl="1"/>
            <a:r>
              <a:rPr lang="en-US" sz="2000" dirty="0"/>
              <a:t>Communicate the proposal to stake holders and customers</a:t>
            </a:r>
          </a:p>
          <a:p>
            <a:pPr lvl="1"/>
            <a:r>
              <a:rPr lang="en-US" sz="2000" dirty="0"/>
              <a:t>Carry out the work</a:t>
            </a:r>
          </a:p>
          <a:p>
            <a:pPr lvl="1"/>
            <a:r>
              <a:rPr lang="en-US" sz="2000" dirty="0"/>
              <a:t>Be accountable for the outcome</a:t>
            </a:r>
          </a:p>
          <a:p>
            <a:r>
              <a:rPr lang="en-US" dirty="0"/>
              <a:t>The quality of each individual can directly affect the quality of shipped product. </a:t>
            </a:r>
          </a:p>
        </p:txBody>
      </p:sp>
    </p:spTree>
  </p:cSld>
  <p:clrMapOvr>
    <a:masterClrMapping/>
  </p:clrMapOvr>
  <p:transition>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Are You Doing?</a:t>
            </a:r>
          </a:p>
        </p:txBody>
      </p:sp>
      <p:sp>
        <p:nvSpPr>
          <p:cNvPr id="3" name="Content Placeholder 2"/>
          <p:cNvSpPr>
            <a:spLocks noGrp="1"/>
          </p:cNvSpPr>
          <p:nvPr>
            <p:ph idx="1"/>
          </p:nvPr>
        </p:nvSpPr>
        <p:spPr/>
        <p:txBody>
          <a:bodyPr>
            <a:normAutofit fontScale="62500" lnSpcReduction="20000"/>
          </a:bodyPr>
          <a:lstStyle/>
          <a:p>
            <a:pPr>
              <a:lnSpc>
                <a:spcPct val="120000"/>
              </a:lnSpc>
            </a:pPr>
            <a:r>
              <a:rPr lang="zh-CN" altLang="en-US" dirty="0"/>
              <a:t>作为一个软件工程师</a:t>
            </a:r>
            <a:r>
              <a:rPr lang="en-US" altLang="zh-CN" dirty="0"/>
              <a:t>, </a:t>
            </a:r>
            <a:r>
              <a:rPr lang="zh-CN" altLang="en-US" dirty="0"/>
              <a:t>你觉得自己表现如何</a:t>
            </a:r>
            <a:r>
              <a:rPr lang="en-US" altLang="zh-CN" dirty="0"/>
              <a:t>?</a:t>
            </a:r>
          </a:p>
          <a:p>
            <a:pPr>
              <a:lnSpc>
                <a:spcPct val="120000"/>
              </a:lnSpc>
            </a:pPr>
            <a:r>
              <a:rPr lang="zh-CN" altLang="en-US" dirty="0"/>
              <a:t>有没有这样的体会</a:t>
            </a:r>
            <a:r>
              <a:rPr lang="en-US" altLang="zh-CN" dirty="0"/>
              <a:t>:</a:t>
            </a:r>
          </a:p>
          <a:p>
            <a:pPr lvl="1">
              <a:lnSpc>
                <a:spcPct val="120000"/>
              </a:lnSpc>
            </a:pPr>
            <a:r>
              <a:rPr lang="zh-CN" altLang="en-US" dirty="0"/>
              <a:t>看书的时候觉得“技止此耳”，开发项目的时候才觉得实际情况和书上讲的都有一些出入，一些重要的细节书上没有提。很多人是边看</a:t>
            </a:r>
            <a:r>
              <a:rPr lang="en-US" altLang="zh-CN" dirty="0"/>
              <a:t>asp.net</a:t>
            </a:r>
            <a:r>
              <a:rPr lang="zh-CN" altLang="en-US" dirty="0"/>
              <a:t>的书</a:t>
            </a:r>
            <a:r>
              <a:rPr lang="en-US" altLang="zh-CN" dirty="0"/>
              <a:t>, </a:t>
            </a:r>
            <a:r>
              <a:rPr lang="zh-CN" altLang="en-US" dirty="0"/>
              <a:t>边开发</a:t>
            </a:r>
            <a:r>
              <a:rPr lang="en-US" altLang="zh-CN" dirty="0"/>
              <a:t>asp.net </a:t>
            </a:r>
            <a:r>
              <a:rPr lang="zh-CN" altLang="en-US" dirty="0"/>
              <a:t>的项目，这相当于一边看医学书一边动手术。。。</a:t>
            </a:r>
            <a:endParaRPr lang="en-US" altLang="zh-CN" dirty="0"/>
          </a:p>
          <a:p>
            <a:pPr lvl="1">
              <a:lnSpc>
                <a:spcPct val="120000"/>
              </a:lnSpc>
            </a:pPr>
            <a:endParaRPr lang="en-US" altLang="zh-CN" dirty="0"/>
          </a:p>
          <a:p>
            <a:pPr>
              <a:lnSpc>
                <a:spcPct val="120000"/>
              </a:lnSpc>
            </a:pPr>
            <a:r>
              <a:rPr lang="zh-CN" altLang="en-US" dirty="0"/>
              <a:t>如果你是病人</a:t>
            </a:r>
            <a:r>
              <a:rPr lang="en-US" altLang="zh-CN" dirty="0"/>
              <a:t>, </a:t>
            </a:r>
            <a:r>
              <a:rPr lang="zh-CN" altLang="en-US" dirty="0"/>
              <a:t>你希望你的医生</a:t>
            </a:r>
            <a:r>
              <a:rPr lang="en-US" altLang="zh-CN" dirty="0"/>
              <a:t>:</a:t>
            </a:r>
          </a:p>
          <a:p>
            <a:pPr lvl="1">
              <a:lnSpc>
                <a:spcPct val="120000"/>
              </a:lnSpc>
            </a:pPr>
            <a:r>
              <a:rPr lang="zh-CN" altLang="en-US" dirty="0"/>
              <a:t>刚刚在书上看到你的病例</a:t>
            </a:r>
            <a:r>
              <a:rPr lang="en-US" altLang="zh-CN" dirty="0"/>
              <a:t>,  </a:t>
            </a:r>
            <a:r>
              <a:rPr lang="zh-CN" altLang="en-US" dirty="0"/>
              <a:t>一边看书一边开刀</a:t>
            </a:r>
            <a:r>
              <a:rPr lang="en-US" altLang="zh-CN" dirty="0"/>
              <a:t>…</a:t>
            </a:r>
          </a:p>
          <a:p>
            <a:pPr lvl="1">
              <a:lnSpc>
                <a:spcPct val="120000"/>
              </a:lnSpc>
            </a:pPr>
            <a:r>
              <a:rPr lang="zh-CN" altLang="en-US" dirty="0"/>
              <a:t>开刀的过程中突发奇想</a:t>
            </a:r>
            <a:r>
              <a:rPr lang="en-US" altLang="zh-CN" dirty="0"/>
              <a:t>,  </a:t>
            </a:r>
            <a:r>
              <a:rPr lang="zh-CN" altLang="en-US" dirty="0"/>
              <a:t>然后在你身上试验</a:t>
            </a:r>
            <a:r>
              <a:rPr lang="en-US" altLang="zh-CN" dirty="0"/>
              <a:t>…</a:t>
            </a:r>
          </a:p>
          <a:p>
            <a:pPr lvl="1">
              <a:lnSpc>
                <a:spcPct val="120000"/>
              </a:lnSpc>
            </a:pPr>
            <a:r>
              <a:rPr lang="zh-CN" altLang="en-US" dirty="0"/>
              <a:t>已经做了多年此类手术</a:t>
            </a:r>
            <a:r>
              <a:rPr lang="en-US" altLang="zh-CN" dirty="0"/>
              <a:t>, </a:t>
            </a:r>
            <a:r>
              <a:rPr lang="zh-CN" altLang="en-US" dirty="0"/>
              <a:t>可以一边做手术</a:t>
            </a:r>
            <a:r>
              <a:rPr lang="en-US" altLang="zh-CN" dirty="0"/>
              <a:t>, </a:t>
            </a:r>
            <a:r>
              <a:rPr lang="zh-CN" altLang="en-US" dirty="0"/>
              <a:t>一边和别人聊天</a:t>
            </a:r>
            <a:endParaRPr lang="en-US" altLang="zh-CN" dirty="0"/>
          </a:p>
          <a:p>
            <a:pPr lvl="1">
              <a:lnSpc>
                <a:spcPct val="120000"/>
              </a:lnSpc>
            </a:pPr>
            <a:endParaRPr lang="en-US" altLang="zh-CN" dirty="0"/>
          </a:p>
          <a:p>
            <a:pPr>
              <a:lnSpc>
                <a:spcPct val="120000"/>
              </a:lnSpc>
            </a:pPr>
            <a:r>
              <a:rPr lang="zh-CN" altLang="en-US" dirty="0"/>
              <a:t>你在写软件的时候</a:t>
            </a:r>
            <a:r>
              <a:rPr lang="en-US" altLang="zh-CN" dirty="0"/>
              <a:t>, </a:t>
            </a:r>
            <a:r>
              <a:rPr lang="zh-CN" altLang="en-US" dirty="0"/>
              <a:t>是哪种情况</a:t>
            </a:r>
            <a:r>
              <a:rPr lang="en-US" altLang="zh-CN" dirty="0"/>
              <a:t>? </a:t>
            </a:r>
          </a:p>
          <a:p>
            <a:pPr>
              <a:lnSpc>
                <a:spcPct val="120000"/>
              </a:lnSpc>
            </a:pPr>
            <a:r>
              <a:rPr lang="zh-CN" altLang="en-US" dirty="0"/>
              <a:t>那一个软件工程师如何成长，如何证明自己的成长</a:t>
            </a:r>
            <a:r>
              <a:rPr lang="en-US" altLang="zh-CN" dirty="0"/>
              <a:t>?</a:t>
            </a:r>
          </a:p>
          <a:p>
            <a:pPr lvl="1">
              <a:lnSpc>
                <a:spcPct val="120000"/>
              </a:lnSpc>
            </a:pPr>
            <a:r>
              <a:rPr lang="en-US" dirty="0"/>
              <a:t>Personal Software </a:t>
            </a:r>
            <a:r>
              <a:rPr lang="en-US" altLang="zh-CN" dirty="0"/>
              <a:t>Process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“learn” knowledge</a:t>
            </a:r>
          </a:p>
        </p:txBody>
      </p:sp>
      <p:sp>
        <p:nvSpPr>
          <p:cNvPr id="3" name="Content Placeholder 2"/>
          <p:cNvSpPr>
            <a:spLocks noGrp="1"/>
          </p:cNvSpPr>
          <p:nvPr>
            <p:ph idx="1"/>
          </p:nvPr>
        </p:nvSpPr>
        <p:spPr/>
        <p:txBody>
          <a:bodyPr/>
          <a:lstStyle/>
          <a:p>
            <a:r>
              <a:rPr lang="zh-CN" altLang="en-US" dirty="0"/>
              <a:t>知识体系是构建出来的</a:t>
            </a:r>
            <a:r>
              <a:rPr lang="en-US" altLang="zh-CN" dirty="0"/>
              <a:t>, </a:t>
            </a:r>
            <a:r>
              <a:rPr lang="zh-CN" altLang="en-US" dirty="0"/>
              <a:t>而不是接收到的    </a:t>
            </a:r>
            <a:endParaRPr lang="en-US" altLang="zh-CN" dirty="0"/>
          </a:p>
          <a:p>
            <a:pPr lvl="1"/>
            <a:r>
              <a:rPr lang="zh-CN" altLang="en-US" dirty="0"/>
              <a:t>与其灌输知识</a:t>
            </a:r>
            <a:r>
              <a:rPr lang="en-US" altLang="zh-CN" dirty="0"/>
              <a:t>, </a:t>
            </a:r>
            <a:r>
              <a:rPr lang="zh-CN" altLang="en-US" dirty="0"/>
              <a:t>远不如让学生自己构建</a:t>
            </a:r>
          </a:p>
          <a:p>
            <a:r>
              <a:rPr lang="zh-CN" altLang="en-US" dirty="0"/>
              <a:t>人的认知模型改变得非常缓慢       </a:t>
            </a:r>
            <a:endParaRPr lang="en-US" altLang="zh-CN" dirty="0"/>
          </a:p>
          <a:p>
            <a:pPr lvl="1"/>
            <a:r>
              <a:rPr lang="en-US" altLang="zh-CN" dirty="0"/>
              <a:t> </a:t>
            </a:r>
            <a:r>
              <a:rPr lang="zh-CN" altLang="en-US" dirty="0"/>
              <a:t>搞那些速成的</a:t>
            </a:r>
            <a:r>
              <a:rPr lang="en-US" altLang="zh-CN" dirty="0"/>
              <a:t>, </a:t>
            </a:r>
            <a:r>
              <a:rPr lang="zh-CN" altLang="en-US" dirty="0"/>
              <a:t>疯狂的</a:t>
            </a:r>
            <a:r>
              <a:rPr lang="en-US" altLang="zh-CN" dirty="0"/>
              <a:t>, </a:t>
            </a:r>
            <a:r>
              <a:rPr lang="zh-CN" altLang="en-US" dirty="0"/>
              <a:t>喊口号的培训未必改变了人的认知模型</a:t>
            </a:r>
          </a:p>
          <a:p>
            <a:r>
              <a:rPr lang="zh-CN" altLang="en-US" dirty="0"/>
              <a:t>提问能帮助构建知识体系            </a:t>
            </a:r>
            <a:endParaRPr lang="en-US" altLang="zh-CN" dirty="0"/>
          </a:p>
          <a:p>
            <a:pPr lvl="1"/>
            <a:r>
              <a:rPr lang="zh-CN" altLang="en-US" dirty="0"/>
              <a:t>鼓励学生思考</a:t>
            </a:r>
            <a:r>
              <a:rPr lang="en-US" altLang="zh-CN" dirty="0"/>
              <a:t>, </a:t>
            </a:r>
            <a:r>
              <a:rPr lang="zh-CN" altLang="en-US" dirty="0"/>
              <a:t>辩论</a:t>
            </a:r>
            <a:r>
              <a:rPr lang="en-US" altLang="zh-CN" dirty="0"/>
              <a:t>,</a:t>
            </a:r>
          </a:p>
          <a:p>
            <a:r>
              <a:rPr lang="zh-CN" altLang="en-US" dirty="0"/>
              <a:t>身心投入</a:t>
            </a:r>
            <a:r>
              <a:rPr lang="en-US" altLang="zh-CN" dirty="0"/>
              <a:t>, </a:t>
            </a:r>
            <a:r>
              <a:rPr lang="zh-CN" altLang="en-US" dirty="0"/>
              <a:t>回顾总结是成长的关键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How to Grow Skills – PSP0</a:t>
            </a:r>
          </a:p>
        </p:txBody>
      </p:sp>
      <p:sp>
        <p:nvSpPr>
          <p:cNvPr id="2" name="Content Placeholder 1"/>
          <p:cNvSpPr>
            <a:spLocks noGrp="1"/>
          </p:cNvSpPr>
          <p:nvPr>
            <p:ph idx="1"/>
          </p:nvPr>
        </p:nvSpPr>
        <p:spPr/>
        <p:txBody>
          <a:bodyPr/>
          <a:lstStyle/>
          <a:p>
            <a:r>
              <a:rPr lang="en-US" sz="2400" dirty="0"/>
              <a:t>P</a:t>
            </a:r>
            <a:r>
              <a:rPr lang="en-US" altLang="zh-CN" sz="2400" dirty="0"/>
              <a:t>ersonal Software Process</a:t>
            </a:r>
            <a:endParaRPr lang="en-US" sz="2400" dirty="0"/>
          </a:p>
          <a:p>
            <a:pPr lvl="1"/>
            <a:r>
              <a:rPr lang="en-US" sz="2000" dirty="0"/>
              <a:t>Body of knowledge (PSP)</a:t>
            </a:r>
          </a:p>
          <a:p>
            <a:r>
              <a:rPr lang="en-US" sz="2400" b="1" dirty="0"/>
              <a:t>Process</a:t>
            </a:r>
            <a:br>
              <a:rPr lang="en-US" sz="2400" dirty="0"/>
            </a:br>
            <a:r>
              <a:rPr lang="en-US" sz="2400" dirty="0"/>
              <a:t>The </a:t>
            </a:r>
            <a:r>
              <a:rPr lang="en-US" sz="2400" b="1" dirty="0"/>
              <a:t>Input</a:t>
            </a:r>
            <a:r>
              <a:rPr lang="en-US" sz="2400" dirty="0"/>
              <a:t> to PSP is the requirements; </a:t>
            </a:r>
          </a:p>
          <a:p>
            <a:pPr lvl="1"/>
            <a:r>
              <a:rPr lang="en-US" sz="2000" dirty="0"/>
              <a:t>requirement document is completed and delivered to the engineer.   </a:t>
            </a:r>
          </a:p>
          <a:p>
            <a:r>
              <a:rPr lang="en-US" sz="2400" b="1" dirty="0"/>
              <a:t>Output</a:t>
            </a:r>
            <a:r>
              <a:rPr lang="en-US" sz="2400" dirty="0"/>
              <a:t>: metrics telling how good an engineer is. </a:t>
            </a:r>
          </a:p>
          <a:p>
            <a:r>
              <a:rPr lang="en-US" sz="2400" b="1" dirty="0"/>
              <a:t>PSP0 </a:t>
            </a:r>
            <a:r>
              <a:rPr lang="en-US" sz="2400" dirty="0"/>
              <a:t>has 3 phases:</a:t>
            </a:r>
          </a:p>
          <a:p>
            <a:pPr lvl="1"/>
            <a:r>
              <a:rPr lang="en-US" sz="2000" dirty="0"/>
              <a:t>planning, </a:t>
            </a:r>
          </a:p>
          <a:p>
            <a:pPr lvl="1"/>
            <a:r>
              <a:rPr lang="en-US" sz="2000" dirty="0"/>
              <a:t>development (design, coding, test) </a:t>
            </a:r>
          </a:p>
          <a:p>
            <a:pPr lvl="1"/>
            <a:r>
              <a:rPr lang="en-US" sz="2000" dirty="0"/>
              <a:t>postmortem. </a:t>
            </a:r>
          </a:p>
          <a:p>
            <a:r>
              <a:rPr lang="en-US" dirty="0">
                <a:solidFill>
                  <a:srgbClr val="FF0000"/>
                </a:solidFill>
              </a:rPr>
              <a:t>Is this the process of your I-Project?</a:t>
            </a:r>
            <a:endParaRPr lang="en-US" sz="2400" dirty="0">
              <a:solidFill>
                <a:srgbClr val="FF0000"/>
              </a:solidFill>
            </a:endParaRPr>
          </a:p>
        </p:txBody>
      </p:sp>
    </p:spTree>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How to Grow Skills – PSP0.1</a:t>
            </a:r>
          </a:p>
        </p:txBody>
      </p:sp>
      <p:sp>
        <p:nvSpPr>
          <p:cNvPr id="2" name="Content Placeholder 1"/>
          <p:cNvSpPr>
            <a:spLocks noGrp="1"/>
          </p:cNvSpPr>
          <p:nvPr>
            <p:ph idx="1"/>
          </p:nvPr>
        </p:nvSpPr>
        <p:spPr/>
        <p:txBody>
          <a:bodyPr/>
          <a:lstStyle/>
          <a:p>
            <a:r>
              <a:rPr lang="en-US" sz="3200" dirty="0"/>
              <a:t>PSP0.1, based on PSP0, </a:t>
            </a:r>
            <a:r>
              <a:rPr lang="en-US" dirty="0"/>
              <a:t>Adding </a:t>
            </a:r>
          </a:p>
          <a:p>
            <a:pPr lvl="1"/>
            <a:r>
              <a:rPr lang="en-US" sz="2800" dirty="0"/>
              <a:t>Coding Standard</a:t>
            </a:r>
          </a:p>
          <a:p>
            <a:pPr lvl="1"/>
            <a:r>
              <a:rPr lang="en-US" sz="2800" dirty="0"/>
              <a:t>Size Measurement</a:t>
            </a:r>
          </a:p>
          <a:p>
            <a:pPr lvl="1"/>
            <a:r>
              <a:rPr lang="en-US" sz="2800" dirty="0"/>
              <a:t>Process Improvement Plan (PIP) – engineer records ideas for improving his own process</a:t>
            </a:r>
          </a:p>
          <a:p>
            <a:r>
              <a:rPr lang="en-US" sz="3200" dirty="0">
                <a:solidFill>
                  <a:srgbClr val="FF0000"/>
                </a:solidFill>
              </a:rPr>
              <a:t>Do you have these in your I-Project?</a:t>
            </a:r>
          </a:p>
          <a:p>
            <a:endParaRPr lang="en-US" sz="4000" dirty="0"/>
          </a:p>
        </p:txBody>
      </p:sp>
    </p:spTree>
  </p:cSld>
  <p:clrMapOvr>
    <a:masterClrMapping/>
  </p:clrMapOvr>
  <p:transition>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PSP1</a:t>
            </a:r>
          </a:p>
        </p:txBody>
      </p:sp>
      <p:sp>
        <p:nvSpPr>
          <p:cNvPr id="2" name="Content Placeholder 1"/>
          <p:cNvSpPr>
            <a:spLocks noGrp="1"/>
          </p:cNvSpPr>
          <p:nvPr>
            <p:ph idx="1"/>
          </p:nvPr>
        </p:nvSpPr>
        <p:spPr/>
        <p:txBody>
          <a:bodyPr>
            <a:normAutofit lnSpcReduction="10000"/>
          </a:bodyPr>
          <a:lstStyle/>
          <a:p>
            <a:r>
              <a:rPr lang="en-US" b="1" dirty="0"/>
              <a:t>PSP1, PSP1.1 (Introduces estimating and planning)</a:t>
            </a:r>
          </a:p>
          <a:p>
            <a:pPr lvl="1"/>
            <a:r>
              <a:rPr lang="en-US" dirty="0"/>
              <a:t>Based upon the baseline data collected in PSP0 and PSP0.1, the engineer </a:t>
            </a:r>
            <a:r>
              <a:rPr lang="en-US" b="1" dirty="0"/>
              <a:t>estimates</a:t>
            </a:r>
            <a:r>
              <a:rPr lang="en-US" dirty="0"/>
              <a:t> how large a new program will be and prepares a test report (PSP1). </a:t>
            </a:r>
          </a:p>
          <a:p>
            <a:pPr lvl="1"/>
            <a:r>
              <a:rPr lang="en-US" dirty="0"/>
              <a:t>Accumulated data from previous projects is used to estimate the total time. </a:t>
            </a:r>
          </a:p>
          <a:p>
            <a:pPr lvl="1"/>
            <a:r>
              <a:rPr lang="en-US" dirty="0"/>
              <a:t>Each new project will record the actual time spent. </a:t>
            </a:r>
          </a:p>
          <a:p>
            <a:pPr lvl="1"/>
            <a:r>
              <a:rPr lang="en-US" dirty="0"/>
              <a:t>This information is used for task and schedule planning and estimation (PSP1.1).</a:t>
            </a:r>
          </a:p>
          <a:p>
            <a:r>
              <a:rPr lang="en-US" dirty="0">
                <a:solidFill>
                  <a:srgbClr val="FF0000"/>
                </a:solidFill>
              </a:rPr>
              <a:t>Did you have estimation before Coding? </a:t>
            </a:r>
          </a:p>
          <a:p>
            <a:r>
              <a:rPr lang="en-US" dirty="0">
                <a:solidFill>
                  <a:srgbClr val="FF0000"/>
                </a:solidFill>
              </a:rPr>
              <a:t>How far off was your estimation? </a:t>
            </a:r>
            <a:br>
              <a:rPr lang="en-US" dirty="0">
                <a:solidFill>
                  <a:srgbClr val="FF0000"/>
                </a:solidFill>
              </a:rPr>
            </a:br>
            <a:endParaRPr lang="en-US" dirty="0">
              <a:solidFill>
                <a:srgbClr val="FF0000"/>
              </a:solidFill>
            </a:endParaRPr>
          </a:p>
        </p:txBody>
      </p:sp>
    </p:spTree>
  </p:cSld>
  <p:clrMapOvr>
    <a:masterClrMapping/>
  </p:clrMapOvr>
  <p:transition>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PSP2</a:t>
            </a:r>
          </a:p>
        </p:txBody>
      </p:sp>
      <p:sp>
        <p:nvSpPr>
          <p:cNvPr id="2" name="Content Placeholder 1"/>
          <p:cNvSpPr>
            <a:spLocks noGrp="1"/>
          </p:cNvSpPr>
          <p:nvPr>
            <p:ph idx="1"/>
          </p:nvPr>
        </p:nvSpPr>
        <p:spPr/>
        <p:txBody>
          <a:bodyPr>
            <a:normAutofit/>
          </a:bodyPr>
          <a:lstStyle/>
          <a:p>
            <a:r>
              <a:rPr lang="en-US" b="1" dirty="0"/>
              <a:t>PSP2, PSP2.1 (Introduces quality management and design)</a:t>
            </a:r>
            <a:endParaRPr lang="en-US" dirty="0"/>
          </a:p>
          <a:p>
            <a:r>
              <a:rPr lang="en-US" dirty="0"/>
              <a:t>PSP2 adds two new phases: </a:t>
            </a:r>
          </a:p>
          <a:p>
            <a:pPr lvl="1"/>
            <a:r>
              <a:rPr lang="en-US" dirty="0"/>
              <a:t>Design Review and Code Review. </a:t>
            </a:r>
          </a:p>
          <a:p>
            <a:pPr lvl="1"/>
            <a:r>
              <a:rPr lang="en-US" dirty="0"/>
              <a:t>Defect Prevention and removal are the focus at the PSP2. </a:t>
            </a:r>
          </a:p>
          <a:p>
            <a:pPr lvl="1"/>
            <a:r>
              <a:rPr lang="en-US" dirty="0"/>
              <a:t>Engineers construct and use checklists for design and code reviews. </a:t>
            </a:r>
          </a:p>
          <a:p>
            <a:r>
              <a:rPr lang="en-US" dirty="0"/>
              <a:t>PSP2.1 introduces design specification and analysis techniques</a:t>
            </a:r>
          </a:p>
          <a:p>
            <a:r>
              <a:rPr lang="en-US" dirty="0">
                <a:solidFill>
                  <a:srgbClr val="FF0000"/>
                </a:solidFill>
              </a:rPr>
              <a:t>Did you do Self-review of your design?</a:t>
            </a:r>
          </a:p>
          <a:p>
            <a:r>
              <a:rPr lang="en-US" dirty="0">
                <a:solidFill>
                  <a:srgbClr val="FF0000"/>
                </a:solidFill>
              </a:rPr>
              <a:t>Do you have a check-list of your code?</a:t>
            </a:r>
            <a:br>
              <a:rPr lang="en-US" dirty="0">
                <a:solidFill>
                  <a:srgbClr val="FF0000"/>
                </a:solidFill>
              </a:rPr>
            </a:br>
            <a:endParaRPr lang="en-US" dirty="0">
              <a:solidFill>
                <a:srgbClr val="FF0000"/>
              </a:solidFill>
            </a:endParaRPr>
          </a:p>
        </p:txBody>
      </p:sp>
    </p:spTree>
  </p:cSld>
  <p:clrMapOvr>
    <a:masterClrMapping/>
  </p:clrMapOvr>
  <p:transition>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PSP Evolution</a:t>
            </a:r>
          </a:p>
        </p:txBody>
      </p:sp>
      <p:sp>
        <p:nvSpPr>
          <p:cNvPr id="3" name="Content Placeholder 2"/>
          <p:cNvSpPr>
            <a:spLocks noGrp="1"/>
          </p:cNvSpPr>
          <p:nvPr>
            <p:ph idx="1"/>
          </p:nvPr>
        </p:nvSpPr>
        <p:spPr>
          <a:xfrm>
            <a:off x="1981200" y="1600201"/>
            <a:ext cx="2819400" cy="4525963"/>
          </a:xfrm>
          <a:ln>
            <a:solidFill>
              <a:schemeClr val="accent1"/>
            </a:solidFill>
          </a:ln>
        </p:spPr>
        <p:txBody>
          <a:bodyPr>
            <a:normAutofit/>
          </a:bodyPr>
          <a:lstStyle/>
          <a:p>
            <a:r>
              <a:rPr lang="en-US" dirty="0"/>
              <a:t>PSP</a:t>
            </a:r>
            <a:r>
              <a:rPr lang="en-US" b="1" dirty="0">
                <a:solidFill>
                  <a:srgbClr val="FF0000"/>
                </a:solidFill>
              </a:rPr>
              <a:t>0</a:t>
            </a:r>
          </a:p>
          <a:p>
            <a:r>
              <a:rPr lang="en-US" dirty="0"/>
              <a:t>Planning</a:t>
            </a:r>
          </a:p>
          <a:p>
            <a:r>
              <a:rPr lang="en-US" dirty="0"/>
              <a:t>Development</a:t>
            </a:r>
          </a:p>
          <a:p>
            <a:pPr lvl="1"/>
            <a:r>
              <a:rPr lang="en-US" dirty="0"/>
              <a:t>Design</a:t>
            </a:r>
          </a:p>
          <a:p>
            <a:pPr lvl="1"/>
            <a:r>
              <a:rPr lang="en-US" dirty="0"/>
              <a:t>Coding</a:t>
            </a:r>
          </a:p>
          <a:p>
            <a:pPr lvl="1"/>
            <a:r>
              <a:rPr lang="en-US" dirty="0"/>
              <a:t>Test</a:t>
            </a:r>
          </a:p>
          <a:p>
            <a:r>
              <a:rPr lang="en-US" dirty="0"/>
              <a:t>Postmortem</a:t>
            </a:r>
          </a:p>
        </p:txBody>
      </p:sp>
      <p:sp>
        <p:nvSpPr>
          <p:cNvPr id="4" name="Content Placeholder 2"/>
          <p:cNvSpPr txBox="1"/>
          <p:nvPr/>
        </p:nvSpPr>
        <p:spPr>
          <a:xfrm>
            <a:off x="4800600" y="1600201"/>
            <a:ext cx="2895600" cy="4525963"/>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000" dirty="0"/>
              <a:t>PSP</a:t>
            </a:r>
            <a:r>
              <a:rPr lang="en-US" sz="2000" b="1" dirty="0">
                <a:solidFill>
                  <a:srgbClr val="FF0000"/>
                </a:solidFill>
              </a:rPr>
              <a:t>0.1</a:t>
            </a:r>
          </a:p>
          <a:p>
            <a:r>
              <a:rPr lang="en-US" sz="2000" dirty="0"/>
              <a:t>Planning</a:t>
            </a:r>
          </a:p>
          <a:p>
            <a:r>
              <a:rPr lang="en-US" sz="2000" dirty="0"/>
              <a:t>Development</a:t>
            </a:r>
          </a:p>
          <a:p>
            <a:pPr lvl="1"/>
            <a:r>
              <a:rPr lang="en-US" sz="1800" b="1" dirty="0">
                <a:solidFill>
                  <a:srgbClr val="FF0000"/>
                </a:solidFill>
              </a:rPr>
              <a:t>Coding Standard</a:t>
            </a:r>
          </a:p>
          <a:p>
            <a:pPr lvl="1"/>
            <a:r>
              <a:rPr lang="en-US" sz="1800" dirty="0"/>
              <a:t>Design</a:t>
            </a:r>
          </a:p>
          <a:p>
            <a:pPr lvl="1"/>
            <a:r>
              <a:rPr lang="en-US" sz="1800" dirty="0"/>
              <a:t>Coding</a:t>
            </a:r>
          </a:p>
          <a:p>
            <a:pPr lvl="1"/>
            <a:r>
              <a:rPr lang="en-US" sz="1800" dirty="0"/>
              <a:t>Test</a:t>
            </a:r>
          </a:p>
          <a:p>
            <a:r>
              <a:rPr lang="en-US" sz="2000" b="1" dirty="0">
                <a:solidFill>
                  <a:srgbClr val="FF0000"/>
                </a:solidFill>
              </a:rPr>
              <a:t>Size Measurement</a:t>
            </a:r>
          </a:p>
          <a:p>
            <a:r>
              <a:rPr lang="en-US" sz="2000" dirty="0"/>
              <a:t>Postmortem</a:t>
            </a:r>
          </a:p>
          <a:p>
            <a:r>
              <a:rPr lang="en-US" sz="2000" b="1" dirty="0">
                <a:solidFill>
                  <a:srgbClr val="FF0000"/>
                </a:solidFill>
              </a:rPr>
              <a:t>Process Improvement Plan</a:t>
            </a:r>
          </a:p>
        </p:txBody>
      </p:sp>
      <p:sp>
        <p:nvSpPr>
          <p:cNvPr id="5" name="Content Placeholder 2"/>
          <p:cNvSpPr txBox="1"/>
          <p:nvPr/>
        </p:nvSpPr>
        <p:spPr>
          <a:xfrm>
            <a:off x="7696200" y="1600201"/>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6" name="Content Placeholder 2"/>
          <p:cNvSpPr txBox="1"/>
          <p:nvPr/>
        </p:nvSpPr>
        <p:spPr>
          <a:xfrm>
            <a:off x="7696200" y="1600201"/>
            <a:ext cx="2971800" cy="4525963"/>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a:t>
            </a:r>
          </a:p>
          <a:p>
            <a:r>
              <a:rPr lang="en-US" dirty="0"/>
              <a:t>Planning</a:t>
            </a:r>
          </a:p>
          <a:p>
            <a:pPr lvl="1"/>
            <a:r>
              <a:rPr lang="en-US" b="1" dirty="0">
                <a:solidFill>
                  <a:srgbClr val="FF0000"/>
                </a:solidFill>
              </a:rPr>
              <a:t>Estimate</a:t>
            </a:r>
            <a:r>
              <a:rPr lang="en-US" dirty="0"/>
              <a:t> </a:t>
            </a:r>
          </a:p>
          <a:p>
            <a:r>
              <a:rPr lang="en-US" dirty="0"/>
              <a:t>Development</a:t>
            </a:r>
          </a:p>
          <a:p>
            <a:pPr lvl="1"/>
            <a:r>
              <a:rPr lang="en-US" dirty="0"/>
              <a:t>Coding Standard</a:t>
            </a:r>
          </a:p>
          <a:p>
            <a:pPr lvl="1"/>
            <a:r>
              <a:rPr lang="en-US" dirty="0"/>
              <a:t>Design</a:t>
            </a:r>
          </a:p>
          <a:p>
            <a:pPr lvl="1"/>
            <a:r>
              <a:rPr lang="en-US" dirty="0"/>
              <a:t>Coding</a:t>
            </a:r>
          </a:p>
          <a:p>
            <a:pPr lvl="1"/>
            <a:r>
              <a:rPr lang="en-US" dirty="0"/>
              <a:t>Test</a:t>
            </a:r>
          </a:p>
          <a:p>
            <a:r>
              <a:rPr lang="en-US" b="1" dirty="0">
                <a:solidFill>
                  <a:srgbClr val="FF0000"/>
                </a:solidFill>
              </a:rPr>
              <a:t>Test Report</a:t>
            </a:r>
          </a:p>
          <a:p>
            <a:r>
              <a:rPr lang="en-US" dirty="0"/>
              <a:t>Size Measurement</a:t>
            </a:r>
          </a:p>
          <a:p>
            <a:r>
              <a:rPr lang="en-US" dirty="0"/>
              <a:t>Postmortem</a:t>
            </a:r>
          </a:p>
          <a:p>
            <a:r>
              <a:rPr lang="en-US" dirty="0"/>
              <a:t>Process Improvement Plan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animBg="1"/>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PSP Evolution (cont.)</a:t>
            </a:r>
          </a:p>
        </p:txBody>
      </p:sp>
      <p:sp>
        <p:nvSpPr>
          <p:cNvPr id="8" name="Content Placeholder 2"/>
          <p:cNvSpPr txBox="1">
            <a:spLocks noGrp="1"/>
          </p:cNvSpPr>
          <p:nvPr>
            <p:ph idx="1"/>
          </p:nvPr>
        </p:nvSpPr>
        <p:spPr>
          <a:xfrm>
            <a:off x="1981200" y="1600200"/>
            <a:ext cx="2895600" cy="4876800"/>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1.1</a:t>
            </a:r>
          </a:p>
          <a:p>
            <a:r>
              <a:rPr lang="en-US" dirty="0"/>
              <a:t>Planning</a:t>
            </a:r>
          </a:p>
          <a:p>
            <a:pPr lvl="1"/>
            <a:r>
              <a:rPr lang="en-US" b="1" dirty="0">
                <a:solidFill>
                  <a:srgbClr val="FF0000"/>
                </a:solidFill>
              </a:rPr>
              <a:t>Estimate</a:t>
            </a:r>
            <a:r>
              <a:rPr lang="en-US" dirty="0"/>
              <a:t> </a:t>
            </a:r>
          </a:p>
          <a:p>
            <a:r>
              <a:rPr lang="en-US" dirty="0"/>
              <a:t>Development</a:t>
            </a:r>
          </a:p>
          <a:p>
            <a:pPr lvl="1"/>
            <a:r>
              <a:rPr lang="en-US" dirty="0"/>
              <a:t>Coding Standard</a:t>
            </a:r>
          </a:p>
          <a:p>
            <a:pPr lvl="1"/>
            <a:r>
              <a:rPr lang="en-US" dirty="0"/>
              <a:t>Design</a:t>
            </a:r>
          </a:p>
          <a:p>
            <a:pPr lvl="1"/>
            <a:r>
              <a:rPr lang="en-US" dirty="0"/>
              <a:t>Coding</a:t>
            </a:r>
          </a:p>
          <a:p>
            <a:pPr lvl="1"/>
            <a:r>
              <a:rPr lang="en-US" dirty="0"/>
              <a:t>Test</a:t>
            </a:r>
          </a:p>
          <a:p>
            <a:r>
              <a:rPr lang="en-US" b="1" dirty="0">
                <a:solidFill>
                  <a:srgbClr val="FF0000"/>
                </a:solidFill>
              </a:rPr>
              <a:t>Record Time Spent</a:t>
            </a:r>
          </a:p>
          <a:p>
            <a:r>
              <a:rPr lang="en-US" dirty="0"/>
              <a:t>Test Report</a:t>
            </a:r>
          </a:p>
          <a:p>
            <a:r>
              <a:rPr lang="en-US" dirty="0"/>
              <a:t>Size Measurement</a:t>
            </a:r>
          </a:p>
          <a:p>
            <a:r>
              <a:rPr lang="en-US" dirty="0"/>
              <a:t>Postmortem</a:t>
            </a:r>
          </a:p>
          <a:p>
            <a:r>
              <a:rPr lang="en-US" dirty="0"/>
              <a:t>Process Improvement Plan</a:t>
            </a:r>
          </a:p>
        </p:txBody>
      </p:sp>
      <p:sp>
        <p:nvSpPr>
          <p:cNvPr id="5" name="Content Placeholder 2"/>
          <p:cNvSpPr txBox="1"/>
          <p:nvPr/>
        </p:nvSpPr>
        <p:spPr>
          <a:xfrm>
            <a:off x="7696200" y="1600201"/>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10" name="Content Placeholder 2"/>
          <p:cNvSpPr txBox="1"/>
          <p:nvPr/>
        </p:nvSpPr>
        <p:spPr>
          <a:xfrm>
            <a:off x="4876800" y="1600200"/>
            <a:ext cx="2895600" cy="4876800"/>
          </a:xfrm>
          <a:prstGeom prst="rect">
            <a:avLst/>
          </a:prstGeom>
          <a:ln>
            <a:solidFill>
              <a:schemeClr val="accent1"/>
            </a:solidFill>
          </a:ln>
        </p:spPr>
        <p:txBody>
          <a:bodyPr vert="horz" lIns="91440" tIns="45720" rIns="91440" bIns="45720" rtlCol="0">
            <a:normAutofit fontScale="625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a:t>
            </a:r>
          </a:p>
          <a:p>
            <a:r>
              <a:rPr lang="en-US" dirty="0"/>
              <a:t>Planning</a:t>
            </a:r>
          </a:p>
          <a:p>
            <a:pPr lvl="1"/>
            <a:r>
              <a:rPr lang="en-US" dirty="0"/>
              <a:t>Estimate </a:t>
            </a:r>
          </a:p>
          <a:p>
            <a:r>
              <a:rPr lang="en-US" dirty="0"/>
              <a:t>Development</a:t>
            </a:r>
          </a:p>
          <a:p>
            <a:pPr lvl="1"/>
            <a:r>
              <a:rPr lang="en-US" b="1" dirty="0">
                <a:solidFill>
                  <a:srgbClr val="FF0000"/>
                </a:solidFill>
              </a:rPr>
              <a:t>Design Review</a:t>
            </a:r>
          </a:p>
          <a:p>
            <a:pPr lvl="1"/>
            <a:r>
              <a:rPr lang="en-US" dirty="0"/>
              <a:t>Coding Standard</a:t>
            </a:r>
          </a:p>
          <a:p>
            <a:pPr lvl="1"/>
            <a:r>
              <a:rPr lang="en-US" dirty="0"/>
              <a:t>Design</a:t>
            </a:r>
          </a:p>
          <a:p>
            <a:pPr lvl="1"/>
            <a:r>
              <a:rPr lang="en-US" dirty="0"/>
              <a:t>Coding</a:t>
            </a:r>
          </a:p>
          <a:p>
            <a:pPr lvl="1"/>
            <a:r>
              <a:rPr lang="en-US" b="1" dirty="0">
                <a:solidFill>
                  <a:srgbClr val="FF0000"/>
                </a:solidFill>
              </a:rPr>
              <a:t>Code Review</a:t>
            </a:r>
          </a:p>
          <a:p>
            <a:pPr lvl="1"/>
            <a:r>
              <a:rPr lang="en-US" dirty="0"/>
              <a:t>Test</a:t>
            </a:r>
          </a:p>
          <a:p>
            <a:r>
              <a:rPr lang="en-US" dirty="0"/>
              <a:t>Record Time Spent</a:t>
            </a:r>
          </a:p>
          <a:p>
            <a:r>
              <a:rPr lang="en-US" dirty="0"/>
              <a:t>Test Report</a:t>
            </a:r>
          </a:p>
          <a:p>
            <a:r>
              <a:rPr lang="en-US" dirty="0"/>
              <a:t>Size Measurement</a:t>
            </a:r>
          </a:p>
          <a:p>
            <a:r>
              <a:rPr lang="en-US" dirty="0"/>
              <a:t>Postmortem</a:t>
            </a:r>
          </a:p>
          <a:p>
            <a:r>
              <a:rPr lang="en-US" dirty="0"/>
              <a:t>Process Improvement Plan</a:t>
            </a:r>
          </a:p>
        </p:txBody>
      </p:sp>
      <p:sp>
        <p:nvSpPr>
          <p:cNvPr id="11" name="Content Placeholder 2"/>
          <p:cNvSpPr txBox="1"/>
          <p:nvPr/>
        </p:nvSpPr>
        <p:spPr>
          <a:xfrm>
            <a:off x="7772400" y="1600200"/>
            <a:ext cx="2895600" cy="4876800"/>
          </a:xfrm>
          <a:prstGeom prst="rect">
            <a:avLst/>
          </a:prstGeom>
          <a:ln>
            <a:solidFill>
              <a:schemeClr val="accent1"/>
            </a:solidFill>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2.1</a:t>
            </a:r>
          </a:p>
          <a:p>
            <a:r>
              <a:rPr lang="en-US" dirty="0"/>
              <a:t>Planning</a:t>
            </a:r>
          </a:p>
          <a:p>
            <a:pPr lvl="1"/>
            <a:r>
              <a:rPr lang="en-US" dirty="0"/>
              <a:t>Estimate </a:t>
            </a:r>
          </a:p>
          <a:p>
            <a:r>
              <a:rPr lang="en-US" dirty="0"/>
              <a:t>Development</a:t>
            </a:r>
          </a:p>
          <a:p>
            <a:pPr lvl="1"/>
            <a:r>
              <a:rPr lang="en-US" b="1" dirty="0">
                <a:solidFill>
                  <a:srgbClr val="FF0000"/>
                </a:solidFill>
              </a:rPr>
              <a:t>Analysis </a:t>
            </a:r>
          </a:p>
          <a:p>
            <a:pPr lvl="1"/>
            <a:r>
              <a:rPr lang="en-US" b="1" dirty="0">
                <a:solidFill>
                  <a:srgbClr val="FF0000"/>
                </a:solidFill>
              </a:rPr>
              <a:t>Design Spec</a:t>
            </a:r>
          </a:p>
          <a:p>
            <a:pPr lvl="1"/>
            <a:r>
              <a:rPr lang="en-US" dirty="0"/>
              <a:t>Design Review</a:t>
            </a:r>
          </a:p>
          <a:p>
            <a:pPr lvl="1"/>
            <a:r>
              <a:rPr lang="en-US" dirty="0"/>
              <a:t>Coding Standard</a:t>
            </a:r>
          </a:p>
          <a:p>
            <a:pPr lvl="1"/>
            <a:r>
              <a:rPr lang="en-US" dirty="0"/>
              <a:t>Design</a:t>
            </a:r>
          </a:p>
          <a:p>
            <a:pPr lvl="1"/>
            <a:r>
              <a:rPr lang="en-US" dirty="0"/>
              <a:t>Coding</a:t>
            </a:r>
          </a:p>
          <a:p>
            <a:pPr lvl="1"/>
            <a:r>
              <a:rPr lang="en-US" dirty="0"/>
              <a:t>Code Review</a:t>
            </a:r>
          </a:p>
          <a:p>
            <a:pPr lvl="1"/>
            <a:r>
              <a:rPr lang="en-US" dirty="0"/>
              <a:t>Test</a:t>
            </a:r>
          </a:p>
          <a:p>
            <a:r>
              <a:rPr lang="en-US" dirty="0"/>
              <a:t>Record Time Spent</a:t>
            </a:r>
          </a:p>
          <a:p>
            <a:r>
              <a:rPr lang="en-US" dirty="0"/>
              <a:t>Test Report</a:t>
            </a:r>
          </a:p>
          <a:p>
            <a:r>
              <a:rPr lang="en-US" dirty="0"/>
              <a:t>Size Measurement</a:t>
            </a:r>
          </a:p>
          <a:p>
            <a:r>
              <a:rPr lang="en-US" dirty="0"/>
              <a:t>Postmortem</a:t>
            </a:r>
          </a:p>
          <a:p>
            <a:r>
              <a:rPr lang="en-US" dirty="0"/>
              <a:t>Process Improvement Plan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DATA</a:t>
            </a:r>
          </a:p>
        </p:txBody>
      </p:sp>
      <p:sp>
        <p:nvSpPr>
          <p:cNvPr id="2" name="Content Placeholder 1"/>
          <p:cNvSpPr>
            <a:spLocks noGrp="1"/>
          </p:cNvSpPr>
          <p:nvPr>
            <p:ph idx="1"/>
          </p:nvPr>
        </p:nvSpPr>
        <p:spPr/>
        <p:txBody>
          <a:bodyPr/>
          <a:lstStyle/>
          <a:p>
            <a:r>
              <a:rPr lang="en-US" dirty="0"/>
              <a:t>One of the core aspects of the PSP is using historical data to analyze and improve process performance. PSP data collection is supported by four main elements:</a:t>
            </a:r>
            <a:br>
              <a:rPr lang="en-US" dirty="0"/>
            </a:br>
            <a:endParaRPr lang="en-US" dirty="0"/>
          </a:p>
          <a:p>
            <a:pPr lvl="1"/>
            <a:r>
              <a:rPr lang="en-US" dirty="0"/>
              <a:t>Scripts</a:t>
            </a:r>
          </a:p>
          <a:p>
            <a:pPr lvl="1"/>
            <a:r>
              <a:rPr lang="en-US" dirty="0"/>
              <a:t>Measures</a:t>
            </a:r>
          </a:p>
          <a:p>
            <a:pPr lvl="1"/>
            <a:r>
              <a:rPr lang="en-US" dirty="0"/>
              <a:t>Standards</a:t>
            </a:r>
          </a:p>
          <a:p>
            <a:pPr lvl="1"/>
            <a:r>
              <a:rPr lang="en-US" dirty="0"/>
              <a:t>Forms</a:t>
            </a:r>
          </a:p>
          <a:p>
            <a:endParaRPr lang="en-US" dirty="0"/>
          </a:p>
        </p:txBody>
      </p:sp>
    </p:spTree>
  </p:cSld>
  <p:clrMapOvr>
    <a:masterClrMapping/>
  </p:clrMapOvr>
  <p:transition>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Core Measures:</a:t>
            </a:r>
          </a:p>
        </p:txBody>
      </p:sp>
      <p:sp>
        <p:nvSpPr>
          <p:cNvPr id="2" name="Content Placeholder 1"/>
          <p:cNvSpPr>
            <a:spLocks noGrp="1"/>
          </p:cNvSpPr>
          <p:nvPr>
            <p:ph idx="1"/>
          </p:nvPr>
        </p:nvSpPr>
        <p:spPr/>
        <p:txBody>
          <a:bodyPr>
            <a:normAutofit lnSpcReduction="10000"/>
          </a:bodyPr>
          <a:lstStyle/>
          <a:p>
            <a:pPr>
              <a:buNone/>
            </a:pPr>
            <a:r>
              <a:rPr lang="en-US" sz="2400" dirty="0"/>
              <a:t>The PSP scripts provide expert-level guidance to following the process steps and they provide a framework for applying the PSP measures. The PSP has four core measures:</a:t>
            </a:r>
          </a:p>
          <a:p>
            <a:r>
              <a:rPr lang="en-US" sz="2400" dirty="0"/>
              <a:t>Size – the size measure for a product part, such as lines of code (LOC).</a:t>
            </a:r>
          </a:p>
          <a:p>
            <a:pPr lvl="1"/>
            <a:r>
              <a:rPr lang="en-US" altLang="zh-CN" sz="2200" dirty="0"/>
              <a:t>How big is the task</a:t>
            </a:r>
            <a:endParaRPr lang="en-US" sz="2200" dirty="0"/>
          </a:p>
          <a:p>
            <a:r>
              <a:rPr lang="en-US" sz="2400" dirty="0"/>
              <a:t>Effort – the time required to complete a task, usually recorded in minutes.</a:t>
            </a:r>
          </a:p>
          <a:p>
            <a:pPr lvl="1"/>
            <a:r>
              <a:rPr lang="en-US" altLang="zh-CN" sz="2200" dirty="0"/>
              <a:t>How big is the effort</a:t>
            </a:r>
            <a:endParaRPr lang="en-US" sz="2200" dirty="0"/>
          </a:p>
          <a:p>
            <a:r>
              <a:rPr lang="en-US" sz="2400" dirty="0"/>
              <a:t>Quality – the number of defects in the product.</a:t>
            </a:r>
          </a:p>
          <a:p>
            <a:pPr lvl="1"/>
            <a:r>
              <a:rPr lang="en-US" altLang="zh-CN" sz="2200" dirty="0"/>
              <a:t>How good is your result</a:t>
            </a:r>
            <a:endParaRPr lang="en-US" sz="2200" dirty="0"/>
          </a:p>
          <a:p>
            <a:r>
              <a:rPr lang="en-US" sz="2400" dirty="0"/>
              <a:t>Schedule – a measure of project progression, tracked against planned and actual completion dates.</a:t>
            </a:r>
          </a:p>
          <a:p>
            <a:pPr lvl="1"/>
            <a:r>
              <a:rPr lang="en-US" altLang="zh-CN" sz="2200" dirty="0"/>
              <a:t>How timely is the delivery</a:t>
            </a:r>
            <a:endParaRPr lang="en-US" sz="2200" dirty="0"/>
          </a:p>
          <a:p>
            <a:endParaRPr 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2000"/>
                                        <p:tgtEl>
                                          <p:spTgt spid="2">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20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2000"/>
                                        <p:tgtEl>
                                          <p:spTgt spid="2">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20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fade">
                                      <p:cBhvr>
                                        <p:cTn id="36" dur="2000"/>
                                        <p:tgtEl>
                                          <p:spTgt spid="2">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fade">
                                      <p:cBhvr>
                                        <p:cTn id="39" dur="2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a:t>M</a:t>
            </a:r>
            <a:r>
              <a:rPr lang="en-US" dirty="0"/>
              <a:t>easures</a:t>
            </a:r>
          </a:p>
        </p:txBody>
      </p:sp>
      <p:sp>
        <p:nvSpPr>
          <p:cNvPr id="2" name="Content Placeholder 1"/>
          <p:cNvSpPr>
            <a:spLocks noGrp="1"/>
          </p:cNvSpPr>
          <p:nvPr>
            <p:ph idx="1"/>
          </p:nvPr>
        </p:nvSpPr>
        <p:spPr/>
        <p:txBody>
          <a:bodyPr>
            <a:normAutofit lnSpcReduction="10000"/>
          </a:bodyPr>
          <a:lstStyle/>
          <a:p>
            <a:r>
              <a:rPr lang="en-US" dirty="0"/>
              <a:t>Based on this principle:</a:t>
            </a:r>
          </a:p>
          <a:p>
            <a:pPr lvl="1"/>
            <a:r>
              <a:rPr lang="en-US" dirty="0"/>
              <a:t>You can’t improve what you can’t measure. </a:t>
            </a:r>
          </a:p>
          <a:p>
            <a:pPr lvl="1"/>
            <a:endParaRPr lang="en-US" dirty="0"/>
          </a:p>
          <a:p>
            <a:r>
              <a:rPr lang="en-US" dirty="0"/>
              <a:t>The key data collected in the PSP tool are </a:t>
            </a:r>
            <a:r>
              <a:rPr lang="en-US" b="1" dirty="0"/>
              <a:t>time, defect, and size data </a:t>
            </a:r>
            <a:r>
              <a:rPr lang="en-US" dirty="0"/>
              <a:t>– </a:t>
            </a:r>
          </a:p>
          <a:p>
            <a:pPr lvl="1"/>
            <a:r>
              <a:rPr lang="en-US" dirty="0"/>
              <a:t>the time spent in each phase; </a:t>
            </a:r>
          </a:p>
          <a:p>
            <a:pPr lvl="1"/>
            <a:r>
              <a:rPr lang="en-US" dirty="0"/>
              <a:t>when and where defects were injected, found, and fixed; </a:t>
            </a:r>
          </a:p>
          <a:p>
            <a:pPr lvl="1"/>
            <a:r>
              <a:rPr lang="en-US" dirty="0"/>
              <a:t>and the size of the product parts. </a:t>
            </a:r>
          </a:p>
          <a:p>
            <a:r>
              <a:rPr lang="en-US" dirty="0"/>
              <a:t>Software developers use many other measures that are derived from these three basic measures to understand and improve their performance.</a:t>
            </a:r>
          </a:p>
        </p:txBody>
      </p:sp>
    </p:spTree>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 ISSUES</a:t>
            </a:r>
          </a:p>
        </p:txBody>
      </p:sp>
      <p:sp>
        <p:nvSpPr>
          <p:cNvPr id="2" name="Content Placeholder 1"/>
          <p:cNvSpPr>
            <a:spLocks noGrp="1"/>
          </p:cNvSpPr>
          <p:nvPr>
            <p:ph idx="1"/>
          </p:nvPr>
        </p:nvSpPr>
        <p:spPr/>
        <p:txBody>
          <a:bodyPr>
            <a:normAutofit fontScale="92500" lnSpcReduction="10000"/>
          </a:bodyPr>
          <a:lstStyle/>
          <a:p>
            <a:r>
              <a:rPr lang="en-US" sz="2400" dirty="0"/>
              <a:t>In small, start-up team, high quality requirement is hard to find</a:t>
            </a:r>
          </a:p>
          <a:p>
            <a:pPr lvl="1"/>
            <a:r>
              <a:rPr lang="en-US" sz="2000" dirty="0"/>
              <a:t>If the input is in low quality,  how can the quality of PSP be ensured?</a:t>
            </a:r>
          </a:p>
          <a:p>
            <a:r>
              <a:rPr lang="en-US" sz="2400" dirty="0"/>
              <a:t>Depends on data</a:t>
            </a:r>
          </a:p>
          <a:p>
            <a:pPr lvl="1"/>
            <a:r>
              <a:rPr lang="en-US" sz="2000" dirty="0"/>
              <a:t>Requires developers to enter data to log various activities</a:t>
            </a:r>
          </a:p>
          <a:p>
            <a:pPr lvl="1"/>
            <a:r>
              <a:rPr lang="en-US" sz="2000" dirty="0"/>
              <a:t>What if data is missing, or inaccurate?</a:t>
            </a:r>
          </a:p>
          <a:p>
            <a:pPr lvl="1"/>
            <a:r>
              <a:rPr lang="en-US" sz="2000" dirty="0"/>
              <a:t>Conflict of interest?  </a:t>
            </a:r>
            <a:r>
              <a:rPr lang="en-US" altLang="zh-CN" sz="2000" dirty="0"/>
              <a:t>Should I honestly record how bad I am?</a:t>
            </a:r>
          </a:p>
          <a:p>
            <a:r>
              <a:rPr lang="en-US" sz="2400" dirty="0"/>
              <a:t>Micro-measurement</a:t>
            </a:r>
          </a:p>
          <a:p>
            <a:pPr lvl="1"/>
            <a:r>
              <a:rPr lang="en-US" sz="2000" dirty="0"/>
              <a:t>Do we need to measure code size everyday? </a:t>
            </a:r>
          </a:p>
          <a:p>
            <a:pPr lvl="1"/>
            <a:r>
              <a:rPr lang="en-US" dirty="0"/>
              <a:t>Writing your own code vs. re-use, use libraries </a:t>
            </a:r>
            <a:endParaRPr lang="en-US" sz="2000" dirty="0"/>
          </a:p>
          <a:p>
            <a:pPr lvl="1"/>
            <a:r>
              <a:rPr lang="en-US" dirty="0"/>
              <a:t>One strong </a:t>
            </a:r>
            <a:r>
              <a:rPr lang="en-US" dirty="0" err="1"/>
              <a:t>dev</a:t>
            </a:r>
            <a:r>
              <a:rPr lang="en-US" dirty="0"/>
              <a:t> removed 2000 LOC bad code, what’s his performance?</a:t>
            </a:r>
            <a:endParaRPr lang="en-US" sz="2000" dirty="0"/>
          </a:p>
          <a:p>
            <a:r>
              <a:rPr lang="en-US" sz="2400" dirty="0"/>
              <a:t>What’s the end goal?</a:t>
            </a:r>
          </a:p>
          <a:p>
            <a:pPr lvl="1"/>
            <a:r>
              <a:rPr lang="en-US" sz="2000" dirty="0"/>
              <a:t>Measuring how to effectively execute on a requirement</a:t>
            </a:r>
          </a:p>
          <a:p>
            <a:pPr lvl="1"/>
            <a:r>
              <a:rPr lang="en-US" sz="2000" dirty="0"/>
              <a:t>NOT measuring how customers are satisfied by the product.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2000"/>
                                        <p:tgtEl>
                                          <p:spTgt spid="2">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2000"/>
                                        <p:tgtEl>
                                          <p:spTgt spid="2">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2000"/>
                                        <p:tgtEl>
                                          <p:spTgt spid="2">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fade">
                                      <p:cBhvr>
                                        <p:cTn id="38" dur="2000"/>
                                        <p:tgtEl>
                                          <p:spTgt spid="2">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2000"/>
                                        <p:tgtEl>
                                          <p:spTgt spid="2">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
                                            <p:txEl>
                                              <p:pRg st="11" end="11"/>
                                            </p:txEl>
                                          </p:spTgt>
                                        </p:tgtEl>
                                        <p:attrNameLst>
                                          <p:attrName>style.visibility</p:attrName>
                                        </p:attrNameLst>
                                      </p:cBhvr>
                                      <p:to>
                                        <p:strVal val="visible"/>
                                      </p:to>
                                    </p:set>
                                    <p:animEffect transition="in" filter="fade">
                                      <p:cBhvr>
                                        <p:cTn id="46" dur="2000"/>
                                        <p:tgtEl>
                                          <p:spTgt spid="2">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
                                            <p:txEl>
                                              <p:pRg st="12" end="12"/>
                                            </p:txEl>
                                          </p:spTgt>
                                        </p:tgtEl>
                                        <p:attrNameLst>
                                          <p:attrName>style.visibility</p:attrName>
                                        </p:attrNameLst>
                                      </p:cBhvr>
                                      <p:to>
                                        <p:strVal val="visible"/>
                                      </p:to>
                                    </p:set>
                                    <p:animEffect transition="in" filter="fade">
                                      <p:cBhvr>
                                        <p:cTn id="49" dur="2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200" dirty="0"/>
              <a:t>PSP data (</a:t>
            </a:r>
            <a:r>
              <a:rPr lang="zh-CN" altLang="en-US" sz="3200" dirty="0"/>
              <a:t>大三学生 </a:t>
            </a:r>
            <a:r>
              <a:rPr lang="en-US" altLang="zh-CN" sz="3200" dirty="0"/>
              <a:t>vs. </a:t>
            </a:r>
            <a:r>
              <a:rPr lang="zh-CN" altLang="en-US" sz="3200" dirty="0"/>
              <a:t>工作三年的工程师）</a:t>
            </a:r>
            <a:endParaRPr lang="en-US" sz="3200" dirty="0"/>
          </a:p>
        </p:txBody>
      </p:sp>
      <p:pic>
        <p:nvPicPr>
          <p:cNvPr id="4" name="Content Placeholder 3"/>
          <p:cNvPicPr>
            <a:picLocks noGrp="1" noChangeAspect="1"/>
          </p:cNvPicPr>
          <p:nvPr>
            <p:ph idx="1"/>
          </p:nvPr>
        </p:nvPicPr>
        <p:blipFill>
          <a:blip r:embed="rId2"/>
          <a:stretch>
            <a:fillRect/>
          </a:stretch>
        </p:blipFill>
        <p:spPr>
          <a:xfrm>
            <a:off x="3082987" y="1752601"/>
            <a:ext cx="6026026" cy="462597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续表</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981200" y="2813111"/>
            <a:ext cx="8229600" cy="254976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大三 </a:t>
            </a:r>
            <a:r>
              <a:rPr lang="en-US" altLang="zh-CN" dirty="0"/>
              <a:t>vs. </a:t>
            </a:r>
            <a:r>
              <a:rPr lang="zh-CN" altLang="en-US" dirty="0"/>
              <a:t>研究生毕业</a:t>
            </a:r>
            <a:r>
              <a:rPr lang="en-US" altLang="zh-CN" dirty="0"/>
              <a:t>+</a:t>
            </a:r>
            <a:r>
              <a:rPr lang="zh-CN" altLang="en-US" dirty="0"/>
              <a:t>工作三年</a:t>
            </a:r>
            <a:endParaRPr lang="en-US" dirty="0"/>
          </a:p>
        </p:txBody>
      </p:sp>
      <p:sp>
        <p:nvSpPr>
          <p:cNvPr id="3" name="Content Placeholder 2"/>
          <p:cNvSpPr>
            <a:spLocks noGrp="1"/>
          </p:cNvSpPr>
          <p:nvPr>
            <p:ph idx="1"/>
          </p:nvPr>
        </p:nvSpPr>
        <p:spPr/>
        <p:txBody>
          <a:bodyPr>
            <a:normAutofit/>
          </a:bodyPr>
          <a:lstStyle/>
          <a:p>
            <a:pPr marL="118745" indent="0">
              <a:buNone/>
            </a:pPr>
            <a:r>
              <a:rPr lang="zh-CN" altLang="en-US" sz="2000" dirty="0"/>
              <a:t>软件工程师比大四学生多读了 </a:t>
            </a:r>
            <a:r>
              <a:rPr lang="en-US" altLang="zh-CN" sz="2000" dirty="0"/>
              <a:t>3 </a:t>
            </a:r>
            <a:r>
              <a:rPr lang="zh-CN" altLang="en-US" sz="2000" dirty="0"/>
              <a:t>年书</a:t>
            </a:r>
            <a:r>
              <a:rPr lang="en-US" altLang="zh-CN" sz="2000" dirty="0"/>
              <a:t>, </a:t>
            </a:r>
            <a:r>
              <a:rPr lang="zh-CN" altLang="en-US" sz="2000" dirty="0"/>
              <a:t>多工作了</a:t>
            </a:r>
            <a:r>
              <a:rPr lang="en-US" altLang="zh-CN" sz="2000" dirty="0"/>
              <a:t>3 </a:t>
            </a:r>
            <a:r>
              <a:rPr lang="zh-CN" altLang="en-US" sz="2000" dirty="0"/>
              <a:t>年，两类人任务的质量要求也不一样。</a:t>
            </a:r>
            <a:endParaRPr lang="en-US" altLang="zh-CN" sz="2000" dirty="0"/>
          </a:p>
          <a:p>
            <a:r>
              <a:rPr lang="zh-CN" altLang="en-US" sz="2000" dirty="0"/>
              <a:t>工程师在 “需求分析” 和 “测试” 这两方面明显地要花更多的时间（多 </a:t>
            </a:r>
            <a:r>
              <a:rPr lang="en-US" altLang="zh-CN" sz="2000" dirty="0"/>
              <a:t>60% </a:t>
            </a:r>
            <a:r>
              <a:rPr lang="zh-CN" altLang="en-US" sz="2000" dirty="0"/>
              <a:t>以上）；但是在具体编码上</a:t>
            </a:r>
            <a:r>
              <a:rPr lang="en-US" altLang="zh-CN" sz="2000" dirty="0"/>
              <a:t>, </a:t>
            </a:r>
            <a:r>
              <a:rPr lang="zh-CN" altLang="en-US" sz="2000" dirty="0"/>
              <a:t>工程师比学生 要少花</a:t>
            </a:r>
            <a:r>
              <a:rPr lang="en-US" altLang="zh-CN" sz="2000" dirty="0"/>
              <a:t>1/3 </a:t>
            </a:r>
            <a:r>
              <a:rPr lang="zh-CN" altLang="en-US" sz="2000" dirty="0"/>
              <a:t>强的时间。</a:t>
            </a:r>
            <a:endParaRPr lang="en-US" altLang="zh-CN" sz="2000" dirty="0"/>
          </a:p>
          <a:p>
            <a:r>
              <a:rPr lang="zh-CN" altLang="en-US" sz="2000" dirty="0"/>
              <a:t>显然</a:t>
            </a:r>
            <a:r>
              <a:rPr lang="en-US" altLang="zh-CN" sz="2000" dirty="0"/>
              <a:t>, </a:t>
            </a:r>
            <a:r>
              <a:rPr lang="zh-CN" altLang="en-US" sz="2000" dirty="0"/>
              <a:t>从学生到职业程序员</a:t>
            </a:r>
            <a:r>
              <a:rPr lang="en-US" altLang="zh-CN" sz="2000" dirty="0"/>
              <a:t>, </a:t>
            </a:r>
            <a:r>
              <a:rPr lang="zh-CN" altLang="en-US" sz="2000" dirty="0"/>
              <a:t>并不是更加没完没了地写程序</a:t>
            </a:r>
            <a:r>
              <a:rPr lang="en-US" altLang="zh-CN" sz="2000" dirty="0"/>
              <a:t>——</a:t>
            </a:r>
            <a:r>
              <a:rPr lang="zh-CN" altLang="en-US" sz="2000" dirty="0"/>
              <a:t>花在写代码上的时间反而少了许多。</a:t>
            </a:r>
            <a:endParaRPr lang="en-US" altLang="zh-CN" sz="2000" dirty="0"/>
          </a:p>
          <a:p>
            <a:endParaRPr lang="en-US" sz="2000" dirty="0"/>
          </a:p>
          <a:p>
            <a:pPr marL="118745" indent="0">
              <a:buNone/>
            </a:pPr>
            <a:r>
              <a:rPr lang="zh-CN" altLang="en-US" sz="2000" dirty="0"/>
              <a:t>请同学们汇报自己在写个人项目时候的时间分布，发布到博客上。</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 ISSUES </a:t>
            </a:r>
            <a:r>
              <a:rPr lang="en-US" altLang="zh-CN" dirty="0"/>
              <a:t>(cont.)</a:t>
            </a:r>
            <a:endParaRPr lang="en-US" dirty="0"/>
          </a:p>
        </p:txBody>
      </p:sp>
      <p:sp>
        <p:nvSpPr>
          <p:cNvPr id="2" name="Content Placeholder 1"/>
          <p:cNvSpPr>
            <a:spLocks noGrp="1"/>
          </p:cNvSpPr>
          <p:nvPr>
            <p:ph idx="1"/>
          </p:nvPr>
        </p:nvSpPr>
        <p:spPr/>
        <p:txBody>
          <a:bodyPr>
            <a:normAutofit/>
          </a:bodyPr>
          <a:lstStyle/>
          <a:p>
            <a:r>
              <a:rPr lang="en-US" altLang="zh-CN" sz="2200" dirty="0"/>
              <a:t>How do you measure efficiency?</a:t>
            </a:r>
          </a:p>
          <a:p>
            <a:pPr lvl="1"/>
            <a:r>
              <a:rPr lang="zh-CN" altLang="en-US" sz="2200" dirty="0"/>
              <a:t>一群人把一堆砖头从</a:t>
            </a:r>
            <a:r>
              <a:rPr lang="en-US" altLang="zh-CN" sz="2200" dirty="0"/>
              <a:t>A</a:t>
            </a:r>
            <a:r>
              <a:rPr lang="zh-CN" altLang="en-US" sz="2200" dirty="0"/>
              <a:t>地搬到</a:t>
            </a:r>
            <a:r>
              <a:rPr lang="en-US" altLang="zh-CN" sz="2200" dirty="0"/>
              <a:t>B</a:t>
            </a:r>
            <a:r>
              <a:rPr lang="zh-CN" altLang="en-US" sz="2200" dirty="0"/>
              <a:t>地。</a:t>
            </a:r>
            <a:endParaRPr lang="en-US" altLang="zh-CN" sz="2200" dirty="0"/>
          </a:p>
          <a:p>
            <a:pPr lvl="1"/>
            <a:r>
              <a:rPr lang="zh-CN" altLang="en-US" sz="2200" dirty="0"/>
              <a:t>一个剧组排演话剧</a:t>
            </a:r>
            <a:endParaRPr lang="en-US" altLang="zh-CN" sz="2200" dirty="0"/>
          </a:p>
          <a:p>
            <a:pPr lvl="1"/>
            <a:r>
              <a:rPr lang="zh-CN" altLang="en-US" sz="2200" dirty="0"/>
              <a:t>一群画家一起创作 </a:t>
            </a:r>
            <a:r>
              <a:rPr lang="en-US" altLang="zh-CN" sz="2200" dirty="0"/>
              <a:t>“</a:t>
            </a:r>
            <a:r>
              <a:rPr lang="zh-CN" altLang="en-US" sz="2200" dirty="0"/>
              <a:t>百里长城图”</a:t>
            </a:r>
            <a:endParaRPr lang="en-US" altLang="zh-CN" sz="2200" dirty="0"/>
          </a:p>
          <a:p>
            <a:pPr lvl="1"/>
            <a:r>
              <a:rPr lang="zh-CN" altLang="en-US" sz="2200" dirty="0"/>
              <a:t>一群队员在职业球队踢球</a:t>
            </a:r>
            <a:endParaRPr lang="en-US" altLang="zh-CN" sz="2200" dirty="0"/>
          </a:p>
          <a:p>
            <a:pPr lvl="1"/>
            <a:r>
              <a:rPr lang="zh-CN" altLang="en-US" sz="2200" dirty="0"/>
              <a:t>一群医生</a:t>
            </a:r>
            <a:r>
              <a:rPr lang="en-US" altLang="zh-CN" sz="2200" dirty="0"/>
              <a:t>/</a:t>
            </a:r>
            <a:r>
              <a:rPr lang="zh-CN" altLang="en-US" sz="2200" dirty="0"/>
              <a:t>护士轮流值夜班</a:t>
            </a:r>
            <a:endParaRPr lang="en-US" altLang="zh-CN" sz="2200" dirty="0"/>
          </a:p>
          <a:p>
            <a:pPr lvl="1"/>
            <a:r>
              <a:rPr lang="zh-CN" altLang="en-US" sz="2200" dirty="0"/>
              <a:t>一群老师教一个系中不同的课</a:t>
            </a:r>
            <a:endParaRPr lang="en-US" altLang="zh-CN" sz="2200" dirty="0"/>
          </a:p>
          <a:p>
            <a:pPr lvl="1"/>
            <a:r>
              <a:rPr lang="zh-CN" altLang="en-US" sz="2200" dirty="0"/>
              <a:t>一群学生做软工项目</a:t>
            </a:r>
            <a:endParaRPr lang="en-US" altLang="zh-CN" sz="2200" dirty="0"/>
          </a:p>
          <a:p>
            <a:pPr>
              <a:buNone/>
            </a:pPr>
            <a:endParaRPr lang="en-US" altLang="zh-CN" sz="2400" dirty="0"/>
          </a:p>
          <a:p>
            <a:pPr>
              <a:buNone/>
            </a:pPr>
            <a:r>
              <a:rPr lang="zh-CN" altLang="en-US" sz="2400" dirty="0"/>
              <a:t>如何衡量个人在各自团队的效率？</a:t>
            </a:r>
            <a:br>
              <a:rPr lang="zh-CN" altLang="en-US" sz="2400" dirty="0"/>
            </a:b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20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20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2000"/>
                                        <p:tgtEl>
                                          <p:spTgt spid="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2000"/>
                                        <p:tgtEl>
                                          <p:spTgt spid="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20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20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 ISSUES </a:t>
            </a:r>
            <a:r>
              <a:rPr lang="en-US" altLang="zh-CN" dirty="0"/>
              <a:t>(cont.)</a:t>
            </a:r>
            <a:endParaRPr lang="en-US" dirty="0"/>
          </a:p>
        </p:txBody>
      </p:sp>
      <p:sp>
        <p:nvSpPr>
          <p:cNvPr id="2" name="Content Placeholder 1"/>
          <p:cNvSpPr>
            <a:spLocks noGrp="1"/>
          </p:cNvSpPr>
          <p:nvPr>
            <p:ph idx="1"/>
          </p:nvPr>
        </p:nvSpPr>
        <p:spPr/>
        <p:txBody>
          <a:bodyPr>
            <a:normAutofit/>
          </a:bodyPr>
          <a:lstStyle/>
          <a:p>
            <a:r>
              <a:rPr lang="en-US" altLang="zh-CN" sz="2200" dirty="0"/>
              <a:t>How do you measure creativity?</a:t>
            </a:r>
          </a:p>
          <a:p>
            <a:pPr lvl="1"/>
            <a:r>
              <a:rPr lang="zh-CN" altLang="en-US" sz="2000" dirty="0"/>
              <a:t>写诗歌最多的人是谁</a:t>
            </a:r>
            <a:r>
              <a:rPr lang="en-US" altLang="zh-CN" sz="2000" dirty="0"/>
              <a:t>? </a:t>
            </a:r>
          </a:p>
          <a:p>
            <a:pPr lvl="1"/>
            <a:r>
              <a:rPr lang="zh-CN" altLang="en-US" sz="2000" dirty="0"/>
              <a:t>最有创造力的诗人是谁</a:t>
            </a:r>
            <a:r>
              <a:rPr lang="en-US" altLang="zh-CN" sz="2000" dirty="0"/>
              <a:t>? </a:t>
            </a:r>
          </a:p>
          <a:p>
            <a:r>
              <a:rPr lang="en-US" altLang="zh-CN" sz="2200" dirty="0"/>
              <a:t>Is software Art or Engineering?</a:t>
            </a:r>
          </a:p>
          <a:p>
            <a:pPr lvl="1"/>
            <a:r>
              <a:rPr lang="en-US" altLang="zh-CN" sz="2000" dirty="0"/>
              <a:t>How do you measure an Artist?   </a:t>
            </a:r>
          </a:p>
          <a:p>
            <a:pPr lvl="1"/>
            <a:r>
              <a:rPr lang="en-US" altLang="zh-CN" sz="2000" dirty="0"/>
              <a:t>&lt;</a:t>
            </a:r>
            <a:r>
              <a:rPr lang="zh-CN" altLang="en-US" sz="2000" dirty="0"/>
              <a:t>红楼梦</a:t>
            </a:r>
            <a:r>
              <a:rPr lang="en-US" altLang="zh-CN" sz="2000" dirty="0"/>
              <a:t>&gt; by </a:t>
            </a:r>
            <a:r>
              <a:rPr lang="zh-CN" altLang="en-US" sz="2000" dirty="0"/>
              <a:t>曹雪芹</a:t>
            </a: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Art vs. Follow the rules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zh-CN" altLang="en-US" sz="2400" dirty="0">
                <a:latin typeface="微软雅黑" panose="020B0503020204020204" charset="-122"/>
                <a:ea typeface="微软雅黑" panose="020B0503020204020204" charset="-122"/>
              </a:rPr>
              <a:t>念奴娇 </a:t>
            </a: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赤壁怀古 </a:t>
            </a:r>
            <a:br>
              <a:rPr lang="zh-CN" altLang="en-US" dirty="0">
                <a:latin typeface="微软雅黑" panose="020B0503020204020204" charset="-122"/>
                <a:ea typeface="微软雅黑" panose="020B0503020204020204" charset="-122"/>
              </a:rPr>
            </a:br>
            <a:br>
              <a:rPr lang="zh-CN" altLang="en-US"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大江东去，浪淘尽，</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千古风流人物。</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故垒西边，人道是，三国周郎赤壁。</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乱石崩云，惊涛裂岸，卷起千堆雪。</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江山如画，一时多少豪杰。</a:t>
            </a:r>
            <a:br>
              <a:rPr lang="zh-CN" altLang="en-US" sz="2200" dirty="0">
                <a:latin typeface="微软雅黑" panose="020B0503020204020204" charset="-122"/>
                <a:ea typeface="微软雅黑" panose="020B0503020204020204" charset="-122"/>
              </a:rPr>
            </a:b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遥想公谨当年，小乔初嫁了。</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羽扇纶巾，谈笑间，樯橹灰飞烟灭。</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故国神游，多情应笑我，早生华发。</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人生如梦，一樽还酹江月。</a:t>
            </a:r>
            <a:endParaRPr lang="en-US" altLang="zh-CN" sz="2200" dirty="0">
              <a:latin typeface="微软雅黑" panose="020B0503020204020204" charset="-122"/>
              <a:ea typeface="微软雅黑" panose="020B0503020204020204" charset="-122"/>
            </a:endParaRPr>
          </a:p>
          <a:p>
            <a:pPr>
              <a:buNone/>
            </a:pPr>
            <a:r>
              <a:rPr lang="en-US" altLang="zh-CN" sz="2200" dirty="0"/>
              <a:t>-----------------</a:t>
            </a:r>
          </a:p>
          <a:p>
            <a:pPr>
              <a:buNone/>
            </a:pPr>
            <a:r>
              <a:rPr lang="zh-CN" altLang="en-US" sz="2200" dirty="0"/>
              <a:t>找出上面重复的字</a:t>
            </a:r>
            <a:endParaRPr lang="en-US" altLang="zh-CN" sz="2200" dirty="0"/>
          </a:p>
          <a:p>
            <a:pPr>
              <a:buNone/>
            </a:pPr>
            <a:r>
              <a:rPr lang="en-US" altLang="zh-CN" sz="2200" dirty="0"/>
              <a:t>-----------------</a:t>
            </a:r>
          </a:p>
          <a:p>
            <a:pPr>
              <a:buNone/>
            </a:pPr>
            <a:r>
              <a:rPr lang="en-US" altLang="zh-CN" sz="2200" dirty="0"/>
              <a:t>[</a:t>
            </a:r>
            <a:r>
              <a:rPr lang="zh-CN" altLang="en-US" sz="2200" dirty="0"/>
              <a:t>南宋</a:t>
            </a:r>
            <a:r>
              <a:rPr lang="en-US" altLang="zh-CN" sz="2200" dirty="0"/>
              <a:t>]</a:t>
            </a:r>
            <a:r>
              <a:rPr lang="zh-CN" altLang="en-US" sz="2200" dirty="0"/>
              <a:t>俞文豹：今人看人文字，未论其大体如何，先且指点重字。 </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is SE</a:t>
            </a:r>
            <a:endParaRPr lang="en-US" dirty="0"/>
          </a:p>
        </p:txBody>
      </p:sp>
      <p:sp>
        <p:nvSpPr>
          <p:cNvPr id="3" name="Content Placeholder 2"/>
          <p:cNvSpPr>
            <a:spLocks noGrp="1"/>
          </p:cNvSpPr>
          <p:nvPr>
            <p:ph idx="1"/>
          </p:nvPr>
        </p:nvSpPr>
        <p:spPr/>
        <p:txBody>
          <a:bodyPr>
            <a:normAutofit fontScale="85000" lnSpcReduction="20000"/>
          </a:bodyPr>
          <a:lstStyle/>
          <a:p>
            <a:r>
              <a:rPr lang="en-US" altLang="zh-CN" dirty="0"/>
              <a:t>Which role is corresponding to software engineer?</a:t>
            </a:r>
          </a:p>
          <a:p>
            <a:pPr lvl="1"/>
            <a:r>
              <a:rPr lang="zh-CN" altLang="en-US" dirty="0">
                <a:latin typeface="微软雅黑" panose="020B0503020204020204" charset="-122"/>
                <a:ea typeface="微软雅黑" panose="020B0503020204020204" charset="-122"/>
              </a:rPr>
              <a:t>房地产老板</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投标，买地</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建筑设计师</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设计建筑</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土木工程师</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设计土木结构</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建筑工人</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具体建设</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工程监理</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监管质量</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装修工人</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楼房销售</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楼房中介</a:t>
            </a:r>
            <a:endParaRPr lang="en-US" altLang="zh-CN" dirty="0">
              <a:latin typeface="微软雅黑" panose="020B0503020204020204" charset="-122"/>
              <a:ea typeface="微软雅黑" panose="020B0503020204020204" charset="-122"/>
            </a:endParaRPr>
          </a:p>
          <a:p>
            <a:r>
              <a:rPr lang="en-US" altLang="zh-CN" dirty="0"/>
              <a:t>Should software engineering include elements of art?</a:t>
            </a:r>
            <a:endParaRPr lang="en-US" altLang="zh-CN" dirty="0">
              <a:latin typeface="微软雅黑" panose="020B0503020204020204" charset="-122"/>
              <a:ea typeface="微软雅黑" panose="020B0503020204020204" charset="-122"/>
            </a:endParaRPr>
          </a:p>
        </p:txBody>
      </p:sp>
      <p:sp>
        <p:nvSpPr>
          <p:cNvPr id="4" name="Right Bracket 3"/>
          <p:cNvSpPr/>
          <p:nvPr/>
        </p:nvSpPr>
        <p:spPr>
          <a:xfrm>
            <a:off x="5257800" y="2438400"/>
            <a:ext cx="1188720" cy="25146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705600" y="3352801"/>
            <a:ext cx="2819400" cy="646331"/>
          </a:xfrm>
          <a:prstGeom prst="rect">
            <a:avLst/>
          </a:prstGeom>
          <a:noFill/>
        </p:spPr>
        <p:txBody>
          <a:bodyPr wrap="square" rtlCol="0">
            <a:spAutoFit/>
          </a:bodyPr>
          <a:lstStyle/>
          <a:p>
            <a:r>
              <a:rPr lang="zh-CN" altLang="en-US" dirty="0"/>
              <a:t>软件工程师</a:t>
            </a:r>
            <a:r>
              <a:rPr lang="en-US" altLang="zh-CN" dirty="0"/>
              <a:t>/</a:t>
            </a:r>
            <a:r>
              <a:rPr lang="zh-CN" altLang="en-US" dirty="0"/>
              <a:t>码农</a:t>
            </a:r>
            <a:r>
              <a:rPr lang="en-US" altLang="zh-CN" dirty="0"/>
              <a:t> </a:t>
            </a:r>
          </a:p>
          <a:p>
            <a:r>
              <a:rPr lang="zh-CN" altLang="en-US" dirty="0"/>
              <a:t>要做的事情</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20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
                                            <p:txEl>
                                              <p:pRg st="14" end="14"/>
                                            </p:txEl>
                                          </p:spTgt>
                                        </p:tgtEl>
                                        <p:attrNameLst>
                                          <p:attrName>style.visibility</p:attrName>
                                        </p:attrNameLst>
                                      </p:cBhvr>
                                      <p:to>
                                        <p:strVal val="visible"/>
                                      </p:to>
                                    </p:set>
                                    <p:animEffect transition="in" filter="fade">
                                      <p:cBhvr>
                                        <p:cTn id="86"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Pragmatic Approach</a:t>
            </a:r>
          </a:p>
        </p:txBody>
      </p:sp>
      <p:sp>
        <p:nvSpPr>
          <p:cNvPr id="2" name="Content Placeholder 1"/>
          <p:cNvSpPr>
            <a:spLocks noGrp="1"/>
          </p:cNvSpPr>
          <p:nvPr>
            <p:ph idx="1"/>
          </p:nvPr>
        </p:nvSpPr>
        <p:spPr>
          <a:xfrm>
            <a:off x="1981200" y="1600200"/>
            <a:ext cx="4191000" cy="4876800"/>
          </a:xfrm>
        </p:spPr>
        <p:txBody>
          <a:bodyPr>
            <a:noAutofit/>
          </a:bodyPr>
          <a:lstStyle/>
          <a:p>
            <a:r>
              <a:rPr lang="en-US" sz="2000" dirty="0"/>
              <a:t>Book </a:t>
            </a:r>
            <a:r>
              <a:rPr lang="en-US" altLang="zh-CN" sz="2000" dirty="0"/>
              <a:t>-</a:t>
            </a:r>
            <a:r>
              <a:rPr lang="en-US" sz="2000" dirty="0"/>
              <a:t> </a:t>
            </a:r>
            <a:r>
              <a:rPr lang="en-US" altLang="zh-CN" sz="2000" dirty="0"/>
              <a:t>TPP</a:t>
            </a:r>
            <a:endParaRPr lang="en-US" sz="2000" dirty="0"/>
          </a:p>
          <a:p>
            <a:pPr lvl="1"/>
            <a:r>
              <a:rPr lang="en-US" sz="1400" i="1" dirty="0"/>
              <a:t>&lt;the </a:t>
            </a:r>
            <a:r>
              <a:rPr lang="en-US" altLang="zh-CN" sz="1400" i="1" dirty="0"/>
              <a:t>P</a:t>
            </a:r>
            <a:r>
              <a:rPr lang="en-US" sz="1400" i="1" dirty="0"/>
              <a:t>ragmatic Programmer – from Journeyman to Master&gt;</a:t>
            </a:r>
            <a:r>
              <a:rPr lang="en-US" sz="1800" dirty="0"/>
              <a:t> </a:t>
            </a:r>
          </a:p>
          <a:p>
            <a:r>
              <a:rPr lang="en-US" sz="2000" dirty="0"/>
              <a:t>How does TPP guide engineer in:</a:t>
            </a:r>
          </a:p>
          <a:p>
            <a:r>
              <a:rPr lang="en-US" sz="2000" dirty="0"/>
              <a:t>Planning</a:t>
            </a:r>
          </a:p>
          <a:p>
            <a:r>
              <a:rPr lang="en-US" altLang="zh-CN" sz="2000" dirty="0"/>
              <a:t>D</a:t>
            </a:r>
            <a:r>
              <a:rPr lang="en-US" sz="2000" dirty="0"/>
              <a:t>evelopment </a:t>
            </a:r>
          </a:p>
          <a:p>
            <a:pPr lvl="1"/>
            <a:r>
              <a:rPr lang="en-US" altLang="zh-CN" sz="1800" dirty="0"/>
              <a:t>D</a:t>
            </a:r>
            <a:r>
              <a:rPr lang="en-US" sz="1800" dirty="0"/>
              <a:t>esign, </a:t>
            </a:r>
          </a:p>
          <a:p>
            <a:pPr marL="887095" lvl="3" indent="-255905">
              <a:spcBef>
                <a:spcPts val="400"/>
              </a:spcBef>
              <a:buSzPct val="68000"/>
              <a:buFont typeface="Wingdings 3" panose="05040102010807070707" pitchFamily="18" charset="2"/>
              <a:buChar char=""/>
            </a:pPr>
            <a:r>
              <a:rPr lang="en-US" dirty="0"/>
              <a:t>design review and code review</a:t>
            </a:r>
          </a:p>
          <a:p>
            <a:pPr marL="887095" lvl="3" indent="-255905">
              <a:spcBef>
                <a:spcPts val="400"/>
              </a:spcBef>
              <a:buSzPct val="68000"/>
              <a:buFont typeface="Wingdings 3" panose="05040102010807070707" pitchFamily="18" charset="2"/>
              <a:buChar char=""/>
            </a:pPr>
            <a:r>
              <a:rPr lang="en-US" dirty="0"/>
              <a:t>coding standard</a:t>
            </a:r>
          </a:p>
          <a:p>
            <a:pPr lvl="1"/>
            <a:r>
              <a:rPr lang="en-US" sz="1800" dirty="0"/>
              <a:t>Coding</a:t>
            </a:r>
          </a:p>
          <a:p>
            <a:pPr lvl="2"/>
            <a:r>
              <a:rPr lang="en-US" altLang="zh-CN" sz="1600" dirty="0"/>
              <a:t>Performance analysis</a:t>
            </a:r>
            <a:endParaRPr lang="en-US" sz="1600" dirty="0"/>
          </a:p>
          <a:p>
            <a:pPr lvl="1"/>
            <a:r>
              <a:rPr lang="en-US" altLang="zh-CN" sz="1800" dirty="0"/>
              <a:t>T</a:t>
            </a:r>
            <a:r>
              <a:rPr lang="en-US" sz="1800" dirty="0"/>
              <a:t>est </a:t>
            </a:r>
          </a:p>
          <a:p>
            <a:r>
              <a:rPr lang="en-US" altLang="zh-CN" sz="2000" dirty="0"/>
              <a:t>P</a:t>
            </a:r>
            <a:r>
              <a:rPr lang="en-US" sz="2000" dirty="0"/>
              <a:t>ostmortem</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1600200"/>
            <a:ext cx="3527474" cy="4495800"/>
          </a:xfrm>
          <a:prstGeom prst="rect">
            <a:avLst/>
          </a:prstGeom>
          <a:noFill/>
          <a:ln>
            <a:noFill/>
          </a:ln>
          <a:effectLst>
            <a:outerShdw blurRad="127000" dist="38100" dir="2700000" sx="105000" sy="105000" algn="tl" rotWithShape="0">
              <a:schemeClr val="tx1">
                <a:lumMod val="50000"/>
                <a:lumOff val="50000"/>
                <a:alpha val="4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a:t>TPP - Planning</a:t>
            </a:r>
            <a:endParaRPr lang="en-US" dirty="0"/>
          </a:p>
        </p:txBody>
      </p:sp>
      <p:sp>
        <p:nvSpPr>
          <p:cNvPr id="2" name="Content Placeholder 1"/>
          <p:cNvSpPr>
            <a:spLocks noGrp="1"/>
          </p:cNvSpPr>
          <p:nvPr>
            <p:ph idx="1"/>
          </p:nvPr>
        </p:nvSpPr>
        <p:spPr/>
        <p:txBody>
          <a:bodyPr/>
          <a:lstStyle/>
          <a:p>
            <a:r>
              <a:rPr lang="en-US" dirty="0"/>
              <a:t>Estimation – consider 2 developers</a:t>
            </a:r>
          </a:p>
          <a:p>
            <a:r>
              <a:rPr lang="en-US" dirty="0"/>
              <a:t>Al improves his task finish time from 10 days to 7 days; Bob improves it from 10 days to 8 days.  Is Al better?</a:t>
            </a:r>
          </a:p>
          <a:p>
            <a:pPr>
              <a:buNone/>
            </a:pPr>
            <a:endParaRPr lang="en-US" dirty="0"/>
          </a:p>
          <a:p>
            <a:pPr>
              <a:buNone/>
            </a:pPr>
            <a:endParaRPr lang="en-US" dirty="0"/>
          </a:p>
        </p:txBody>
      </p:sp>
      <p:graphicFrame>
        <p:nvGraphicFramePr>
          <p:cNvPr id="4" name="Table 3"/>
          <p:cNvGraphicFramePr>
            <a:graphicFrameLocks noGrp="1"/>
          </p:cNvGraphicFramePr>
          <p:nvPr/>
        </p:nvGraphicFramePr>
        <p:xfrm>
          <a:off x="2514600" y="3997180"/>
          <a:ext cx="7086600" cy="263222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517381">
                <a:tc>
                  <a:txBody>
                    <a:bodyPr/>
                    <a:lstStyle/>
                    <a:p>
                      <a:r>
                        <a:rPr lang="en-US" sz="1600" dirty="0"/>
                        <a:t>Assignment</a:t>
                      </a:r>
                    </a:p>
                  </a:txBody>
                  <a:tcPr/>
                </a:tc>
                <a:tc>
                  <a:txBody>
                    <a:bodyPr/>
                    <a:lstStyle/>
                    <a:p>
                      <a:r>
                        <a:rPr lang="en-US" sz="1600" dirty="0"/>
                        <a:t>Al’s estimation</a:t>
                      </a:r>
                    </a:p>
                  </a:txBody>
                  <a:tcPr/>
                </a:tc>
                <a:tc>
                  <a:txBody>
                    <a:bodyPr/>
                    <a:lstStyle/>
                    <a:p>
                      <a:r>
                        <a:rPr lang="en-US" sz="1600" dirty="0"/>
                        <a:t>Al’s delivery</a:t>
                      </a:r>
                    </a:p>
                  </a:txBody>
                  <a:tcPr/>
                </a:tc>
                <a:tc>
                  <a:txBody>
                    <a:bodyPr/>
                    <a:lstStyle/>
                    <a:p>
                      <a:r>
                        <a:rPr lang="en-US" sz="1600" dirty="0"/>
                        <a:t>Bob’s estimation</a:t>
                      </a:r>
                    </a:p>
                  </a:txBody>
                  <a:tcPr/>
                </a:tc>
                <a:tc>
                  <a:txBody>
                    <a:bodyPr/>
                    <a:lstStyle/>
                    <a:p>
                      <a:r>
                        <a:rPr lang="en-US" sz="1600" dirty="0"/>
                        <a:t>Bob’s delivery</a:t>
                      </a:r>
                    </a:p>
                  </a:txBody>
                  <a:tcPr/>
                </a:tc>
                <a:extLst>
                  <a:ext uri="{0D108BD9-81ED-4DB2-BD59-A6C34878D82A}">
                    <a16:rowId xmlns:a16="http://schemas.microsoft.com/office/drawing/2014/main" val="10000"/>
                  </a:ext>
                </a:extLst>
              </a:tr>
              <a:tr h="513275">
                <a:tc>
                  <a:txBody>
                    <a:bodyPr/>
                    <a:lstStyle/>
                    <a:p>
                      <a:r>
                        <a:rPr lang="en-US" dirty="0"/>
                        <a:t>1,2,</a:t>
                      </a:r>
                      <a:r>
                        <a:rPr lang="en-US" baseline="0" dirty="0"/>
                        <a:t>3</a:t>
                      </a:r>
                      <a:endParaRPr lang="en-US" dirty="0"/>
                    </a:p>
                  </a:txBody>
                  <a:tcPr/>
                </a:tc>
                <a:tc>
                  <a:txBody>
                    <a:bodyPr/>
                    <a:lstStyle/>
                    <a:p>
                      <a:r>
                        <a:rPr lang="en-US" dirty="0"/>
                        <a:t>10</a:t>
                      </a:r>
                      <a:r>
                        <a:rPr lang="en-US" baseline="0" dirty="0"/>
                        <a:t> days</a:t>
                      </a:r>
                      <a:endParaRPr lang="en-US" dirty="0"/>
                    </a:p>
                  </a:txBody>
                  <a:tcPr/>
                </a:tc>
                <a:tc>
                  <a:txBody>
                    <a:bodyPr/>
                    <a:lstStyle/>
                    <a:p>
                      <a:r>
                        <a:rPr lang="en-US" dirty="0"/>
                        <a:t>5,</a:t>
                      </a:r>
                      <a:r>
                        <a:rPr lang="en-US" baseline="0" dirty="0"/>
                        <a:t> 10, 15</a:t>
                      </a:r>
                      <a:endParaRPr lang="en-US" dirty="0"/>
                    </a:p>
                  </a:txBody>
                  <a:tcPr/>
                </a:tc>
                <a:tc>
                  <a:txBody>
                    <a:bodyPr/>
                    <a:lstStyle/>
                    <a:p>
                      <a:r>
                        <a:rPr lang="en-US" dirty="0"/>
                        <a:t>10 day</a:t>
                      </a:r>
                    </a:p>
                  </a:txBody>
                  <a:tcPr/>
                </a:tc>
                <a:tc>
                  <a:txBody>
                    <a:bodyPr/>
                    <a:lstStyle/>
                    <a:p>
                      <a:r>
                        <a:rPr lang="en-US" dirty="0"/>
                        <a:t>5,</a:t>
                      </a:r>
                      <a:r>
                        <a:rPr lang="en-US" baseline="0" dirty="0"/>
                        <a:t> 10, 15</a:t>
                      </a:r>
                      <a:endParaRPr lang="en-US" dirty="0"/>
                    </a:p>
                  </a:txBody>
                  <a:tcPr/>
                </a:tc>
                <a:extLst>
                  <a:ext uri="{0D108BD9-81ED-4DB2-BD59-A6C34878D82A}">
                    <a16:rowId xmlns:a16="http://schemas.microsoft.com/office/drawing/2014/main" val="10001"/>
                  </a:ext>
                </a:extLst>
              </a:tr>
              <a:tr h="513275">
                <a:tc>
                  <a:txBody>
                    <a:bodyPr/>
                    <a:lstStyle/>
                    <a:p>
                      <a:r>
                        <a:rPr lang="en-US" dirty="0"/>
                        <a:t>4,5,6</a:t>
                      </a:r>
                    </a:p>
                  </a:txBody>
                  <a:tcPr/>
                </a:tc>
                <a:tc>
                  <a:txBody>
                    <a:bodyPr/>
                    <a:lstStyle/>
                    <a:p>
                      <a:r>
                        <a:rPr lang="en-US" dirty="0"/>
                        <a:t>7</a:t>
                      </a:r>
                      <a:r>
                        <a:rPr lang="en-US" baseline="0" dirty="0"/>
                        <a:t> days</a:t>
                      </a:r>
                      <a:endParaRPr lang="en-US" dirty="0"/>
                    </a:p>
                  </a:txBody>
                  <a:tcPr/>
                </a:tc>
                <a:tc>
                  <a:txBody>
                    <a:bodyPr/>
                    <a:lstStyle/>
                    <a:p>
                      <a:r>
                        <a:rPr lang="en-US" dirty="0"/>
                        <a:t>1, 9, 11</a:t>
                      </a:r>
                    </a:p>
                  </a:txBody>
                  <a:tcPr/>
                </a:tc>
                <a:tc>
                  <a:txBody>
                    <a:bodyPr/>
                    <a:lstStyle/>
                    <a:p>
                      <a:r>
                        <a:rPr lang="en-US" dirty="0"/>
                        <a:t>8</a:t>
                      </a:r>
                      <a:r>
                        <a:rPr lang="en-US" baseline="0" dirty="0"/>
                        <a:t> days</a:t>
                      </a:r>
                      <a:endParaRPr lang="en-US" dirty="0"/>
                    </a:p>
                  </a:txBody>
                  <a:tcPr/>
                </a:tc>
                <a:tc>
                  <a:txBody>
                    <a:bodyPr/>
                    <a:lstStyle/>
                    <a:p>
                      <a:r>
                        <a:rPr lang="en-US" dirty="0"/>
                        <a:t>7,8,9</a:t>
                      </a:r>
                    </a:p>
                  </a:txBody>
                  <a:tcPr/>
                </a:tc>
                <a:extLst>
                  <a:ext uri="{0D108BD9-81ED-4DB2-BD59-A6C34878D82A}">
                    <a16:rowId xmlns:a16="http://schemas.microsoft.com/office/drawing/2014/main" val="10002"/>
                  </a:ext>
                </a:extLst>
              </a:tr>
              <a:tr h="513275">
                <a:tc>
                  <a:txBody>
                    <a:bodyPr/>
                    <a:lstStyle/>
                    <a:p>
                      <a:endParaRPr lang="en-US" dirty="0"/>
                    </a:p>
                  </a:txBody>
                  <a:tcPr/>
                </a:tc>
                <a:tc>
                  <a:txBody>
                    <a:bodyPr/>
                    <a:lstStyle/>
                    <a:p>
                      <a:endParaRPr lang="en-US" dirty="0"/>
                    </a:p>
                  </a:txBody>
                  <a:tcPr/>
                </a:tc>
                <a:tc>
                  <a:txBody>
                    <a:bodyPr/>
                    <a:lstStyle/>
                    <a:p>
                      <a:r>
                        <a:rPr lang="en-US" dirty="0"/>
                        <a:t>Average = 7</a:t>
                      </a:r>
                    </a:p>
                  </a:txBody>
                  <a:tcPr/>
                </a:tc>
                <a:tc>
                  <a:txBody>
                    <a:bodyPr/>
                    <a:lstStyle/>
                    <a:p>
                      <a:endParaRPr lang="en-US" dirty="0"/>
                    </a:p>
                  </a:txBody>
                  <a:tcPr/>
                </a:tc>
                <a:tc>
                  <a:txBody>
                    <a:bodyPr/>
                    <a:lstStyle/>
                    <a:p>
                      <a:r>
                        <a:rPr lang="en-US" dirty="0"/>
                        <a:t>Average=8</a:t>
                      </a:r>
                    </a:p>
                  </a:txBody>
                  <a:tcPr/>
                </a:tc>
                <a:extLst>
                  <a:ext uri="{0D108BD9-81ED-4DB2-BD59-A6C34878D82A}">
                    <a16:rowId xmlns:a16="http://schemas.microsoft.com/office/drawing/2014/main" val="10003"/>
                  </a:ext>
                </a:extLst>
              </a:tr>
              <a:tr h="513275">
                <a:tc>
                  <a:txBody>
                    <a:bodyPr/>
                    <a:lstStyle/>
                    <a:p>
                      <a:endParaRPr lang="en-US" dirty="0"/>
                    </a:p>
                  </a:txBody>
                  <a:tcPr/>
                </a:tc>
                <a:tc>
                  <a:txBody>
                    <a:bodyPr/>
                    <a:lstStyle/>
                    <a:p>
                      <a:endParaRPr lang="en-US" dirty="0"/>
                    </a:p>
                  </a:txBody>
                  <a:tcPr/>
                </a:tc>
                <a:tc>
                  <a:txBody>
                    <a:bodyPr/>
                    <a:lstStyle/>
                    <a:p>
                      <a:r>
                        <a:rPr lang="en-US" dirty="0" err="1"/>
                        <a:t>StdDev</a:t>
                      </a:r>
                      <a:r>
                        <a:rPr lang="en-US" dirty="0"/>
                        <a:t>=5.3</a:t>
                      </a:r>
                    </a:p>
                  </a:txBody>
                  <a:tcPr/>
                </a:tc>
                <a:tc>
                  <a:txBody>
                    <a:bodyPr/>
                    <a:lstStyle/>
                    <a:p>
                      <a:endParaRPr lang="en-US" dirty="0"/>
                    </a:p>
                  </a:txBody>
                  <a:tcPr/>
                </a:tc>
                <a:tc>
                  <a:txBody>
                    <a:bodyPr/>
                    <a:lstStyle/>
                    <a:p>
                      <a:r>
                        <a:rPr lang="en-US" dirty="0" err="1"/>
                        <a:t>StdDev</a:t>
                      </a:r>
                      <a:r>
                        <a:rPr lang="en-US" dirty="0"/>
                        <a:t>=1</a:t>
                      </a:r>
                    </a:p>
                  </a:txBody>
                  <a:tcPr/>
                </a:tc>
                <a:extLst>
                  <a:ext uri="{0D108BD9-81ED-4DB2-BD59-A6C34878D82A}">
                    <a16:rowId xmlns:a16="http://schemas.microsoft.com/office/drawing/2014/main" val="10004"/>
                  </a:ext>
                </a:extLst>
              </a:tr>
            </a:tbl>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Standard Deviation</a:t>
            </a:r>
            <a:endParaRPr lang="en-US" dirty="0"/>
          </a:p>
        </p:txBody>
      </p:sp>
      <p:sp>
        <p:nvSpPr>
          <p:cNvPr id="3" name="Content Placeholder 2"/>
          <p:cNvSpPr>
            <a:spLocks noGrp="1"/>
          </p:cNvSpPr>
          <p:nvPr>
            <p:ph idx="1"/>
          </p:nvPr>
        </p:nvSpPr>
        <p:spPr/>
        <p:txBody>
          <a:bodyPr/>
          <a:lstStyle/>
          <a:p>
            <a:pPr marL="118745" indent="0">
              <a:buNone/>
            </a:pPr>
            <a:r>
              <a:rPr lang="en-US" i="1" dirty="0"/>
              <a:t>Standard deviation is key to the quality of service, and key to build trust.   </a:t>
            </a:r>
          </a:p>
          <a:p>
            <a:pPr marL="274320" lvl="1" indent="0">
              <a:buNone/>
            </a:pPr>
            <a:r>
              <a:rPr lang="en-US" altLang="zh-CN" dirty="0"/>
              <a:t>		- Jack Welch</a:t>
            </a:r>
          </a:p>
          <a:p>
            <a:r>
              <a:rPr lang="en-US" altLang="zh-CN" dirty="0"/>
              <a:t>Estimation/Promise  vs.  Delivery</a:t>
            </a:r>
          </a:p>
          <a:p>
            <a:r>
              <a:rPr lang="en-US" altLang="zh-CN" dirty="0"/>
              <a:t>How is your (or your team’s) Standard Deviation? </a:t>
            </a:r>
            <a:endParaRPr lang="en-US" dirty="0"/>
          </a:p>
          <a:p>
            <a:endParaRPr lang="en-US" dirty="0"/>
          </a:p>
        </p:txBody>
      </p:sp>
    </p:spTree>
  </p:cSld>
  <p:clrMapOvr>
    <a:masterClrMapping/>
  </p:clrMapOvr>
  <p:transition>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is a skill?</a:t>
            </a:r>
            <a:endParaRPr lang="en-US" dirty="0"/>
          </a:p>
        </p:txBody>
      </p:sp>
      <p:sp>
        <p:nvSpPr>
          <p:cNvPr id="3" name="Content Placeholder 2"/>
          <p:cNvSpPr>
            <a:spLocks noGrp="1"/>
          </p:cNvSpPr>
          <p:nvPr>
            <p:ph idx="1"/>
          </p:nvPr>
        </p:nvSpPr>
        <p:spPr/>
        <p:txBody>
          <a:bodyPr>
            <a:normAutofit/>
          </a:bodyPr>
          <a:lstStyle/>
          <a:p>
            <a:r>
              <a:rPr lang="en-US" dirty="0"/>
              <a:t>When can you claim you have the skill?</a:t>
            </a:r>
          </a:p>
          <a:p>
            <a:r>
              <a:rPr lang="en-US" dirty="0"/>
              <a:t>What’s the opposite of skill?</a:t>
            </a:r>
          </a:p>
          <a:p>
            <a:pPr lvl="1"/>
            <a:r>
              <a:rPr lang="en-US" dirty="0"/>
              <a:t>Unskilled?</a:t>
            </a:r>
          </a:p>
          <a:p>
            <a:pPr lvl="1"/>
            <a:r>
              <a:rPr lang="en-US" dirty="0"/>
              <a:t>“problem solving”</a:t>
            </a:r>
          </a:p>
          <a:p>
            <a:endParaRPr lang="en-US" dirty="0"/>
          </a:p>
          <a:p>
            <a:r>
              <a:rPr lang="en-US" dirty="0">
                <a:hlinkClick r:id="rId2"/>
              </a:rPr>
              <a:t>http://www.billbuxton.com/xc.html</a:t>
            </a:r>
            <a:endParaRPr lang="en-US" dirty="0"/>
          </a:p>
          <a:p>
            <a:endParaRPr lang="en-US" dirty="0"/>
          </a:p>
          <a:p>
            <a:r>
              <a:rPr lang="en-US" dirty="0"/>
              <a:t>Quality vs. Quantity</a:t>
            </a:r>
          </a:p>
          <a:p>
            <a:pPr lvl="1"/>
            <a:r>
              <a:rPr lang="en-US" dirty="0"/>
              <a:t>Story of making pottery,  the “quantity group” vs. “quality group”</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不同层次的问题</a:t>
            </a:r>
            <a:endParaRPr lang="en-US" dirty="0"/>
          </a:p>
        </p:txBody>
      </p:sp>
      <p:pic>
        <p:nvPicPr>
          <p:cNvPr id="4" name="Content Placeholder 3"/>
          <p:cNvPicPr>
            <a:picLocks noGrp="1" noChangeAspect="1"/>
          </p:cNvPicPr>
          <p:nvPr>
            <p:ph idx="1"/>
          </p:nvPr>
        </p:nvPicPr>
        <p:blipFill>
          <a:blip r:embed="rId2"/>
          <a:stretch>
            <a:fillRect/>
          </a:stretch>
        </p:blipFill>
        <p:spPr>
          <a:xfrm>
            <a:off x="3295544" y="1600200"/>
            <a:ext cx="5600913" cy="485217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“精通”魔方</a:t>
            </a:r>
            <a:endParaRPr lang="en-US" dirty="0"/>
          </a:p>
        </p:txBody>
      </p:sp>
      <p:sp>
        <p:nvSpPr>
          <p:cNvPr id="3" name="Content Placeholder 2"/>
          <p:cNvSpPr>
            <a:spLocks noGrp="1"/>
          </p:cNvSpPr>
          <p:nvPr>
            <p:ph idx="1"/>
          </p:nvPr>
        </p:nvSpPr>
        <p:spPr/>
        <p:txBody>
          <a:bodyPr/>
          <a:lstStyle/>
          <a:p>
            <a:r>
              <a:rPr lang="zh-CN" altLang="en-US" dirty="0"/>
              <a:t>那怎么才能考察出一个人是否“精通”魔方呢</a:t>
            </a:r>
            <a:r>
              <a:rPr lang="en-US" altLang="zh-CN" dirty="0"/>
              <a:t>?  </a:t>
            </a:r>
          </a:p>
          <a:p>
            <a:pPr lvl="1"/>
            <a:r>
              <a:rPr lang="en-US" altLang="zh-CN" dirty="0"/>
              <a:t>a) </a:t>
            </a:r>
            <a:r>
              <a:rPr lang="zh-CN" altLang="en-US" dirty="0"/>
              <a:t>给面试者一个各面打乱颜色的魔方； </a:t>
            </a:r>
          </a:p>
          <a:p>
            <a:pPr lvl="1"/>
            <a:r>
              <a:rPr lang="en-US" altLang="zh-CN" dirty="0"/>
              <a:t>b) </a:t>
            </a:r>
            <a:r>
              <a:rPr lang="zh-CN" altLang="en-US" dirty="0"/>
              <a:t>要求他把六面还原； </a:t>
            </a:r>
          </a:p>
          <a:p>
            <a:pPr lvl="1"/>
            <a:r>
              <a:rPr lang="en-US" altLang="zh-CN" dirty="0"/>
              <a:t>c) </a:t>
            </a:r>
            <a:r>
              <a:rPr lang="zh-CN" altLang="en-US" dirty="0"/>
              <a:t>如果还原了</a:t>
            </a:r>
            <a:r>
              <a:rPr lang="en-US" altLang="zh-CN" dirty="0"/>
              <a:t>, </a:t>
            </a:r>
            <a:r>
              <a:rPr lang="zh-CN" altLang="en-US" dirty="0"/>
              <a:t>要求他把魔方恢复成我最初给他的那个混乱的局面</a:t>
            </a:r>
            <a:r>
              <a:rPr lang="en-US" altLang="zh-CN" dirty="0"/>
              <a:t>, </a:t>
            </a:r>
            <a:r>
              <a:rPr lang="zh-CN" altLang="en-US" dirty="0"/>
              <a:t>必须一模一样。</a:t>
            </a:r>
            <a:endParaRPr lang="en-US" altLang="zh-CN" dirty="0"/>
          </a:p>
          <a:p>
            <a:pPr marL="457200" lvl="1" indent="0">
              <a:buNone/>
            </a:pPr>
            <a:endParaRPr lang="zh-CN" altLang="en-US" dirty="0"/>
          </a:p>
          <a:p>
            <a:r>
              <a:rPr lang="zh-CN" altLang="en-US" dirty="0"/>
              <a:t>精通魔方的同学</a:t>
            </a:r>
            <a:r>
              <a:rPr lang="en-US" altLang="zh-CN" dirty="0"/>
              <a:t>, </a:t>
            </a:r>
            <a:r>
              <a:rPr lang="zh-CN" altLang="en-US" dirty="0"/>
              <a:t>来吧。 </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课堂演示</a:t>
            </a:r>
            <a:endParaRPr lang="en-US" dirty="0"/>
          </a:p>
        </p:txBody>
      </p:sp>
      <p:sp>
        <p:nvSpPr>
          <p:cNvPr id="3" name="内容占位符 2"/>
          <p:cNvSpPr>
            <a:spLocks noGrp="1"/>
          </p:cNvSpPr>
          <p:nvPr>
            <p:ph idx="1"/>
          </p:nvPr>
        </p:nvSpPr>
        <p:spPr/>
        <p:txBody>
          <a:bodyPr/>
          <a:lstStyle/>
          <a:p>
            <a:r>
              <a:rPr lang="zh-CN" altLang="en-US" dirty="0"/>
              <a:t>单元测试</a:t>
            </a:r>
            <a:endParaRPr lang="en-US" altLang="zh-CN" dirty="0"/>
          </a:p>
          <a:p>
            <a:r>
              <a:rPr lang="zh-CN" altLang="en-US" dirty="0"/>
              <a:t>效能分析</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编程作业 </a:t>
            </a:r>
            <a:r>
              <a:rPr lang="en-US" altLang="zh-CN" dirty="0"/>
              <a:t>vs. </a:t>
            </a:r>
            <a:r>
              <a:rPr lang="zh-CN" altLang="en-US" dirty="0"/>
              <a:t>软件工程作业</a:t>
            </a:r>
            <a:endParaRPr lang="en-US" dirty="0"/>
          </a:p>
        </p:txBody>
      </p:sp>
      <p:sp>
        <p:nvSpPr>
          <p:cNvPr id="3" name="Content Placeholder 2"/>
          <p:cNvSpPr>
            <a:spLocks noGrp="1"/>
          </p:cNvSpPr>
          <p:nvPr>
            <p:ph idx="1"/>
          </p:nvPr>
        </p:nvSpPr>
        <p:spPr/>
        <p:txBody>
          <a:bodyPr>
            <a:normAutofit fontScale="92500" lnSpcReduction="10000"/>
          </a:bodyPr>
          <a:lstStyle/>
          <a:p>
            <a:pPr>
              <a:lnSpc>
                <a:spcPct val="120000"/>
              </a:lnSpc>
            </a:pPr>
            <a:r>
              <a:rPr lang="zh-CN" altLang="en-US" dirty="0"/>
              <a:t>在软件工程课上的编程作业通常有三类： </a:t>
            </a:r>
          </a:p>
          <a:p>
            <a:pPr lvl="1">
              <a:lnSpc>
                <a:spcPct val="120000"/>
              </a:lnSpc>
            </a:pPr>
            <a:r>
              <a:rPr lang="zh-CN" altLang="en-US" dirty="0"/>
              <a:t>学习某种编程语言的特性，例如学习</a:t>
            </a:r>
            <a:r>
              <a:rPr lang="en-US" altLang="zh-CN" dirty="0"/>
              <a:t>C++ </a:t>
            </a:r>
            <a:r>
              <a:rPr lang="zh-CN" altLang="en-US" dirty="0"/>
              <a:t>语言的类的各种知识。这是学习编程语言的基础，不是软件工程作业。</a:t>
            </a:r>
          </a:p>
          <a:p>
            <a:pPr lvl="1">
              <a:lnSpc>
                <a:spcPct val="120000"/>
              </a:lnSpc>
            </a:pPr>
            <a:r>
              <a:rPr lang="zh-CN" altLang="en-US" dirty="0"/>
              <a:t>练习某些算法或按某种模式处理数据， 例如：对输入数据进行排序处理，并输出。这是算法和数据结构的练习，不是软件工程作业。</a:t>
            </a:r>
          </a:p>
          <a:p>
            <a:pPr lvl="1">
              <a:lnSpc>
                <a:spcPct val="120000"/>
              </a:lnSpc>
            </a:pPr>
            <a:r>
              <a:rPr lang="zh-CN" altLang="en-US" dirty="0"/>
              <a:t>按照给定的需求实现一个较复杂的软件系统，但没有要求系统进行大规模的测试、模拟、实际运行，或后续演化。全国大学生交上来的成千上万的“图书馆信息系统” 就是其中翘楚。这个作业有一定的复杂性，但是离实际的软件还差很远。</a:t>
            </a:r>
          </a:p>
          <a:p>
            <a:pPr>
              <a:lnSpc>
                <a:spcPct val="120000"/>
              </a:lnSpc>
            </a:pPr>
            <a:r>
              <a:rPr lang="zh-CN" altLang="en-US" dirty="0"/>
              <a:t>软件工程作业是为了练习用工具来解决软件的复杂性</a:t>
            </a:r>
            <a:endParaRPr lang="en-US" altLang="zh-CN" dirty="0"/>
          </a:p>
          <a:p>
            <a:pPr marL="118745" indent="0">
              <a:lnSpc>
                <a:spcPct val="120000"/>
              </a:lnSpc>
              <a:buNone/>
            </a:pP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软件的复杂性、易变性</a:t>
            </a:r>
            <a:endParaRPr lang="en-US" dirty="0"/>
          </a:p>
        </p:txBody>
      </p:sp>
      <p:sp>
        <p:nvSpPr>
          <p:cNvPr id="3" name="Content Placeholder 2"/>
          <p:cNvSpPr>
            <a:spLocks noGrp="1"/>
          </p:cNvSpPr>
          <p:nvPr>
            <p:ph idx="1"/>
          </p:nvPr>
        </p:nvSpPr>
        <p:spPr/>
        <p:txBody>
          <a:bodyPr/>
          <a:lstStyle/>
          <a:p>
            <a:r>
              <a:rPr lang="zh-CN" altLang="en-US" dirty="0"/>
              <a:t>复杂性和易变性。</a:t>
            </a:r>
            <a:endParaRPr lang="en-US" altLang="zh-CN" dirty="0"/>
          </a:p>
          <a:p>
            <a:r>
              <a:rPr lang="zh-CN" altLang="en-US" dirty="0"/>
              <a:t>程序 </a:t>
            </a:r>
            <a:r>
              <a:rPr lang="en-US" altLang="zh-CN" dirty="0"/>
              <a:t>= </a:t>
            </a:r>
            <a:r>
              <a:rPr lang="zh-CN" altLang="en-US" dirty="0"/>
              <a:t>算法 </a:t>
            </a:r>
            <a:r>
              <a:rPr lang="en-US" altLang="zh-CN" dirty="0"/>
              <a:t>+ </a:t>
            </a:r>
            <a:r>
              <a:rPr lang="zh-CN" altLang="en-US" dirty="0"/>
              <a:t>数据结构；</a:t>
            </a:r>
            <a:endParaRPr lang="en-US" altLang="zh-CN" dirty="0"/>
          </a:p>
          <a:p>
            <a:r>
              <a:rPr lang="zh-CN" altLang="en-US" dirty="0"/>
              <a:t>软件 </a:t>
            </a:r>
            <a:r>
              <a:rPr lang="en-US" altLang="zh-CN" dirty="0"/>
              <a:t>= </a:t>
            </a:r>
            <a:r>
              <a:rPr lang="zh-CN" altLang="en-US" dirty="0"/>
              <a:t>程序 </a:t>
            </a:r>
            <a:r>
              <a:rPr lang="en-US" altLang="zh-CN" dirty="0"/>
              <a:t>+ </a:t>
            </a:r>
            <a:r>
              <a:rPr lang="zh-CN" altLang="en-US" dirty="0"/>
              <a:t>软件工程。</a:t>
            </a:r>
            <a:endParaRPr lang="en-US" altLang="zh-CN" dirty="0"/>
          </a:p>
          <a:p>
            <a:r>
              <a:rPr lang="zh-CN" altLang="en-US" dirty="0"/>
              <a:t>软件工程的编程作业，不仅仅是程序，而是要加入软件工程的要素（复杂性、易变性和其他），有价值的软件工程的作业必须要触及这两个基本要素！ </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两个原则</a:t>
            </a:r>
            <a:endParaRPr lang="en-US" dirty="0"/>
          </a:p>
        </p:txBody>
      </p:sp>
      <p:sp>
        <p:nvSpPr>
          <p:cNvPr id="3" name="Content Placeholder 2"/>
          <p:cNvSpPr>
            <a:spLocks noGrp="1"/>
          </p:cNvSpPr>
          <p:nvPr>
            <p:ph idx="1"/>
          </p:nvPr>
        </p:nvSpPr>
        <p:spPr/>
        <p:txBody>
          <a:bodyPr>
            <a:normAutofit/>
          </a:bodyPr>
          <a:lstStyle/>
          <a:p>
            <a:r>
              <a:rPr lang="zh-CN" altLang="en-US" dirty="0"/>
              <a:t>单一职责原则（</a:t>
            </a:r>
            <a:r>
              <a:rPr lang="en-US" dirty="0"/>
              <a:t>Single Responsibility Principle, SRP）</a:t>
            </a:r>
            <a:r>
              <a:rPr lang="zh-CN" altLang="en-US" dirty="0"/>
              <a:t>指出</a:t>
            </a:r>
          </a:p>
          <a:p>
            <a:pPr lvl="1"/>
            <a:r>
              <a:rPr lang="zh-CN" altLang="en-US" dirty="0"/>
              <a:t>一个模块（类）应该只有一个导致它变化的原因，一个模块应该完全对某个功能负责。</a:t>
            </a:r>
            <a:endParaRPr lang="en-US" altLang="zh-CN" dirty="0"/>
          </a:p>
          <a:p>
            <a:r>
              <a:rPr lang="zh-CN" altLang="en-US" dirty="0"/>
              <a:t>另一个重要的软件设计原则是开放</a:t>
            </a:r>
            <a:r>
              <a:rPr lang="en-US" altLang="zh-CN" dirty="0"/>
              <a:t>- </a:t>
            </a:r>
            <a:r>
              <a:rPr lang="zh-CN" altLang="en-US" dirty="0"/>
              <a:t>封闭原则（</a:t>
            </a:r>
            <a:r>
              <a:rPr lang="en-US" dirty="0"/>
              <a:t>Open-Close Principle， OCP）: </a:t>
            </a:r>
          </a:p>
          <a:p>
            <a:pPr lvl="1"/>
            <a:r>
              <a:rPr lang="zh-CN" altLang="en-US" dirty="0"/>
              <a:t>软件实体应该是可以扩展的，同时是不可修改的。</a:t>
            </a:r>
          </a:p>
          <a:p>
            <a:pPr lvl="2"/>
            <a:r>
              <a:rPr lang="zh-CN" altLang="en-US" dirty="0"/>
              <a:t>允许扩展（</a:t>
            </a:r>
            <a:r>
              <a:rPr lang="en-US" altLang="zh-CN" dirty="0"/>
              <a:t>Open for extension</a:t>
            </a:r>
            <a:r>
              <a:rPr lang="zh-CN" altLang="en-US" dirty="0"/>
              <a:t>）。当应用的需求发生改变时，我们可以对模块进行扩 展，从而改变模块的功能。</a:t>
            </a:r>
          </a:p>
          <a:p>
            <a:pPr lvl="2"/>
            <a:r>
              <a:rPr lang="zh-CN" altLang="en-US" dirty="0"/>
              <a:t>不允许修改（</a:t>
            </a:r>
            <a:r>
              <a:rPr lang="en-US" dirty="0"/>
              <a:t>Closed for modification）。</a:t>
            </a:r>
            <a:r>
              <a:rPr lang="zh-CN" altLang="en-US" dirty="0"/>
              <a:t>对模块行为进行扩展时，不必改变模块的本身。 </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何时需要应用这些原则？</a:t>
            </a:r>
            <a:endParaRPr lang="en-US" dirty="0"/>
          </a:p>
        </p:txBody>
      </p:sp>
      <p:sp>
        <p:nvSpPr>
          <p:cNvPr id="3" name="Content Placeholder 2"/>
          <p:cNvSpPr>
            <a:spLocks noGrp="1"/>
          </p:cNvSpPr>
          <p:nvPr>
            <p:ph idx="1"/>
          </p:nvPr>
        </p:nvSpPr>
        <p:spPr/>
        <p:txBody>
          <a:bodyPr/>
          <a:lstStyle/>
          <a:p>
            <a:r>
              <a:rPr lang="zh-CN" altLang="en-US" dirty="0"/>
              <a:t>在什么情况下使用这些原则呢？ </a:t>
            </a:r>
          </a:p>
          <a:p>
            <a:pPr lvl="1"/>
            <a:r>
              <a:rPr lang="zh-CN" altLang="en-US" dirty="0"/>
              <a:t>变化的轴线仅当变化实际发生时才具有真正的意义。如果没有征兆，那么去应用</a:t>
            </a:r>
            <a:r>
              <a:rPr lang="en-US" altLang="zh-CN" dirty="0"/>
              <a:t>SRP</a:t>
            </a:r>
            <a:r>
              <a:rPr lang="zh-CN" altLang="en-US" dirty="0"/>
              <a:t>，或者其他原则都是不明智的。</a:t>
            </a:r>
          </a:p>
          <a:p>
            <a:pPr lvl="1"/>
            <a:r>
              <a:rPr lang="zh-CN" altLang="en-US" dirty="0"/>
              <a:t>遵循 </a:t>
            </a:r>
            <a:r>
              <a:rPr lang="en-US" altLang="zh-CN" dirty="0"/>
              <a:t>OCP </a:t>
            </a:r>
            <a:r>
              <a:rPr lang="zh-CN" altLang="en-US" dirty="0"/>
              <a:t>的代价也是昂贵的</a:t>
            </a:r>
            <a:r>
              <a:rPr lang="en-US" altLang="zh-CN" dirty="0"/>
              <a:t>……</a:t>
            </a:r>
            <a:r>
              <a:rPr lang="zh-CN" altLang="en-US" dirty="0"/>
              <a:t>显然，我们希望把 </a:t>
            </a:r>
            <a:r>
              <a:rPr lang="en-US" altLang="zh-CN" dirty="0"/>
              <a:t>OCP </a:t>
            </a:r>
            <a:r>
              <a:rPr lang="zh-CN" altLang="en-US" dirty="0"/>
              <a:t>的应用限定在可能会发生的变化上。</a:t>
            </a:r>
            <a:r>
              <a:rPr lang="en-US" altLang="zh-CN" dirty="0"/>
              <a:t>……</a:t>
            </a:r>
            <a:r>
              <a:rPr lang="zh-CN" altLang="en-US" dirty="0"/>
              <a:t>最终，我们会一直等到变化发生时才采取行动。 </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(1)</a:t>
            </a:r>
            <a:endParaRPr lang="en-US" dirty="0"/>
          </a:p>
        </p:txBody>
      </p:sp>
      <p:sp>
        <p:nvSpPr>
          <p:cNvPr id="3" name="Content Placeholder 2"/>
          <p:cNvSpPr>
            <a:spLocks noGrp="1"/>
          </p:cNvSpPr>
          <p:nvPr>
            <p:ph idx="1"/>
          </p:nvPr>
        </p:nvSpPr>
        <p:spPr/>
        <p:txBody>
          <a:bodyPr>
            <a:normAutofit fontScale="92500"/>
          </a:bodyPr>
          <a:lstStyle/>
          <a:p>
            <a:pPr>
              <a:lnSpc>
                <a:spcPct val="120000"/>
              </a:lnSpc>
            </a:pPr>
            <a:r>
              <a:rPr lang="zh-CN" altLang="en-US" dirty="0"/>
              <a:t>从数据方面扩展： </a:t>
            </a:r>
          </a:p>
          <a:p>
            <a:pPr lvl="1">
              <a:lnSpc>
                <a:spcPct val="120000"/>
              </a:lnSpc>
            </a:pPr>
            <a:r>
              <a:rPr lang="zh-CN" altLang="en-US" dirty="0"/>
              <a:t>从数据本身的属性扩展，例如处理“ 最大子数组的和”的程序，可以扩展到大数（超 过</a:t>
            </a:r>
            <a:r>
              <a:rPr lang="en-US" altLang="zh-CN" dirty="0"/>
              <a:t>64 </a:t>
            </a:r>
            <a:r>
              <a:rPr lang="zh-CN" altLang="en-US" dirty="0"/>
              <a:t>位的数字），这样引入大数的处理。</a:t>
            </a:r>
          </a:p>
          <a:p>
            <a:pPr lvl="1">
              <a:lnSpc>
                <a:spcPct val="120000"/>
              </a:lnSpc>
            </a:pPr>
            <a:r>
              <a:rPr lang="zh-CN" altLang="en-US" dirty="0"/>
              <a:t>从数据的数量扩展，很多老师出题就假设数组只有六七个元素，直接写死在程序中。 如果这个数组有一万个、十万个元素呢？如果元素保存在文件里呢？ </a:t>
            </a:r>
          </a:p>
          <a:p>
            <a:pPr lvl="1">
              <a:lnSpc>
                <a:spcPct val="120000"/>
              </a:lnSpc>
            </a:pPr>
            <a:r>
              <a:rPr lang="zh-CN" altLang="en-US" dirty="0"/>
              <a:t>从数据的维度扩展，如果数据是在多维数组中呢？ </a:t>
            </a:r>
          </a:p>
          <a:p>
            <a:pPr lvl="1">
              <a:lnSpc>
                <a:spcPct val="120000"/>
              </a:lnSpc>
            </a:pPr>
            <a:r>
              <a:rPr lang="zh-CN" altLang="en-US" dirty="0"/>
              <a:t>从数据的其他属性扩展，例如，如果你的程序能处理北京的地铁数据，如何改进你的 程序，让它能动态处理上海或其他城市的数据呢？这样程序就要引入某种抽象来表示“地点”，而不是僵化地假设数据就是北京的。</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(2)</a:t>
            </a:r>
            <a:endParaRPr lang="en-US" dirty="0"/>
          </a:p>
        </p:txBody>
      </p:sp>
      <p:sp>
        <p:nvSpPr>
          <p:cNvPr id="3" name="Content Placeholder 2"/>
          <p:cNvSpPr>
            <a:spLocks noGrp="1"/>
          </p:cNvSpPr>
          <p:nvPr>
            <p:ph idx="1"/>
          </p:nvPr>
        </p:nvSpPr>
        <p:spPr/>
        <p:txBody>
          <a:bodyPr>
            <a:normAutofit fontScale="70000" lnSpcReduction="20000"/>
          </a:bodyPr>
          <a:lstStyle/>
          <a:p>
            <a:pPr>
              <a:lnSpc>
                <a:spcPct val="120000"/>
              </a:lnSpc>
            </a:pPr>
            <a:r>
              <a:rPr lang="zh-CN" altLang="en-US" dirty="0"/>
              <a:t>从需求方面扩展</a:t>
            </a:r>
            <a:r>
              <a:rPr lang="en-US" altLang="zh-CN" dirty="0"/>
              <a:t>, </a:t>
            </a:r>
            <a:r>
              <a:rPr lang="zh-CN" altLang="en-US" dirty="0"/>
              <a:t>很多程序的需求都是非常抽象，可以用数学公式描述和验证的，例如：“找出数组中的最大值”，然而实际需求的复杂度往往超过了数学公式的表达能力。请考虑下面几种扩展的方式： </a:t>
            </a:r>
          </a:p>
          <a:p>
            <a:pPr lvl="1">
              <a:lnSpc>
                <a:spcPct val="120000"/>
              </a:lnSpc>
            </a:pPr>
            <a:r>
              <a:rPr lang="zh-CN" altLang="en-US" dirty="0"/>
              <a:t>不是仅仅要求结果，而是要让程序把计算的过程显示出来。请搜索各种“动画显示排 序过程”的资料，然后自己实现一下。</a:t>
            </a:r>
          </a:p>
          <a:p>
            <a:pPr lvl="1">
              <a:lnSpc>
                <a:spcPct val="120000"/>
              </a:lnSpc>
            </a:pPr>
            <a:r>
              <a:rPr lang="zh-CN" altLang="en-US" dirty="0"/>
              <a:t>从需求的维度方面扩展，例如学生写了一个“统计程序有多少行” 的程序，我们可以 进一步要求，能把注释行、空行、只有一个字符的行去掉么？能处理目录里面的多个文件么？ </a:t>
            </a:r>
          </a:p>
          <a:p>
            <a:pPr lvl="1">
              <a:lnSpc>
                <a:spcPct val="120000"/>
              </a:lnSpc>
            </a:pPr>
            <a:r>
              <a:rPr lang="zh-CN" altLang="en-US" dirty="0"/>
              <a:t>重复一个成熟的、学生比较熟悉的需求，这也是可行的，关键是要体现“ 工程”的特 点。 例如做一个文档编辑软件，要求能处理</a:t>
            </a:r>
            <a:r>
              <a:rPr lang="en-US" altLang="zh-CN" dirty="0"/>
              <a:t>10M </a:t>
            </a:r>
            <a:r>
              <a:rPr lang="zh-CN" altLang="en-US" dirty="0"/>
              <a:t>大小的文本文件；做一个图书信息系统，要求有</a:t>
            </a:r>
            <a:r>
              <a:rPr lang="en-US" altLang="zh-CN" dirty="0"/>
              <a:t>10 </a:t>
            </a:r>
            <a:r>
              <a:rPr lang="zh-CN" altLang="en-US" dirty="0"/>
              <a:t>万本书，</a:t>
            </a:r>
            <a:r>
              <a:rPr lang="en-US" altLang="zh-CN" dirty="0"/>
              <a:t>100 </a:t>
            </a:r>
            <a:r>
              <a:rPr lang="zh-CN" altLang="en-US" dirty="0"/>
              <a:t>万条借</a:t>
            </a:r>
            <a:r>
              <a:rPr lang="en-US" altLang="zh-CN" dirty="0"/>
              <a:t>/ </a:t>
            </a:r>
            <a:r>
              <a:rPr lang="zh-CN" altLang="en-US" dirty="0"/>
              <a:t>还书记录。很多同学做的图书馆信息系统只有不到</a:t>
            </a:r>
            <a:r>
              <a:rPr lang="en-US" altLang="zh-CN" dirty="0"/>
              <a:t>10 </a:t>
            </a:r>
            <a:r>
              <a:rPr lang="zh-CN" altLang="en-US" dirty="0"/>
              <a:t>本书的记录，这是图书馆么？ </a:t>
            </a:r>
          </a:p>
          <a:p>
            <a:pPr lvl="1">
              <a:lnSpc>
                <a:spcPct val="120000"/>
              </a:lnSpc>
            </a:pPr>
            <a:r>
              <a:rPr lang="zh-CN" altLang="en-US" dirty="0"/>
              <a:t>在已有的需求上增量改进，例如，让文档编辑软件支持 </a:t>
            </a:r>
            <a:r>
              <a:rPr lang="en-US" altLang="zh-CN" dirty="0"/>
              <a:t>markdown </a:t>
            </a:r>
            <a:r>
              <a:rPr lang="zh-CN" altLang="en-US" dirty="0"/>
              <a:t>语法，支持无限的 “后悔”操作；让图书馆信息系统支持手机客户端。如果图形编辑器支持三种图形模板，现在引入五种新的模板，在这种情况下，程序员就会审视自己的设计是否能遵循一些设计原则，来高效率地满足需求。</a:t>
            </a:r>
          </a:p>
          <a:p>
            <a:pPr lvl="1">
              <a:lnSpc>
                <a:spcPct val="120000"/>
              </a:lnSpc>
            </a:pPr>
            <a:r>
              <a:rPr lang="zh-CN" altLang="en-US" dirty="0"/>
              <a:t>探索创新的方式来满足已有的需求，或即将出现的需求。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(3)</a:t>
            </a:r>
            <a:endParaRPr lang="en-US" dirty="0"/>
          </a:p>
        </p:txBody>
      </p:sp>
      <p:sp>
        <p:nvSpPr>
          <p:cNvPr id="3" name="Content Placeholder 2"/>
          <p:cNvSpPr>
            <a:spLocks noGrp="1"/>
          </p:cNvSpPr>
          <p:nvPr>
            <p:ph idx="1"/>
          </p:nvPr>
        </p:nvSpPr>
        <p:spPr/>
        <p:txBody>
          <a:bodyPr>
            <a:normAutofit fontScale="92500" lnSpcReduction="10000"/>
          </a:bodyPr>
          <a:lstStyle/>
          <a:p>
            <a:pPr>
              <a:lnSpc>
                <a:spcPct val="120000"/>
              </a:lnSpc>
            </a:pPr>
            <a:r>
              <a:rPr lang="zh-CN" altLang="en-US" dirty="0"/>
              <a:t>从用户方面扩展：绝大部分大作业都是单机运行，给一个用户（老师）看一次，看完就万事大吉。我们可以考虑下面的扩展方式： </a:t>
            </a:r>
          </a:p>
          <a:p>
            <a:pPr lvl="1">
              <a:lnSpc>
                <a:spcPct val="120000"/>
              </a:lnSpc>
            </a:pPr>
            <a:r>
              <a:rPr lang="zh-CN" altLang="en-US" dirty="0"/>
              <a:t>单用户第二次使用这个软件的时候，能有什么功能，让单用户更喜欢这个软件？（例 如：记住上次的状态，自动展现上次文档最后编辑的地方，等等。） </a:t>
            </a:r>
          </a:p>
          <a:p>
            <a:pPr lvl="1">
              <a:lnSpc>
                <a:spcPct val="120000"/>
              </a:lnSpc>
            </a:pPr>
            <a:r>
              <a:rPr lang="zh-CN" altLang="en-US" dirty="0"/>
              <a:t>如果多用户使用这个系统，会出现什么问题，例如，学生的图书馆信息系统考虑到有 </a:t>
            </a:r>
            <a:r>
              <a:rPr lang="en-US" altLang="zh-CN" dirty="0"/>
              <a:t>100 </a:t>
            </a:r>
            <a:r>
              <a:rPr lang="zh-CN" altLang="en-US" dirty="0"/>
              <a:t>人同时查询的情况么？如何模拟这样的测试？我们在课堂上让几十个学生玩的“黄金点”游戏，如果是全世界的用户都可以编程序玩这个游戏，会出现什么</a:t>
            </a:r>
            <a:r>
              <a:rPr lang="en-US" altLang="zh-CN" dirty="0"/>
              <a:t>9 </a:t>
            </a:r>
            <a:r>
              <a:rPr lang="zh-CN" altLang="en-US" dirty="0"/>
              <a:t>？如何设计游戏的服务？ </a:t>
            </a:r>
          </a:p>
          <a:p>
            <a:pPr lvl="1">
              <a:lnSpc>
                <a:spcPct val="120000"/>
              </a:lnSpc>
            </a:pPr>
            <a:r>
              <a:rPr lang="zh-CN" altLang="en-US" dirty="0"/>
              <a:t>用户从世界各地来，怎么办？你的“程序”能提供多种语言的界面么？ </a:t>
            </a:r>
          </a:p>
          <a:p>
            <a:pPr lvl="1">
              <a:lnSpc>
                <a:spcPct val="120000"/>
              </a:lnSpc>
            </a:pPr>
            <a:r>
              <a:rPr lang="zh-CN" altLang="en-US" dirty="0"/>
              <a:t>用户有善意的和恶意的，如何让你的程序更安全？如何测试安全性？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a:t>(4)</a:t>
            </a:r>
            <a:endParaRPr lang="en-US" dirty="0"/>
          </a:p>
        </p:txBody>
      </p:sp>
      <p:sp>
        <p:nvSpPr>
          <p:cNvPr id="3" name="Content Placeholder 2"/>
          <p:cNvSpPr>
            <a:spLocks noGrp="1"/>
          </p:cNvSpPr>
          <p:nvPr>
            <p:ph idx="1"/>
          </p:nvPr>
        </p:nvSpPr>
        <p:spPr/>
        <p:txBody>
          <a:bodyPr/>
          <a:lstStyle/>
          <a:p>
            <a:r>
              <a:rPr lang="zh-CN" altLang="en-US" dirty="0"/>
              <a:t>从软件构建方面扩展： </a:t>
            </a:r>
          </a:p>
          <a:p>
            <a:pPr lvl="1"/>
            <a:r>
              <a:rPr lang="zh-CN" altLang="en-US" dirty="0"/>
              <a:t>如果是把一个已有的软件从一个平台迁移到另一个平台，怎么办？ </a:t>
            </a:r>
          </a:p>
          <a:p>
            <a:pPr lvl="1"/>
            <a:r>
              <a:rPr lang="zh-CN" altLang="en-US" dirty="0"/>
              <a:t>大多数的“程序”都是用单一的语言写的，如果软件有多个语言写成的不同模块，如 何定义彼此的接口（</a:t>
            </a:r>
            <a:r>
              <a:rPr lang="en-US" altLang="zh-CN" dirty="0"/>
              <a:t>API</a:t>
            </a:r>
            <a:r>
              <a:rPr lang="zh-CN" altLang="en-US" dirty="0"/>
              <a:t>） ？ </a:t>
            </a:r>
          </a:p>
          <a:p>
            <a:pPr lvl="1"/>
            <a:r>
              <a:rPr lang="zh-CN" altLang="en-US" dirty="0"/>
              <a:t>如果软件已经在服务中（例如图书馆信息系统），如何升级部分模块，同时尽量减少 系统下线的时间？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高级工程师 和 初级爱好者的区别</a:t>
            </a:r>
            <a:endParaRPr lang="en-US" dirty="0"/>
          </a:p>
        </p:txBody>
      </p:sp>
      <p:sp>
        <p:nvSpPr>
          <p:cNvPr id="3" name="内容占位符 2"/>
          <p:cNvSpPr>
            <a:spLocks noGrp="1"/>
          </p:cNvSpPr>
          <p:nvPr>
            <p:ph idx="1"/>
          </p:nvPr>
        </p:nvSpPr>
        <p:spPr/>
        <p:txBody>
          <a:bodyPr>
            <a:normAutofit/>
          </a:bodyPr>
          <a:lstStyle/>
          <a:p>
            <a:r>
              <a:rPr lang="zh-CN" altLang="en-US" dirty="0"/>
              <a:t>能够计划，并按时交付</a:t>
            </a:r>
            <a:endParaRPr lang="en-US" altLang="zh-CN" dirty="0"/>
          </a:p>
          <a:p>
            <a:r>
              <a:rPr lang="zh-CN" altLang="en-US" dirty="0"/>
              <a:t>能够通过单元测试等实践来保证质量</a:t>
            </a:r>
            <a:endParaRPr lang="en-US" altLang="zh-CN" dirty="0"/>
          </a:p>
          <a:p>
            <a:r>
              <a:rPr lang="zh-CN" altLang="en-US" dirty="0"/>
              <a:t>能够使用工具，做程序的效能分析</a:t>
            </a:r>
            <a:endParaRPr lang="en-US" altLang="zh-CN" dirty="0"/>
          </a:p>
          <a:p>
            <a:r>
              <a:rPr lang="zh-CN" altLang="en-US" dirty="0"/>
              <a:t>能“精通”一些领域，在此基础上发挥效率并创新。</a:t>
            </a:r>
            <a:endParaRPr lang="en-US" altLang="zh-CN" dirty="0"/>
          </a:p>
          <a:p>
            <a:r>
              <a:rPr lang="zh-CN" altLang="en-US" dirty="0"/>
              <a:t>结合中国软件行业的特点，我们可以归纳出在中国</a:t>
            </a:r>
            <a:r>
              <a:rPr lang="en-US" altLang="zh-CN" dirty="0"/>
              <a:t>IT </a:t>
            </a:r>
            <a:r>
              <a:rPr lang="zh-CN" altLang="en-US" dirty="0"/>
              <a:t>行业“好工程师”的要素，并做成一个自我评价清单（</a:t>
            </a:r>
            <a:r>
              <a:rPr lang="en-US" altLang="zh-CN" dirty="0"/>
              <a:t>Check-list</a:t>
            </a:r>
            <a:r>
              <a:rPr lang="zh-CN" altLang="en-US" dirty="0"/>
              <a:t>）</a:t>
            </a:r>
            <a:endParaRPr lang="en-US" altLang="zh-CN" dirty="0"/>
          </a:p>
          <a:p>
            <a:pPr marL="118745" indent="0">
              <a:buNone/>
            </a:pPr>
            <a:r>
              <a:rPr lang="en-US" altLang="zh-CN" dirty="0">
                <a:hlinkClick r:id="rId2"/>
              </a:rPr>
              <a:t>http://www.cnblogs.com/xinz/p/3852177.html</a:t>
            </a:r>
            <a:r>
              <a:rPr lang="en-US" altLang="zh-CN" dirty="0"/>
              <a:t> </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Homework</a:t>
            </a:r>
            <a:endParaRPr lang="en-US" dirty="0"/>
          </a:p>
        </p:txBody>
      </p:sp>
      <p:sp>
        <p:nvSpPr>
          <p:cNvPr id="3" name="Content Placeholder 2"/>
          <p:cNvSpPr>
            <a:spLocks noGrp="1"/>
          </p:cNvSpPr>
          <p:nvPr>
            <p:ph idx="1"/>
          </p:nvPr>
        </p:nvSpPr>
        <p:spPr/>
        <p:txBody>
          <a:bodyPr>
            <a:normAutofit fontScale="70000" lnSpcReduction="20000"/>
          </a:bodyPr>
          <a:lstStyle/>
          <a:p>
            <a:r>
              <a:rPr lang="en-US" altLang="zh-CN">
                <a:hlinkClick r:id="rId2"/>
              </a:rPr>
              <a:t>http://www.cnblogs.com/xinz/p/3803109.html</a:t>
            </a:r>
            <a:endParaRPr lang="en-US" altLang="zh-CN"/>
          </a:p>
          <a:p>
            <a:endParaRPr lang="en-US" altLang="zh-CN"/>
          </a:p>
          <a:p>
            <a:r>
              <a:rPr lang="en-US" altLang="zh-CN" dirty="0"/>
              <a:t>how do you measure the performance of each team member?</a:t>
            </a:r>
          </a:p>
          <a:p>
            <a:pPr lvl="1"/>
            <a:r>
              <a:rPr lang="zh-CN" altLang="en-US" sz="2200" dirty="0"/>
              <a:t>一群人把一堆砖头从</a:t>
            </a:r>
            <a:r>
              <a:rPr lang="en-US" altLang="zh-CN" sz="2200" dirty="0"/>
              <a:t>A</a:t>
            </a:r>
            <a:r>
              <a:rPr lang="zh-CN" altLang="en-US" sz="2200" dirty="0"/>
              <a:t>地搬到</a:t>
            </a:r>
            <a:r>
              <a:rPr lang="en-US" altLang="zh-CN" sz="2200" dirty="0"/>
              <a:t>B</a:t>
            </a:r>
            <a:r>
              <a:rPr lang="zh-CN" altLang="en-US" sz="2200" dirty="0"/>
              <a:t>地</a:t>
            </a:r>
            <a:endParaRPr lang="en-US" altLang="zh-CN" sz="2200" dirty="0"/>
          </a:p>
          <a:p>
            <a:pPr lvl="1"/>
            <a:r>
              <a:rPr lang="zh-CN" altLang="en-US" sz="2200" dirty="0"/>
              <a:t>一个剧组排演话剧</a:t>
            </a:r>
            <a:endParaRPr lang="en-US" altLang="zh-CN" sz="2200" dirty="0"/>
          </a:p>
          <a:p>
            <a:pPr lvl="1"/>
            <a:r>
              <a:rPr lang="zh-CN" altLang="en-US" sz="2200" dirty="0"/>
              <a:t>爵士乐小组的演奏 </a:t>
            </a:r>
            <a:r>
              <a:rPr lang="en-US" altLang="zh-CN" sz="2200" dirty="0"/>
              <a:t>/ </a:t>
            </a:r>
            <a:r>
              <a:rPr lang="zh-CN" altLang="en-US" sz="2200" dirty="0"/>
              <a:t>交响乐团成员的演奏</a:t>
            </a:r>
            <a:endParaRPr lang="en-US" altLang="zh-CN" sz="2200" dirty="0"/>
          </a:p>
          <a:p>
            <a:pPr lvl="2"/>
            <a:r>
              <a:rPr lang="zh-CN" altLang="en-US" dirty="0"/>
              <a:t>推荐 </a:t>
            </a:r>
            <a:r>
              <a:rPr lang="en-US" altLang="zh-CN" dirty="0"/>
              <a:t>Miles Davis </a:t>
            </a:r>
            <a:r>
              <a:rPr lang="zh-CN" altLang="en-US" dirty="0"/>
              <a:t>爵士乐队的演奏</a:t>
            </a:r>
            <a:endParaRPr lang="en-US" altLang="zh-CN" dirty="0"/>
          </a:p>
          <a:p>
            <a:pPr lvl="1"/>
            <a:r>
              <a:rPr lang="zh-CN" altLang="en-US" sz="2200" dirty="0"/>
              <a:t>一群队员在职业球队踢球</a:t>
            </a:r>
            <a:endParaRPr lang="en-US" altLang="zh-CN" sz="2200" dirty="0"/>
          </a:p>
          <a:p>
            <a:pPr lvl="1"/>
            <a:r>
              <a:rPr lang="zh-CN" altLang="en-US" sz="2200" dirty="0"/>
              <a:t>医生</a:t>
            </a:r>
            <a:r>
              <a:rPr lang="en-US" altLang="zh-CN" sz="2200" dirty="0"/>
              <a:t>, </a:t>
            </a:r>
            <a:r>
              <a:rPr lang="zh-CN" altLang="en-US" sz="2200" dirty="0"/>
              <a:t>护士</a:t>
            </a:r>
            <a:r>
              <a:rPr lang="en-US" altLang="zh-CN" sz="2200" dirty="0"/>
              <a:t>, </a:t>
            </a:r>
            <a:r>
              <a:rPr lang="zh-CN" altLang="en-US" sz="2200" dirty="0"/>
              <a:t>麻醉师做手术</a:t>
            </a:r>
            <a:endParaRPr lang="en-US" altLang="zh-CN" sz="2200" dirty="0"/>
          </a:p>
          <a:p>
            <a:pPr lvl="1"/>
            <a:r>
              <a:rPr lang="zh-CN" altLang="en-US" sz="2200" dirty="0"/>
              <a:t>一群画家合作“万里长城</a:t>
            </a:r>
            <a:r>
              <a:rPr lang="en-US" altLang="zh-CN" sz="2200" dirty="0"/>
              <a:t>” </a:t>
            </a:r>
            <a:r>
              <a:rPr lang="zh-CN" altLang="en-US" sz="2200" dirty="0"/>
              <a:t>画卷</a:t>
            </a:r>
            <a:endParaRPr lang="en-US" altLang="zh-CN" sz="2200" dirty="0"/>
          </a:p>
          <a:p>
            <a:pPr lvl="1"/>
            <a:r>
              <a:rPr lang="zh-CN" altLang="en-US" sz="2200" dirty="0"/>
              <a:t>计算机系的一群老师教课</a:t>
            </a:r>
            <a:endParaRPr lang="en-US" altLang="zh-CN" sz="2200" dirty="0"/>
          </a:p>
          <a:p>
            <a:pPr lvl="1"/>
            <a:r>
              <a:rPr lang="zh-CN" altLang="en-US" sz="2200" b="1" dirty="0"/>
              <a:t>一群学生做软工项目 </a:t>
            </a:r>
            <a:r>
              <a:rPr lang="en-US" altLang="zh-CN" sz="2200" b="1" dirty="0"/>
              <a:t>(</a:t>
            </a:r>
            <a:r>
              <a:rPr lang="en-US" altLang="zh-CN" sz="2000" b="1" dirty="0"/>
              <a:t>PM, Dev, Test</a:t>
            </a:r>
            <a:r>
              <a:rPr lang="en-US" altLang="zh-CN" sz="2200" b="1" dirty="0"/>
              <a:t>)</a:t>
            </a:r>
            <a:r>
              <a:rPr lang="zh-CN" altLang="en-US" sz="2200" b="1" dirty="0"/>
              <a:t> </a:t>
            </a:r>
            <a:r>
              <a:rPr lang="en-US" altLang="zh-CN" sz="2200" b="1" dirty="0"/>
              <a:t>(this is your focus)</a:t>
            </a:r>
          </a:p>
          <a:p>
            <a:pPr>
              <a:buNone/>
            </a:pPr>
            <a:endParaRPr lang="en-US" altLang="zh-CN" sz="2400" dirty="0"/>
          </a:p>
          <a:p>
            <a:pPr>
              <a:buNone/>
            </a:pPr>
            <a:r>
              <a:rPr lang="zh-CN" altLang="en-US" sz="2400" dirty="0"/>
              <a:t>如何衡量个人在各自团队的效率和绩效？</a:t>
            </a:r>
            <a:endParaRPr lang="en-US" altLang="zh-CN" sz="2400" dirty="0"/>
          </a:p>
          <a:p>
            <a:pPr>
              <a:buNone/>
            </a:pPr>
            <a:r>
              <a:rPr lang="zh-CN" altLang="en-US" sz="2400" dirty="0"/>
              <a:t>团队有 </a:t>
            </a:r>
            <a:r>
              <a:rPr lang="en-US" altLang="zh-CN" sz="2400" dirty="0"/>
              <a:t>(n </a:t>
            </a:r>
            <a:r>
              <a:rPr lang="zh-CN" altLang="en-US" sz="2400" dirty="0"/>
              <a:t>* </a:t>
            </a:r>
            <a:r>
              <a:rPr lang="en-US" altLang="zh-CN" sz="2400" dirty="0"/>
              <a:t>30) </a:t>
            </a:r>
            <a:r>
              <a:rPr lang="zh-CN" altLang="en-US" sz="2400" dirty="0"/>
              <a:t>分浮动分数，如何分配</a:t>
            </a:r>
            <a:r>
              <a:rPr lang="en-US" altLang="zh-CN" sz="2400" dirty="0"/>
              <a:t>?</a:t>
            </a:r>
          </a:p>
          <a:p>
            <a:pPr>
              <a:buNone/>
            </a:pPr>
            <a:r>
              <a:rPr lang="en-US" altLang="zh-CN" sz="2400" dirty="0"/>
              <a:t>Write a blog </a:t>
            </a:r>
            <a:r>
              <a:rPr lang="en-US" altLang="zh-CN" sz="2400" dirty="0">
                <a:sym typeface="Wingdings" panose="05000000000000000000" pitchFamily="2" charset="2"/>
              </a:rPr>
              <a:t></a:t>
            </a:r>
            <a:endParaRPr lang="en-US" sz="2000" dirty="0"/>
          </a:p>
        </p:txBody>
      </p:sp>
    </p:spTree>
  </p:cSld>
  <p:clrMapOvr>
    <a:masterClrMapping/>
  </p:clrMapOvr>
  <p:transition>
    <p:wipe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and Answer</a:t>
            </a:r>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Homework </a:t>
            </a:r>
          </a:p>
        </p:txBody>
      </p:sp>
      <p:sp>
        <p:nvSpPr>
          <p:cNvPr id="3" name="Content Placeholder 2"/>
          <p:cNvSpPr>
            <a:spLocks noGrp="1"/>
          </p:cNvSpPr>
          <p:nvPr>
            <p:ph idx="1"/>
          </p:nvPr>
        </p:nvSpPr>
        <p:spPr/>
        <p:txBody>
          <a:bodyPr>
            <a:normAutofit/>
          </a:bodyPr>
          <a:lstStyle/>
          <a:p>
            <a:pPr marL="0" indent="0">
              <a:buNone/>
            </a:pPr>
            <a:r>
              <a:rPr lang="zh-CN" altLang="en-US" dirty="0"/>
              <a:t>做医生的有希波克拉底誓言</a:t>
            </a:r>
            <a:r>
              <a:rPr lang="en-US" altLang="zh-CN" dirty="0"/>
              <a:t>, </a:t>
            </a:r>
            <a:r>
              <a:rPr lang="zh-CN" altLang="en-US" dirty="0"/>
              <a:t>做程序员的应该有类似的誓言</a:t>
            </a:r>
            <a:r>
              <a:rPr lang="en-US" altLang="zh-CN" dirty="0"/>
              <a:t>: </a:t>
            </a:r>
          </a:p>
          <a:p>
            <a:pPr marL="0" indent="0">
              <a:buNone/>
            </a:pPr>
            <a:endParaRPr lang="en-US" altLang="zh-CN" dirty="0"/>
          </a:p>
          <a:p>
            <a:pPr marL="0" indent="0">
              <a:buNone/>
            </a:pPr>
            <a:r>
              <a:rPr lang="zh-CN" altLang="en-US" dirty="0"/>
              <a:t>从道德标准中任选一条或者几条</a:t>
            </a:r>
            <a:r>
              <a:rPr lang="en-US" altLang="zh-CN" dirty="0"/>
              <a:t>, </a:t>
            </a:r>
            <a:r>
              <a:rPr lang="zh-CN" altLang="en-US" dirty="0"/>
              <a:t>举一个实际的例子说明软件公司</a:t>
            </a:r>
            <a:r>
              <a:rPr lang="en-US" altLang="zh-CN" dirty="0"/>
              <a:t>/</a:t>
            </a:r>
            <a:r>
              <a:rPr lang="zh-CN" altLang="en-US" dirty="0"/>
              <a:t>个人遵守或违反此标准的例子。 </a:t>
            </a:r>
            <a:r>
              <a:rPr lang="en-US" altLang="zh-CN" dirty="0"/>
              <a:t> </a:t>
            </a:r>
            <a:r>
              <a:rPr lang="zh-CN" altLang="en-US" dirty="0"/>
              <a:t> </a:t>
            </a:r>
            <a:endParaRPr lang="en-US" altLang="zh-CN" dirty="0"/>
          </a:p>
          <a:p>
            <a:pPr marL="0" indent="0">
              <a:buNone/>
            </a:pPr>
            <a:endParaRPr lang="en-US" altLang="zh-CN" dirty="0"/>
          </a:p>
          <a:p>
            <a:pPr marL="0" indent="0">
              <a:buNone/>
            </a:pPr>
            <a:r>
              <a:rPr lang="zh-CN" altLang="en-US" dirty="0"/>
              <a:t>写在小组博客上。</a:t>
            </a:r>
            <a:endParaRPr lang="en-US" altLang="zh-CN" dirty="0"/>
          </a:p>
          <a:p>
            <a:pPr marL="0" indent="0">
              <a:buNone/>
            </a:pPr>
            <a:endParaRPr lang="en-US" altLang="zh-C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a:t>
            </a:r>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8CAA89-9E7D-41B1-950A-6DF122C82EDA}">
  <ds:schemaRefs/>
</ds:datastoreItem>
</file>

<file path=customXml/itemProps2.xml><?xml version="1.0" encoding="utf-8"?>
<ds:datastoreItem xmlns:ds="http://schemas.openxmlformats.org/officeDocument/2006/customXml" ds:itemID="{AC836C2F-A27F-4DFC-B2E2-99E8491CE789}">
  <ds:schemaRefs/>
</ds:datastoreItem>
</file>

<file path=customXml/itemProps3.xml><?xml version="1.0" encoding="utf-8"?>
<ds:datastoreItem xmlns:ds="http://schemas.openxmlformats.org/officeDocument/2006/customXml" ds:itemID="{C71B05AC-F93F-450E-A081-0013EA37D8F1}">
  <ds:schemaRefs/>
</ds:datastoreItem>
</file>

<file path=docProps/app.xml><?xml version="1.0" encoding="utf-8"?>
<Properties xmlns="http://schemas.openxmlformats.org/officeDocument/2006/extended-properties" xmlns:vt="http://schemas.openxmlformats.org/officeDocument/2006/docPropsVTypes">
  <TotalTime>0</TotalTime>
  <Words>6845</Words>
  <Application>Microsoft Office PowerPoint</Application>
  <PresentationFormat>宽屏</PresentationFormat>
  <Paragraphs>694</Paragraphs>
  <Slides>78</Slides>
  <Notes>13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78</vt:i4>
      </vt:variant>
    </vt:vector>
  </HeadingPairs>
  <TitlesOfParts>
    <vt:vector size="85" baseType="lpstr">
      <vt:lpstr>微软雅黑</vt:lpstr>
      <vt:lpstr>Arial</vt:lpstr>
      <vt:lpstr>Calibri</vt:lpstr>
      <vt:lpstr>Calibri Light</vt:lpstr>
      <vt:lpstr>Wingdings</vt:lpstr>
      <vt:lpstr>Wingdings 3</vt:lpstr>
      <vt:lpstr>Depth</vt:lpstr>
      <vt:lpstr>个人技术和流程</vt:lpstr>
      <vt:lpstr>课堂内容</vt:lpstr>
      <vt:lpstr>单元测试实例</vt:lpstr>
      <vt:lpstr>练习1：数组中最大的子数组之和</vt:lpstr>
      <vt:lpstr>进一步改进</vt:lpstr>
      <vt:lpstr>再进一步：用类/函数来实现</vt:lpstr>
      <vt:lpstr>输入和输出的例子</vt:lpstr>
      <vt:lpstr>单元测试练习</vt:lpstr>
      <vt:lpstr>同学们用20 分钟写一个单元测试</vt:lpstr>
      <vt:lpstr>好的单元测试</vt:lpstr>
      <vt:lpstr>单元测试+代码覆盖率</vt:lpstr>
      <vt:lpstr>100% 的代码覆盖率并不等同于 100% 的正确性！</vt:lpstr>
      <vt:lpstr>回归测试 （Regression Test）</vt:lpstr>
      <vt:lpstr>扩展 - 锻炼各种能力</vt:lpstr>
      <vt:lpstr>简单的测试要点</vt:lpstr>
      <vt:lpstr>扩展 – 算法的扩展</vt:lpstr>
      <vt:lpstr>扩展 2D array</vt:lpstr>
      <vt:lpstr>扩展 2.5 维度</vt:lpstr>
      <vt:lpstr>扩展2.5D result</vt:lpstr>
      <vt:lpstr>扩展：3D</vt:lpstr>
      <vt:lpstr>效能分析</vt:lpstr>
      <vt:lpstr>效能分析</vt:lpstr>
      <vt:lpstr>Python 的效能分析</vt:lpstr>
      <vt:lpstr>PSP 记录估计和实际耗费的时间</vt:lpstr>
      <vt:lpstr>先填估计值，在练习中记录实际值</vt:lpstr>
      <vt:lpstr>练习</vt:lpstr>
      <vt:lpstr>编程作业 vs. 软件工程作业</vt:lpstr>
      <vt:lpstr>软件的复杂性、易变性</vt:lpstr>
      <vt:lpstr>两个原则</vt:lpstr>
      <vt:lpstr>何时需要应用这些原则？</vt:lpstr>
      <vt:lpstr>如何引入“变化的轴线” (1)</vt:lpstr>
      <vt:lpstr>如何引入“变化的轴线” (2)</vt:lpstr>
      <vt:lpstr>如何引入“变化的轴线” (3)</vt:lpstr>
      <vt:lpstr>如何引入“变化的轴线” (4)</vt:lpstr>
      <vt:lpstr>构建软件的步骤</vt:lpstr>
      <vt:lpstr>解决问题的流程</vt:lpstr>
      <vt:lpstr>What Consists of SE?</vt:lpstr>
      <vt:lpstr>Use Soccer as Example </vt:lpstr>
      <vt:lpstr>Role of “individual”</vt:lpstr>
      <vt:lpstr>How Are You Doing?</vt:lpstr>
      <vt:lpstr>How to “learn” knowledge</vt:lpstr>
      <vt:lpstr>How to Grow Skills – PSP0</vt:lpstr>
      <vt:lpstr>How to Grow Skills – PSP0.1</vt:lpstr>
      <vt:lpstr>PSP1</vt:lpstr>
      <vt:lpstr>PSP2</vt:lpstr>
      <vt:lpstr>PSP Evolution</vt:lpstr>
      <vt:lpstr>PSP Evolution (cont.)</vt:lpstr>
      <vt:lpstr>DATA</vt:lpstr>
      <vt:lpstr>Core Measures:</vt:lpstr>
      <vt:lpstr>Measures</vt:lpstr>
      <vt:lpstr>PSP ISSUES</vt:lpstr>
      <vt:lpstr>PSP data (大三学生 vs. 工作三年的工程师）</vt:lpstr>
      <vt:lpstr>续表</vt:lpstr>
      <vt:lpstr>大三 vs. 研究生毕业+工作三年</vt:lpstr>
      <vt:lpstr>PSP ISSUES (cont.)</vt:lpstr>
      <vt:lpstr>PSP ISSUES (cont.)</vt:lpstr>
      <vt:lpstr>Art vs. Follow the rules</vt:lpstr>
      <vt:lpstr>What is SE</vt:lpstr>
      <vt:lpstr>The Pragmatic Approach</vt:lpstr>
      <vt:lpstr>TPP - Planning</vt:lpstr>
      <vt:lpstr>Standard Deviation</vt:lpstr>
      <vt:lpstr>What is a skill?</vt:lpstr>
      <vt:lpstr>不同层次的问题</vt:lpstr>
      <vt:lpstr>“精通”魔方</vt:lpstr>
      <vt:lpstr>课堂演示</vt:lpstr>
      <vt:lpstr>编程作业 vs. 软件工程作业</vt:lpstr>
      <vt:lpstr>软件的复杂性、易变性</vt:lpstr>
      <vt:lpstr>两个原则</vt:lpstr>
      <vt:lpstr>何时需要应用这些原则？</vt:lpstr>
      <vt:lpstr>如何引入“变化的轴线” (1)</vt:lpstr>
      <vt:lpstr>如何引入“变化的轴线” (2)</vt:lpstr>
      <vt:lpstr>如何引入“变化的轴线” (3)</vt:lpstr>
      <vt:lpstr>如何引入“变化的轴线” (4)</vt:lpstr>
      <vt:lpstr>高级工程师 和 初级爱好者的区别</vt:lpstr>
      <vt:lpstr>Homework</vt:lpstr>
      <vt:lpstr>Questions and Answer</vt:lpstr>
      <vt:lpstr>Homework </vt:lpstr>
      <vt:lpstr>appendix</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 sum of subarray</dc:title>
  <dc:creator>xinz</dc:creator>
  <cp:lastModifiedBy>Xin Zou</cp:lastModifiedBy>
  <cp:revision>28</cp:revision>
  <dcterms:created xsi:type="dcterms:W3CDTF">2008-06-30T00:51:00Z</dcterms:created>
  <dcterms:modified xsi:type="dcterms:W3CDTF">2026-05-27T03:01:32Z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0x0101006371182FA640024E8A2815D490E1EF25</vt:lpwstr>
  </property>
  <property fmtid="{D5CDD505-2E9C-101B-9397-08002B2CF9AE}" pid="3" name="IsMyDocuments">
    <vt:bool>true</vt:bool>
  </property>
  <property fmtid="{D5CDD505-2E9C-101B-9397-08002B2CF9AE}" pid="4" name="ICV">
    <vt:lpwstr>E4D80DE1A4BF4A5791CA51F753309F9A_12</vt:lpwstr>
  </property>
  <property fmtid="{D5CDD505-2E9C-101B-9397-08002B2CF9AE}" pid="5" name="KSOProductBuildVer">
    <vt:lpwstr>2052-12.1.0.25225</vt:lpwstr>
  </property>
</Properties>
</file>