
<file path=[Content_Types].xml><?xml version="1.0" encoding="utf-8"?>
<Types xmlns="http://schemas.openxmlformats.org/package/2006/content-types">
  <Default Extension="xml" ContentType="application/xml"/>
  <Default Extension="jpeg" ContentType="image/jpeg"/>
  <Default Extension="JPG" ContentType="image/.jpg"/>
  <Default Extension="wmf" ContentType="image/x-wmf"/>
  <Default Extension="png" ContentType="image/png"/>
  <Default Extension="emf" ContentType="image/x-em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257" r:id="rId4"/>
    <p:sldId id="277" r:id="rId5"/>
    <p:sldId id="278" r:id="rId6"/>
    <p:sldId id="265" r:id="rId8"/>
    <p:sldId id="288" r:id="rId9"/>
    <p:sldId id="294" r:id="rId10"/>
    <p:sldId id="266" r:id="rId11"/>
    <p:sldId id="267" r:id="rId12"/>
    <p:sldId id="268" r:id="rId13"/>
    <p:sldId id="269" r:id="rId14"/>
    <p:sldId id="286" r:id="rId15"/>
    <p:sldId id="287" r:id="rId16"/>
    <p:sldId id="272" r:id="rId17"/>
    <p:sldId id="273" r:id="rId18"/>
    <p:sldId id="274" r:id="rId19"/>
    <p:sldId id="270" r:id="rId20"/>
    <p:sldId id="297" r:id="rId21"/>
    <p:sldId id="298" r:id="rId22"/>
    <p:sldId id="299" r:id="rId23"/>
    <p:sldId id="279" r:id="rId24"/>
    <p:sldId id="280" r:id="rId25"/>
    <p:sldId id="284" r:id="rId26"/>
    <p:sldId id="281" r:id="rId27"/>
    <p:sldId id="271" r:id="rId28"/>
    <p:sldId id="275" r:id="rId29"/>
    <p:sldId id="282" r:id="rId30"/>
    <p:sldId id="290" r:id="rId31"/>
    <p:sldId id="295" r:id="rId32"/>
    <p:sldId id="296" r:id="rId33"/>
    <p:sldId id="301" r:id="rId34"/>
    <p:sldId id="302" r:id="rId35"/>
    <p:sldId id="303" r:id="rId36"/>
    <p:sldId id="304" r:id="rId37"/>
    <p:sldId id="305" r:id="rId38"/>
    <p:sldId id="306" r:id="rId39"/>
    <p:sldId id="307" r:id="rId40"/>
    <p:sldId id="308" r:id="rId41"/>
    <p:sldId id="309" r:id="rId42"/>
    <p:sldId id="300" r:id="rId43"/>
    <p:sldId id="283" r:id="rId44"/>
    <p:sldId id="285" r:id="rId45"/>
    <p:sldId id="291"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363" autoAdjust="0"/>
    <p:restoredTop sz="89748" autoAdjust="0"/>
  </p:normalViewPr>
  <p:slideViewPr>
    <p:cSldViewPr showGuides="1">
      <p:cViewPr varScale="1">
        <p:scale>
          <a:sx n="92" d="100"/>
          <a:sy n="92" d="100"/>
        </p:scale>
        <p:origin x="885" y="6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2" Type="http://schemas.openxmlformats.org/officeDocument/2006/relationships/customXml" Target="../customXml/item3.xml"/><Relationship Id="rId51" Type="http://schemas.openxmlformats.org/officeDocument/2006/relationships/customXml" Target="../customXml/item2.xml"/><Relationship Id="rId50" Type="http://schemas.openxmlformats.org/officeDocument/2006/relationships/customXml" Target="../customXml/item1.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4B1B442-110D-40F1-A0D3-D0D26DD945CA}"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FBE8F3-E457-4E14-8249-6B01859045C3}"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Without personal skills,  team work is impossible,</a:t>
            </a:r>
            <a:r>
              <a:rPr lang="en-US" altLang="zh-CN" baseline="0" dirty="0" smtClean="0"/>
              <a:t> even when we have healthy, upright, PhD degree team members.   </a:t>
            </a:r>
            <a:r>
              <a:rPr lang="en-US" altLang="zh-CN" dirty="0" smtClean="0"/>
              <a:t>This</a:t>
            </a:r>
            <a:r>
              <a:rPr lang="en-US" altLang="zh-CN" baseline="0" dirty="0" smtClean="0"/>
              <a:t> is why we want everyone to focus on individual skills,  the right set of skills,  which are the foundation of our team work. </a:t>
            </a:r>
            <a:endParaRPr lang="en-US" altLang="zh-CN" baseline="0"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r>
              <a:rPr lang="en-US" dirty="0" smtClean="0"/>
              <a:t>Work is carried out by each individual</a:t>
            </a:r>
            <a:endParaRPr lang="en-US" dirty="0" smtClean="0"/>
          </a:p>
          <a:p>
            <a:pPr eaLnBrk="1" hangingPunct="1"/>
            <a:r>
              <a:rPr lang="en-US" dirty="0" smtClean="0"/>
              <a:t>Skills as an “Individual Contributor” is important</a:t>
            </a:r>
            <a:endParaRPr lang="en-US"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dirty="0" smtClean="0"/>
              <a:t>http://www.sei.cmu.edu/library/abstracts/reports/05sr003.cfm</a:t>
            </a:r>
            <a:endParaRPr lang="en-US" dirty="0" smtClean="0"/>
          </a:p>
          <a:p>
            <a:pPr marL="0" marR="0" indent="0" algn="l" defTabSz="914400" rtl="0" eaLnBrk="1" fontAlgn="auto" latinLnBrk="0" hangingPunct="1">
              <a:lnSpc>
                <a:spcPct val="100000"/>
              </a:lnSpc>
              <a:spcBef>
                <a:spcPts val="0"/>
              </a:spcBef>
              <a:spcAft>
                <a:spcPts val="0"/>
              </a:spcAft>
              <a:buClrTx/>
              <a:buSzTx/>
              <a:buFontTx/>
              <a:buNone/>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defRPr/>
            </a:pPr>
            <a:r>
              <a:rPr lang="en-US" dirty="0" smtClean="0"/>
              <a:t>A baseline is established of current process measuring: time spent on programming, faults injected/removed, size of a program. In a post mortem, the engineer ensures all data for the projects has been properly recorded and </a:t>
            </a:r>
            <a:r>
              <a:rPr lang="en-US" dirty="0" err="1" smtClean="0"/>
              <a:t>analysed</a:t>
            </a:r>
            <a:r>
              <a:rPr lang="en-US" dirty="0" smtClean="0"/>
              <a:t>. PSP0.1 advances the process by adding a coding standard, a size measurement and the development of a personal process improvement plan (PIP). In the PIP, the engineer records ideas for improving his own process.</a:t>
            </a:r>
            <a:br>
              <a:rPr lang="en-US" dirty="0" smtClean="0"/>
            </a:br>
            <a:endParaRPr lang="en-US" dirty="0" smtClean="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PSP1, PSP1.1 (Introduces estimating and planning)</a:t>
            </a:r>
            <a:br>
              <a:rPr lang="en-US" dirty="0" smtClean="0"/>
            </a:br>
            <a:r>
              <a:rPr lang="en-US" dirty="0" smtClean="0"/>
              <a:t>Based upon the baseline data collected in PSP0 and PSP0.1, the engineer estimates how large a new program will be and prepares a test report (PSP1). Accumulated data from previous projects is used to estimate the total time. Each new project will record the actual time spent. This information is used for task and schedule planning and estimation (PSP1.1).</a:t>
            </a:r>
            <a:br>
              <a:rPr lang="en-US" dirty="0" smtClean="0"/>
            </a:b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defRPr/>
            </a:pPr>
            <a:r>
              <a:rPr lang="en-US" b="1" dirty="0" smtClean="0"/>
              <a:t>PSP2, PSP2.1 (Introduces quality management and design)</a:t>
            </a:r>
            <a:br>
              <a:rPr lang="en-US" dirty="0" smtClean="0"/>
            </a:br>
            <a:r>
              <a:rPr lang="en-US" dirty="0" smtClean="0"/>
              <a:t>PSP2 adds two new phases: design review and code review. Defect prevention and removal are the focus at the PSP2. Engineers learn to evaluate and improve their process by measuring how long tasks take and the number of defects they inject and remove in each phase of development. Engineers construct and use checklists for design and code reviews. PSP2.1 introduces design specification and analysis techniques</a:t>
            </a:r>
            <a:br>
              <a:rPr lang="en-US" dirty="0" smtClean="0"/>
            </a:br>
            <a:endParaRPr lang="en-US"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The key data collected in the PSP tool are time, defect, and size data – the time spent in each phase; when and where defects were injected, found, and fixed; and the size of the product parts. Software developers use many other measures that are derived from these three basic measures to understand and improve their performance. Derived measures include:</a:t>
            </a:r>
            <a:endParaRPr lang="en-US" dirty="0" smtClean="0"/>
          </a:p>
          <a:p>
            <a:r>
              <a:rPr lang="en-US" dirty="0" smtClean="0"/>
              <a:t>estimation accuracy (size/time)</a:t>
            </a:r>
            <a:endParaRPr lang="en-US" dirty="0" smtClean="0"/>
          </a:p>
          <a:p>
            <a:r>
              <a:rPr lang="en-US" dirty="0" smtClean="0"/>
              <a:t>prediction intervals (size/time)</a:t>
            </a:r>
            <a:endParaRPr lang="en-US" dirty="0" smtClean="0"/>
          </a:p>
          <a:p>
            <a:r>
              <a:rPr lang="en-US" dirty="0" smtClean="0"/>
              <a:t>time in phase distribution</a:t>
            </a:r>
            <a:endParaRPr lang="en-US" dirty="0" smtClean="0"/>
          </a:p>
          <a:p>
            <a:r>
              <a:rPr lang="en-US" dirty="0" smtClean="0"/>
              <a:t>defect injection distribution</a:t>
            </a:r>
            <a:endParaRPr lang="en-US" dirty="0" smtClean="0"/>
          </a:p>
          <a:p>
            <a:r>
              <a:rPr lang="en-US" dirty="0" smtClean="0"/>
              <a:t>defect removal distribution</a:t>
            </a:r>
            <a:endParaRPr lang="en-US" dirty="0" smtClean="0"/>
          </a:p>
          <a:p>
            <a:r>
              <a:rPr lang="en-US" dirty="0" smtClean="0"/>
              <a:t>productivity</a:t>
            </a:r>
            <a:endParaRPr lang="en-US" dirty="0" smtClean="0"/>
          </a:p>
          <a:p>
            <a:r>
              <a:rPr lang="en-US" dirty="0" smtClean="0"/>
              <a:t>reuse percentage</a:t>
            </a:r>
            <a:endParaRPr lang="en-US" dirty="0" smtClean="0"/>
          </a:p>
          <a:p>
            <a:r>
              <a:rPr lang="en-US" dirty="0" smtClean="0"/>
              <a:t>cost performance index</a:t>
            </a:r>
            <a:endParaRPr lang="en-US" dirty="0" smtClean="0"/>
          </a:p>
          <a:p>
            <a:r>
              <a:rPr lang="en-US" dirty="0" smtClean="0"/>
              <a:t>planned value</a:t>
            </a:r>
            <a:endParaRPr lang="en-US" dirty="0" smtClean="0"/>
          </a:p>
          <a:p>
            <a:r>
              <a:rPr lang="en-US" dirty="0" smtClean="0"/>
              <a:t>earned value</a:t>
            </a:r>
            <a:endParaRPr lang="en-US" dirty="0" smtClean="0"/>
          </a:p>
          <a:p>
            <a:r>
              <a:rPr lang="en-US" dirty="0" smtClean="0"/>
              <a:t>predicted earned value</a:t>
            </a:r>
            <a:endParaRPr lang="en-US" dirty="0" smtClean="0"/>
          </a:p>
          <a:p>
            <a:r>
              <a:rPr lang="en-US" dirty="0" smtClean="0"/>
              <a:t>defect density</a:t>
            </a:r>
            <a:endParaRPr lang="en-US" dirty="0" smtClean="0"/>
          </a:p>
          <a:p>
            <a:r>
              <a:rPr lang="en-US" dirty="0" smtClean="0"/>
              <a:t>defect density by phase</a:t>
            </a:r>
            <a:endParaRPr lang="en-US" dirty="0" smtClean="0"/>
          </a:p>
          <a:p>
            <a:r>
              <a:rPr lang="en-US" dirty="0" smtClean="0"/>
              <a:t>defect removal rate by phase</a:t>
            </a:r>
            <a:endParaRPr lang="en-US" dirty="0" smtClean="0"/>
          </a:p>
          <a:p>
            <a:r>
              <a:rPr lang="en-US" dirty="0" smtClean="0"/>
              <a:t>defect removal leverage</a:t>
            </a:r>
            <a:endParaRPr lang="en-US" dirty="0" smtClean="0"/>
          </a:p>
          <a:p>
            <a:r>
              <a:rPr lang="en-US" dirty="0" smtClean="0"/>
              <a:t>review rates</a:t>
            </a:r>
            <a:endParaRPr lang="en-US" dirty="0" smtClean="0"/>
          </a:p>
          <a:p>
            <a:r>
              <a:rPr lang="en-US" dirty="0" smtClean="0"/>
              <a:t>process yield</a:t>
            </a:r>
            <a:endParaRPr lang="en-US" dirty="0" smtClean="0"/>
          </a:p>
          <a:p>
            <a:r>
              <a:rPr lang="en-US" dirty="0" smtClean="0"/>
              <a:t>phase yield</a:t>
            </a:r>
            <a:endParaRPr lang="en-US" dirty="0" smtClean="0"/>
          </a:p>
          <a:p>
            <a:r>
              <a:rPr lang="en-US" dirty="0" smtClean="0"/>
              <a:t>failure cost of quality (COQ)</a:t>
            </a:r>
            <a:endParaRPr lang="en-US" dirty="0" smtClean="0"/>
          </a:p>
          <a:p>
            <a:r>
              <a:rPr lang="en-US" dirty="0" smtClean="0"/>
              <a:t>appraisal COQ</a:t>
            </a:r>
            <a:endParaRPr lang="en-US" dirty="0" smtClean="0"/>
          </a:p>
          <a:p>
            <a:r>
              <a:rPr lang="en-US" dirty="0" smtClean="0"/>
              <a:t>appraisal/failure COQ ratio</a:t>
            </a:r>
            <a:endParaRPr lang="en-US"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“Gone with the Wind” – more</a:t>
            </a:r>
            <a:r>
              <a:rPr lang="en-US" altLang="zh-CN" baseline="0" dirty="0" smtClean="0"/>
              <a:t> than 7 years in writing. </a:t>
            </a:r>
            <a:endParaRPr lang="en-US" altLang="zh-CN" baseline="0" dirty="0" smtClean="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smtClean="0"/>
              <a:t>“</a:t>
            </a:r>
            <a:r>
              <a:rPr lang="en-US" altLang="zh-CN" sz="2000" dirty="0" smtClean="0"/>
              <a:t>&lt;</a:t>
            </a:r>
            <a:r>
              <a:rPr lang="zh-CN" altLang="en-US" sz="2000" dirty="0" smtClean="0"/>
              <a:t>红楼梦</a:t>
            </a:r>
            <a:r>
              <a:rPr lang="en-US" altLang="zh-CN" sz="2000" dirty="0" smtClean="0"/>
              <a:t>&gt;</a:t>
            </a:r>
            <a:r>
              <a:rPr lang="en-US" altLang="zh-CN" baseline="0" dirty="0" smtClean="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“Gone with the Wind” – more</a:t>
            </a:r>
            <a:r>
              <a:rPr lang="en-US" altLang="zh-CN" baseline="0" dirty="0" smtClean="0"/>
              <a:t> than 7 years in writing. </a:t>
            </a:r>
            <a:endParaRPr lang="en-US" altLang="zh-CN" baseline="0" dirty="0" smtClean="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smtClean="0"/>
              <a:t>“</a:t>
            </a:r>
            <a:r>
              <a:rPr lang="en-US" altLang="zh-CN" sz="2000" dirty="0" smtClean="0"/>
              <a:t>&lt;</a:t>
            </a:r>
            <a:r>
              <a:rPr lang="zh-CN" altLang="en-US" sz="2000" dirty="0" smtClean="0"/>
              <a:t>红楼梦</a:t>
            </a:r>
            <a:r>
              <a:rPr lang="en-US" altLang="zh-CN" sz="2000" dirty="0" smtClean="0"/>
              <a:t>&gt;</a:t>
            </a:r>
            <a:r>
              <a:rPr lang="en-US" altLang="zh-CN" baseline="0" dirty="0" smtClean="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“Gone with the Wind” – more</a:t>
            </a:r>
            <a:r>
              <a:rPr lang="en-US" altLang="zh-CN" baseline="0" dirty="0" smtClean="0"/>
              <a:t> than 7 years in writing. </a:t>
            </a:r>
            <a:endParaRPr lang="en-US" altLang="zh-CN" baseline="0" dirty="0" smtClean="0"/>
          </a:p>
          <a:p>
            <a:pPr marL="0" marR="0" lvl="1" indent="0" algn="l" defTabSz="914400" rtl="0" eaLnBrk="1" fontAlgn="auto" latinLnBrk="0" hangingPunct="1">
              <a:lnSpc>
                <a:spcPct val="100000"/>
              </a:lnSpc>
              <a:spcBef>
                <a:spcPts val="0"/>
              </a:spcBef>
              <a:spcAft>
                <a:spcPts val="0"/>
              </a:spcAft>
              <a:buClrTx/>
              <a:buSzTx/>
              <a:buFontTx/>
              <a:buNone/>
              <a:defRPr/>
            </a:pPr>
            <a:r>
              <a:rPr lang="en-US" altLang="zh-CN" baseline="0" dirty="0" smtClean="0"/>
              <a:t>“</a:t>
            </a:r>
            <a:r>
              <a:rPr lang="en-US" altLang="zh-CN" sz="2000" dirty="0" smtClean="0"/>
              <a:t>&lt;</a:t>
            </a:r>
            <a:r>
              <a:rPr lang="zh-CN" altLang="en-US" sz="2000" dirty="0" smtClean="0"/>
              <a:t>红楼梦</a:t>
            </a:r>
            <a:r>
              <a:rPr lang="en-US" altLang="zh-CN" sz="2000" dirty="0" smtClean="0"/>
              <a:t>&gt;</a:t>
            </a:r>
            <a:r>
              <a:rPr lang="en-US" altLang="zh-CN" baseline="0" dirty="0" smtClean="0"/>
              <a:t>”</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dirty="0" smtClean="0"/>
              <a:t>3:</a:t>
            </a:r>
            <a:r>
              <a:rPr lang="en-US" altLang="zh-CN" baseline="0" dirty="0" smtClean="0"/>
              <a:t>  </a:t>
            </a:r>
            <a:r>
              <a:rPr lang="zh-CN" altLang="en-US" dirty="0" smtClean="0"/>
              <a:t>江， 人，</a:t>
            </a:r>
            <a:endParaRPr lang="en-US" altLang="zh-CN" dirty="0" smtClean="0"/>
          </a:p>
          <a:p>
            <a:r>
              <a:rPr lang="en-US" altLang="zh-CN" dirty="0" smtClean="0"/>
              <a:t>2:  </a:t>
            </a:r>
            <a:r>
              <a:rPr lang="zh-CN" altLang="en-US" dirty="0" smtClean="0"/>
              <a:t>国，生， 千，故，如</a:t>
            </a:r>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Standard deviation</a:t>
            </a:r>
            <a:r>
              <a:rPr lang="en-US" baseline="0" dirty="0" smtClean="0"/>
              <a:t> is key to the quality of service, and key to build trust.   </a:t>
            </a:r>
            <a:r>
              <a:rPr lang="en-US" altLang="zh-CN" baseline="0" dirty="0" smtClean="0"/>
              <a:t>&lt;Jack Welch&gt;</a:t>
            </a:r>
            <a:endParaRPr lang="en-US" altLang="zh-CN" baseline="0" dirty="0" smtClean="0"/>
          </a:p>
          <a:p>
            <a:endParaRPr lang="en-US" dirty="0"/>
          </a:p>
        </p:txBody>
      </p:sp>
      <p:sp>
        <p:nvSpPr>
          <p:cNvPr id="4" name="Slide Number Placeholder 3"/>
          <p:cNvSpPr>
            <a:spLocks noGrp="1"/>
          </p:cNvSpPr>
          <p:nvPr>
            <p:ph type="sldNum" sz="quarter" idx="10"/>
          </p:nvPr>
        </p:nvSpPr>
        <p:spPr/>
        <p:txBody>
          <a:bodyPr/>
          <a:lstStyle/>
          <a:p>
            <a:fld id="{5DFBE8F3-E457-4E14-8249-6B01859045C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lstStyle>
          <a:p>
            <a:r>
              <a:rPr kumimoji="0" lang="en-US" smtClean="0"/>
              <a:t>Click to edit Master title style</a:t>
            </a:r>
            <a:endParaRPr kumimoji="0" lang="en-US"/>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smtClean="0"/>
              <a:t>Click to edit Master subtitle style</a:t>
            </a:r>
            <a:endParaRPr kumimoji="0" lang="en-US"/>
          </a:p>
        </p:txBody>
      </p:sp>
      <p:sp>
        <p:nvSpPr>
          <p:cNvPr id="4" name="Date Placeholder 3"/>
          <p:cNvSpPr>
            <a:spLocks noGrp="1"/>
          </p:cNvSpPr>
          <p:nvPr>
            <p:ph type="dt" sz="half" idx="10"/>
          </p:nvPr>
        </p:nvSpPr>
        <p:spPr/>
        <p:txBody>
          <a:bodyPr/>
          <a:lstStyle/>
          <a:p>
            <a:pPr>
              <a:defRPr/>
            </a:pPr>
            <a:fld id="{94D2DE61-01BA-4D63-AB76-0CD3EEDCC786}"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6C92FDE-E245-4054-B13C-B2368E1DA6ED}" type="slidenum">
              <a:rPr lang="en-US" smtClean="0"/>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5448"/>
            <a:ext cx="8229600" cy="1252728"/>
          </a:xfrm>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D6CE455C-D3FD-456F-B85E-96E6744FDB20}"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99CE700-0801-4743-9474-BA29402439C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1"/>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118872"/>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40664" y="1828800"/>
            <a:ext cx="8022336" cy="685800"/>
          </a:xfrm>
        </p:spPr>
        <p:txBody>
          <a:bodyPr lIns="146304" tIns="0" rIns="45720" bIns="0" anchor="t"/>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pPr>
              <a:defRPr/>
            </a:pPr>
            <a:fld id="{2E396A7C-7724-49DB-BE50-5855776DA282}"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73F0ABC-70BC-4F43-9687-9B309C26DB2A}"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773936"/>
            <a:ext cx="4038600" cy="4623816"/>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773936"/>
            <a:ext cx="4038600" cy="462381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pPr>
              <a:defRPr/>
            </a:pPr>
            <a:fld id="{69C10974-708E-4997-950B-416EBCB591A0}" type="datetimeFigureOut">
              <a:rPr lang="en-US" smtClean="0"/>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0B18713-D1F9-440C-98D7-11A0982A070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698987"/>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2"/>
          </p:nvPr>
        </p:nvSpPr>
        <p:spPr>
          <a:xfrm>
            <a:off x="457200" y="2449512"/>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Text Placeholder 4"/>
          <p:cNvSpPr>
            <a:spLocks noGrp="1"/>
          </p:cNvSpPr>
          <p:nvPr>
            <p:ph type="body" sz="quarter" idx="3"/>
          </p:nvPr>
        </p:nvSpPr>
        <p:spPr>
          <a:xfrm>
            <a:off x="4645025" y="1698987"/>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smtClean="0"/>
              <a:t>Click to edit Master text styles</a:t>
            </a:r>
            <a:endParaRPr kumimoji="0" lang="en-US" smtClean="0"/>
          </a:p>
        </p:txBody>
      </p:sp>
      <p:sp>
        <p:nvSpPr>
          <p:cNvPr id="6" name="Content Placeholder 5"/>
          <p:cNvSpPr>
            <a:spLocks noGrp="1"/>
          </p:cNvSpPr>
          <p:nvPr>
            <p:ph sz="quarter" idx="4"/>
          </p:nvPr>
        </p:nvSpPr>
        <p:spPr>
          <a:xfrm>
            <a:off x="4645025" y="2449512"/>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pPr>
              <a:defRPr/>
            </a:pPr>
            <a:fld id="{F816DDEF-5D7B-4ED2-8F62-B3F1C44D6EC5}" type="datetimeFigureOut">
              <a:rPr lang="en-US" smtClean="0"/>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89D69AC-A5BC-4B9B-A0CF-168768D6EE1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pPr>
              <a:defRPr/>
            </a:pPr>
            <a:fld id="{FA20EB90-C4D3-4B6B-82CE-1D435DA3ACC1}"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996EA18-ADFC-4118-B2BD-9E16AC42B17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ADB8F2E0-4A51-4E31-9C27-9BC27CEF43F6}" type="datetimeFigureOut">
              <a:rPr lang="en-US" smtClean="0"/>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7E8C9AC-B7D4-4681-89F5-BB9F7F0C516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lstStyle>
          <a:p>
            <a:r>
              <a:rPr kumimoji="0" lang="en-US" smtClean="0"/>
              <a:t>Click to edit Master title style</a:t>
            </a:r>
            <a:endParaRPr kumimoji="0" lang="en-US"/>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pPr>
              <a:defRPr/>
            </a:pPr>
            <a:fld id="{0EBCA414-E586-4DAC-83A0-743F3572C47D}" type="datetimeFigureOut">
              <a:rPr lang="en-US" smtClean="0"/>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790AC7A-5470-4EA1-BFDA-3B3E51621204}" type="slidenum">
              <a:rPr lang="en-US" smtClean="0"/>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a:xfrm>
            <a:off x="164592" y="1170432"/>
            <a:ext cx="2523744" cy="201168"/>
          </a:xfrm>
        </p:spPr>
        <p:txBody>
          <a:bodyPr/>
          <a:lstStyle/>
          <a:p>
            <a:pPr>
              <a:defRPr/>
            </a:pPr>
            <a:fld id="{D465C755-FB34-4CB9-BCAD-6B3CFD8A9FE6}" type="datetimeFigureOut">
              <a:rPr lang="en-US" smtClean="0"/>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pPr>
              <a:defRPr/>
            </a:pPr>
            <a:endParaRPr lang="en-US"/>
          </a:p>
        </p:txBody>
      </p:sp>
      <p:sp>
        <p:nvSpPr>
          <p:cNvPr id="7" name="Slide Number Placeholder 6"/>
          <p:cNvSpPr>
            <a:spLocks noGrp="1"/>
          </p:cNvSpPr>
          <p:nvPr>
            <p:ph type="sldNum" sz="quarter" idx="12"/>
          </p:nvPr>
        </p:nvSpPr>
        <p:spPr>
          <a:xfrm>
            <a:off x="8339328" y="1170432"/>
            <a:ext cx="733864" cy="201168"/>
          </a:xfrm>
        </p:spPr>
        <p:txBody>
          <a:bodyPr/>
          <a:lstStyle/>
          <a:p>
            <a:pPr>
              <a:defRPr/>
            </a:pPr>
            <a:fld id="{00193ABF-DE85-45CF-A5F6-94D6F1803079}"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C881A71F-7706-4309-B98E-D5818D9C4619}" type="datetimeFigureOut">
              <a:rPr lang="en-US" smtClean="0"/>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1F2A420-6221-4AAB-A5CF-E69F38521E1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pPr>
              <a:defRPr/>
            </a:pPr>
            <a:fld id="{D273DBF7-E22B-4D4F-86C6-34AA5D685EBC}" type="datetimeFigureOut">
              <a:rPr lang="en-US" smtClean="0"/>
            </a:fld>
            <a:endParaRPr lang="en-US"/>
          </a:p>
        </p:txBody>
      </p:sp>
      <p:sp>
        <p:nvSpPr>
          <p:cNvPr id="5" name="Footer Placeholder 4"/>
          <p:cNvSpPr>
            <a:spLocks noGrp="1"/>
          </p:cNvSpPr>
          <p:nvPr>
            <p:ph type="ftr" sz="quarter" idx="11"/>
          </p:nvPr>
        </p:nvSpPr>
        <p:spPr>
          <a:xfrm>
            <a:off x="2640597" y="6377459"/>
            <a:ext cx="3836404" cy="365125"/>
          </a:xfrm>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8E88D30-ACB8-4D6F-92A3-FE6BCCC6005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435895"/>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0"/>
            <a:ext cx="9143999" cy="1433733"/>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1251062"/>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775191"/>
            <a:ext cx="8229600" cy="4625609"/>
          </a:xfrm>
          <a:prstGeom prst="rect">
            <a:avLst/>
          </a:prstGeom>
        </p:spPr>
        <p:txBody>
          <a:bodyPr vert="horz" lIns="54864" tIns="91440" rtlCol="0">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4" name="Date Placeholder 3"/>
          <p:cNvSpPr>
            <a:spLocks noGrp="1"/>
          </p:cNvSpPr>
          <p:nvPr>
            <p:ph type="dt" sz="half" idx="2"/>
          </p:nvPr>
        </p:nvSpPr>
        <p:spPr>
          <a:xfrm>
            <a:off x="457200" y="6476999"/>
            <a:ext cx="2133600" cy="274320"/>
          </a:xfrm>
          <a:prstGeom prst="rect">
            <a:avLst/>
          </a:prstGeom>
        </p:spPr>
        <p:txBody>
          <a:bodyPr vert="horz" lIns="109728" rIns="45720" bIns="0" rtlCol="0" anchor="b"/>
          <a:lstStyle>
            <a:lvl1pPr algn="l" eaLnBrk="1" latinLnBrk="0" hangingPunct="1">
              <a:defRPr kumimoji="0" sz="1200">
                <a:solidFill>
                  <a:schemeClr val="tx1">
                    <a:tint val="95000"/>
                  </a:schemeClr>
                </a:solidFill>
              </a:defRPr>
            </a:lvl1pPr>
          </a:lstStyle>
          <a:p>
            <a:pPr>
              <a:defRPr/>
            </a:pPr>
            <a:fld id="{24CB9ADE-4CFE-4421-8307-57D5B54CCE51}" type="datetimeFigureOut">
              <a:rPr lang="en-US" smtClean="0"/>
            </a:fld>
            <a:endParaRPr lang="en-US"/>
          </a:p>
        </p:txBody>
      </p:sp>
      <p:sp>
        <p:nvSpPr>
          <p:cNvPr id="5" name="Footer Placeholder 4"/>
          <p:cNvSpPr>
            <a:spLocks noGrp="1"/>
          </p:cNvSpPr>
          <p:nvPr>
            <p:ph type="ftr" sz="quarter" idx="3"/>
          </p:nvPr>
        </p:nvSpPr>
        <p:spPr>
          <a:xfrm>
            <a:off x="2640596" y="6476999"/>
            <a:ext cx="5507719" cy="274320"/>
          </a:xfrm>
          <a:prstGeom prst="rect">
            <a:avLst/>
          </a:prstGeom>
        </p:spPr>
        <p:txBody>
          <a:bodyPr vert="horz" lIns="45720" rIns="45720" bIns="0" rtlCol="0" anchor="b"/>
          <a:lstStyle>
            <a:lvl1pPr algn="l" eaLnBrk="1" latinLnBrk="0" hangingPunct="1">
              <a:defRPr kumimoji="0" sz="1200">
                <a:solidFill>
                  <a:schemeClr val="tx1">
                    <a:tint val="95000"/>
                  </a:schemeClr>
                </a:solidFill>
              </a:defRPr>
            </a:lvl1pPr>
          </a:lstStyle>
          <a:p>
            <a:pPr>
              <a:defRPr/>
            </a:pPr>
            <a:endParaRPr lang="en-US"/>
          </a:p>
        </p:txBody>
      </p:sp>
      <p:sp>
        <p:nvSpPr>
          <p:cNvPr id="6" name="Slide Number Placeholder 5"/>
          <p:cNvSpPr>
            <a:spLocks noGrp="1"/>
          </p:cNvSpPr>
          <p:nvPr>
            <p:ph type="sldNum" sz="quarter" idx="4"/>
          </p:nvPr>
        </p:nvSpPr>
        <p:spPr>
          <a:xfrm>
            <a:off x="8204396" y="6476999"/>
            <a:ext cx="733864" cy="274320"/>
          </a:xfrm>
          <a:prstGeom prst="rect">
            <a:avLst/>
          </a:prstGeom>
        </p:spPr>
        <p:txBody>
          <a:bodyPr vert="horz" bIns="0" rtlCol="0" anchor="b"/>
          <a:lstStyle>
            <a:lvl1pPr algn="r" eaLnBrk="1" latinLnBrk="0" hangingPunct="1">
              <a:defRPr kumimoji="0" sz="1200">
                <a:solidFill>
                  <a:schemeClr val="tx1">
                    <a:tint val="95000"/>
                  </a:schemeClr>
                </a:solidFill>
              </a:defRPr>
            </a:lvl1pPr>
          </a:lstStyle>
          <a:p>
            <a:pPr>
              <a:defRPr/>
            </a:pPr>
            <a:fld id="{F2FAA213-5236-4A65-A6DF-FF05540A503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p:titleStyle>
    <p:bodyStyle>
      <a:lvl1pPr marL="438785" indent="-320040" algn="l" rtl="0" eaLnBrk="1" latinLnBrk="0" hangingPunct="1">
        <a:spcBef>
          <a:spcPts val="0"/>
        </a:spcBef>
        <a:buClr>
          <a:schemeClr val="accent1"/>
        </a:buClr>
        <a:buSzPct val="80000"/>
        <a:buFont typeface="Wingdings 2" panose="05020102010507070707"/>
        <a:buChar char=""/>
        <a:defRPr kumimoji="0" sz="3200" kern="1200">
          <a:solidFill>
            <a:schemeClr val="tx1"/>
          </a:solidFill>
          <a:latin typeface="+mn-lt"/>
          <a:ea typeface="+mn-ea"/>
          <a:cs typeface="+mn-cs"/>
        </a:defRPr>
      </a:lvl1pPr>
      <a:lvl2pPr marL="731520" indent="-274320" algn="l" rtl="0" eaLnBrk="1" latinLnBrk="0" hangingPunct="1">
        <a:spcBef>
          <a:spcPct val="20000"/>
        </a:spcBef>
        <a:buClr>
          <a:schemeClr val="accent2"/>
        </a:buClr>
        <a:buSzPct val="90000"/>
        <a:buFont typeface="Wingdings" panose="05000000000000000000"/>
        <a:buChar char=""/>
        <a:defRPr kumimoji="0" sz="2800" kern="1200">
          <a:solidFill>
            <a:schemeClr val="tx1"/>
          </a:solidFill>
          <a:latin typeface="+mn-lt"/>
          <a:ea typeface="+mn-ea"/>
          <a:cs typeface="+mn-cs"/>
        </a:defRPr>
      </a:lvl2pPr>
      <a:lvl3pPr marL="996950" indent="-228600" algn="l" rtl="0" eaLnBrk="1" latinLnBrk="0" hangingPunct="1">
        <a:spcBef>
          <a:spcPct val="20000"/>
        </a:spcBef>
        <a:buClr>
          <a:schemeClr val="accent3"/>
        </a:buClr>
        <a:buFont typeface="Arial" panose="020B0604020202020204"/>
        <a:buChar char="▪"/>
        <a:defRPr kumimoji="0" sz="2400" kern="1200">
          <a:solidFill>
            <a:schemeClr val="tx1"/>
          </a:solidFill>
          <a:latin typeface="+mn-lt"/>
          <a:ea typeface="+mn-ea"/>
          <a:cs typeface="+mn-cs"/>
        </a:defRPr>
      </a:lvl3pPr>
      <a:lvl4pPr marL="1216025" indent="-182880" algn="l" rtl="0" eaLnBrk="1" latinLnBrk="0" hangingPunct="1">
        <a:spcBef>
          <a:spcPct val="20000"/>
        </a:spcBef>
        <a:buClr>
          <a:schemeClr val="accent4"/>
        </a:buClr>
        <a:buFont typeface="Arial" panose="020B0604020202020204"/>
        <a:buChar char="▪"/>
        <a:defRPr kumimoji="0" sz="2000" kern="1200">
          <a:solidFill>
            <a:schemeClr val="tx1"/>
          </a:solidFill>
          <a:latin typeface="+mn-lt"/>
          <a:ea typeface="+mn-ea"/>
          <a:cs typeface="+mn-cs"/>
        </a:defRPr>
      </a:lvl4pPr>
      <a:lvl5pPr marL="1426210" indent="-182880" algn="l" rtl="0" eaLnBrk="1" latinLnBrk="0" hangingPunct="1">
        <a:spcBef>
          <a:spcPct val="20000"/>
        </a:spcBef>
        <a:buClr>
          <a:schemeClr val="accent5"/>
        </a:buClr>
        <a:buFont typeface="Wingdings 3" panose="05040102010807070707"/>
        <a:buChar char=""/>
        <a:defRPr kumimoji="0" lang="en-US" sz="2000" kern="1200" smtClean="0">
          <a:solidFill>
            <a:schemeClr val="tx1"/>
          </a:solidFill>
          <a:latin typeface="+mn-lt"/>
          <a:ea typeface="+mn-ea"/>
          <a:cs typeface="+mn-cs"/>
        </a:defRPr>
      </a:lvl5pPr>
      <a:lvl6pPr marL="1627505" indent="-182880" algn="l" rtl="0" eaLnBrk="1" latinLnBrk="0" hangingPunct="1">
        <a:spcBef>
          <a:spcPct val="20000"/>
        </a:spcBef>
        <a:buClr>
          <a:schemeClr val="accent6"/>
        </a:buClr>
        <a:buSzPct val="100000"/>
        <a:buFont typeface="Wingdings 2" panose="05020102010507070707"/>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panose="05020102010507070707"/>
        <a:buChar char=""/>
        <a:defRPr kumimoji="0" sz="1800" kern="1200">
          <a:solidFill>
            <a:schemeClr val="tx1"/>
          </a:solidFill>
          <a:latin typeface="+mn-lt"/>
          <a:ea typeface="+mn-ea"/>
          <a:cs typeface="+mn-cs"/>
        </a:defRPr>
      </a:lvl7pPr>
      <a:lvl8pPr marL="2030095" indent="-182880" algn="l" rtl="0" eaLnBrk="1" latinLnBrk="0" hangingPunct="1">
        <a:spcBef>
          <a:spcPct val="20000"/>
        </a:spcBef>
        <a:buClr>
          <a:schemeClr val="accent2"/>
        </a:buClr>
        <a:buFont typeface="Wingdings 2" panose="05020102010507070707" pitchFamily="18" charset="2"/>
        <a:buChar char=""/>
        <a:defRPr kumimoji="0" sz="1800" kern="1200">
          <a:solidFill>
            <a:schemeClr val="tx1"/>
          </a:solidFill>
          <a:latin typeface="+mn-lt"/>
          <a:ea typeface="+mn-ea"/>
          <a:cs typeface="+mn-cs"/>
        </a:defRPr>
      </a:lvl8pPr>
      <a:lvl9pPr marL="2231390" indent="-182880" algn="l" rtl="0" eaLnBrk="1" latinLnBrk="0" hangingPunct="1">
        <a:spcBef>
          <a:spcPct val="20000"/>
        </a:spcBef>
        <a:buClr>
          <a:schemeClr val="accent3"/>
        </a:buClr>
        <a:buFont typeface="Wingdings 2" panose="05020102010507070707" pitchFamily="18" charset="2"/>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image" Target="../media/image2.wmf"/></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hyperlink" Target="http://images.google.com/imgres?imgurl=http://s3.amazonaws.com/pixmac-preview/soccer-player-silhouettes-1.jpg&amp;imgrefurl=http://www.pixmac.com/picture/soccer-player-silhouettes/000000184984&amp;usg=__epvvuoGk6nCHCzVigrG4u7iwwzM=&amp;h=306&amp;w=400&amp;sz=19&amp;hl=en&amp;start=22&amp;tbnid=Ervd0cBao52trM:&amp;tbnh=95&amp;tbnw=124&amp;prev=/images?q=soccer+player&amp;gbv=2&amp;ndsp=20&amp;hl=en&amp;sa=N&amp;start=20&amp;newwindow=1"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billbuxton.com/xc.html" TargetMode="Externa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p/3852177.html" TargetMode="Externa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www.cnblogs.com/xinz/p/3803109.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zh-CN" altLang="en-US" dirty="0"/>
              <a:t>个</a:t>
            </a:r>
            <a:r>
              <a:rPr lang="zh-CN" altLang="en-US" dirty="0" smtClean="0"/>
              <a:t>人技术和流程</a:t>
            </a:r>
            <a:endParaRPr lang="en-US" dirty="0"/>
          </a:p>
        </p:txBody>
      </p:sp>
      <p:sp>
        <p:nvSpPr>
          <p:cNvPr id="9219" name="Subtitle 2"/>
          <p:cNvSpPr>
            <a:spLocks noGrp="1"/>
          </p:cNvSpPr>
          <p:nvPr>
            <p:ph type="subTitle" idx="1"/>
          </p:nvPr>
        </p:nvSpPr>
        <p:spPr/>
        <p:txBody>
          <a:bodyPr/>
          <a:lstStyle/>
          <a:p>
            <a:pPr marR="0" eaLnBrk="1" hangingPunct="1">
              <a:lnSpc>
                <a:spcPct val="80000"/>
              </a:lnSpc>
            </a:pPr>
            <a:r>
              <a:rPr lang="zh-CN" altLang="en-US" sz="2500" dirty="0"/>
              <a:t>邹</a:t>
            </a:r>
            <a:r>
              <a:rPr lang="zh-CN" altLang="en-US" sz="2500" dirty="0" smtClean="0"/>
              <a:t>欣</a:t>
            </a:r>
            <a:endParaRPr lang="en-US" altLang="zh-CN" sz="2500" dirty="0" smtClean="0"/>
          </a:p>
          <a:p>
            <a:pPr marR="0" eaLnBrk="1" hangingPunct="1">
              <a:lnSpc>
                <a:spcPct val="80000"/>
              </a:lnSpc>
            </a:pPr>
            <a:r>
              <a:rPr lang="zh-CN" altLang="en-US" sz="2500" dirty="0"/>
              <a:t>构建之</a:t>
            </a:r>
            <a:r>
              <a:rPr lang="zh-CN" altLang="en-US" sz="2500" dirty="0" smtClean="0"/>
              <a:t>法 </a:t>
            </a:r>
            <a:r>
              <a:rPr lang="en-US" altLang="zh-CN" sz="2500" dirty="0" smtClean="0"/>
              <a:t>– </a:t>
            </a:r>
            <a:r>
              <a:rPr lang="zh-CN" altLang="en-US" sz="2500" dirty="0" smtClean="0"/>
              <a:t>现代软件工程</a:t>
            </a:r>
            <a:endParaRPr lang="en-US" sz="2500" dirty="0" smtClean="0"/>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eaLnBrk="1" fontAlgn="auto" hangingPunct="1">
              <a:spcAft>
                <a:spcPts val="0"/>
              </a:spcAft>
              <a:defRPr/>
            </a:pPr>
            <a:r>
              <a:rPr lang="en-US" dirty="0" smtClean="0"/>
              <a:t>Agenda</a:t>
            </a:r>
            <a:endParaRPr lang="en-US" dirty="0"/>
          </a:p>
        </p:txBody>
      </p:sp>
      <p:sp>
        <p:nvSpPr>
          <p:cNvPr id="10242" name="Content Placeholder 1"/>
          <p:cNvSpPr>
            <a:spLocks noGrp="1"/>
          </p:cNvSpPr>
          <p:nvPr>
            <p:ph idx="1"/>
          </p:nvPr>
        </p:nvSpPr>
        <p:spPr/>
        <p:txBody>
          <a:bodyPr>
            <a:normAutofit/>
          </a:bodyPr>
          <a:lstStyle/>
          <a:p>
            <a:pPr eaLnBrk="1" hangingPunct="1"/>
            <a:r>
              <a:rPr lang="en-US" dirty="0" smtClean="0"/>
              <a:t>Class business</a:t>
            </a:r>
            <a:endParaRPr lang="en-US" altLang="zh-CN" dirty="0" smtClean="0"/>
          </a:p>
          <a:p>
            <a:pPr lvl="1"/>
            <a:r>
              <a:rPr lang="en-US" altLang="zh-CN" dirty="0" smtClean="0"/>
              <a:t>Team Project</a:t>
            </a:r>
            <a:endParaRPr lang="en-US" altLang="zh-CN" dirty="0" smtClean="0"/>
          </a:p>
          <a:p>
            <a:pPr lvl="2"/>
            <a:r>
              <a:rPr lang="en-US" altLang="zh-CN" dirty="0" smtClean="0"/>
              <a:t>It’s ok to do “small” projects</a:t>
            </a:r>
            <a:endParaRPr lang="en-US" altLang="zh-CN" dirty="0" smtClean="0"/>
          </a:p>
          <a:p>
            <a:pPr eaLnBrk="1" hangingPunct="1"/>
            <a:r>
              <a:rPr lang="en-US" dirty="0" smtClean="0"/>
              <a:t>Software Engineering (again)</a:t>
            </a:r>
            <a:endParaRPr lang="en-US" dirty="0" smtClean="0"/>
          </a:p>
          <a:p>
            <a:pPr eaLnBrk="1" hangingPunct="1"/>
            <a:r>
              <a:rPr lang="en-US" dirty="0" smtClean="0"/>
              <a:t>How to grow skills</a:t>
            </a:r>
            <a:endParaRPr lang="en-US" dirty="0" smtClean="0"/>
          </a:p>
          <a:p>
            <a:pPr lvl="1" eaLnBrk="1" hangingPunct="1"/>
            <a:r>
              <a:rPr lang="en-US" dirty="0" smtClean="0"/>
              <a:t>PSP – </a:t>
            </a:r>
            <a:r>
              <a:rPr lang="en-US" b="1" dirty="0" smtClean="0"/>
              <a:t>P</a:t>
            </a:r>
            <a:r>
              <a:rPr lang="en-US" dirty="0" smtClean="0"/>
              <a:t>ersonal </a:t>
            </a:r>
            <a:r>
              <a:rPr lang="en-US" b="1" dirty="0" smtClean="0"/>
              <a:t>S</a:t>
            </a:r>
            <a:r>
              <a:rPr lang="en-US" dirty="0" smtClean="0"/>
              <a:t>oftware </a:t>
            </a:r>
            <a:r>
              <a:rPr lang="en-US" b="1" dirty="0" smtClean="0"/>
              <a:t>P</a:t>
            </a:r>
            <a:r>
              <a:rPr lang="en-US" dirty="0" smtClean="0"/>
              <a:t>rocess</a:t>
            </a:r>
            <a:endParaRPr lang="en-US" dirty="0" smtClean="0"/>
          </a:p>
          <a:p>
            <a:pPr eaLnBrk="1" hangingPunct="1"/>
            <a:r>
              <a:rPr lang="en-US" dirty="0" smtClean="0"/>
              <a:t>How to show you have obtained such skills</a:t>
            </a:r>
            <a:endParaRPr lang="en-US" dirty="0" smtClean="0"/>
          </a:p>
          <a:p>
            <a:pPr eaLnBrk="1" hangingPunct="1"/>
            <a:r>
              <a:rPr lang="en-US" altLang="zh-CN" dirty="0" smtClean="0"/>
              <a:t>How to evaluate performance? </a:t>
            </a:r>
            <a:endParaRPr lang="en-US" dirty="0" smtClean="0"/>
          </a:p>
          <a:p>
            <a:pPr lvl="1"/>
            <a:endParaRPr lang="en-US" dirty="0" smtClean="0"/>
          </a:p>
          <a:p>
            <a:pPr eaLnBrk="1" hangingPunct="1"/>
            <a:endParaRPr lang="en-US" dirty="0" smtClean="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242">
                                            <p:txEl>
                                              <p:pRg st="0" end="0"/>
                                            </p:txEl>
                                          </p:spTgt>
                                        </p:tgtEl>
                                        <p:attrNameLst>
                                          <p:attrName>style.visibility</p:attrName>
                                        </p:attrNameLst>
                                      </p:cBhvr>
                                      <p:to>
                                        <p:strVal val="visible"/>
                                      </p:to>
                                    </p:set>
                                    <p:animEffect transition="in" filter="fade">
                                      <p:cBhvr>
                                        <p:cTn id="7" dur="2000"/>
                                        <p:tgtEl>
                                          <p:spTgt spid="1024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242">
                                            <p:txEl>
                                              <p:pRg st="1" end="1"/>
                                            </p:txEl>
                                          </p:spTgt>
                                        </p:tgtEl>
                                        <p:attrNameLst>
                                          <p:attrName>style.visibility</p:attrName>
                                        </p:attrNameLst>
                                      </p:cBhvr>
                                      <p:to>
                                        <p:strVal val="visible"/>
                                      </p:to>
                                    </p:set>
                                    <p:animEffect transition="in" filter="fade">
                                      <p:cBhvr>
                                        <p:cTn id="10" dur="2000"/>
                                        <p:tgtEl>
                                          <p:spTgt spid="1024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242">
                                            <p:txEl>
                                              <p:pRg st="2" end="2"/>
                                            </p:txEl>
                                          </p:spTgt>
                                        </p:tgtEl>
                                        <p:attrNameLst>
                                          <p:attrName>style.visibility</p:attrName>
                                        </p:attrNameLst>
                                      </p:cBhvr>
                                      <p:to>
                                        <p:strVal val="visible"/>
                                      </p:to>
                                    </p:set>
                                    <p:animEffect transition="in" filter="fade">
                                      <p:cBhvr>
                                        <p:cTn id="13" dur="2000"/>
                                        <p:tgtEl>
                                          <p:spTgt spid="1024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242">
                                            <p:txEl>
                                              <p:pRg st="3" end="3"/>
                                            </p:txEl>
                                          </p:spTgt>
                                        </p:tgtEl>
                                        <p:attrNameLst>
                                          <p:attrName>style.visibility</p:attrName>
                                        </p:attrNameLst>
                                      </p:cBhvr>
                                      <p:to>
                                        <p:strVal val="visible"/>
                                      </p:to>
                                    </p:set>
                                    <p:animEffect transition="in" filter="fade">
                                      <p:cBhvr>
                                        <p:cTn id="18" dur="2000"/>
                                        <p:tgtEl>
                                          <p:spTgt spid="10242">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242">
                                            <p:txEl>
                                              <p:pRg st="4" end="4"/>
                                            </p:txEl>
                                          </p:spTgt>
                                        </p:tgtEl>
                                        <p:attrNameLst>
                                          <p:attrName>style.visibility</p:attrName>
                                        </p:attrNameLst>
                                      </p:cBhvr>
                                      <p:to>
                                        <p:strVal val="visible"/>
                                      </p:to>
                                    </p:set>
                                    <p:animEffect transition="in" filter="fade">
                                      <p:cBhvr>
                                        <p:cTn id="23" dur="2000"/>
                                        <p:tgtEl>
                                          <p:spTgt spid="10242">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242">
                                            <p:txEl>
                                              <p:pRg st="5" end="5"/>
                                            </p:txEl>
                                          </p:spTgt>
                                        </p:tgtEl>
                                        <p:attrNameLst>
                                          <p:attrName>style.visibility</p:attrName>
                                        </p:attrNameLst>
                                      </p:cBhvr>
                                      <p:to>
                                        <p:strVal val="visible"/>
                                      </p:to>
                                    </p:set>
                                    <p:animEffect transition="in" filter="fade">
                                      <p:cBhvr>
                                        <p:cTn id="26" dur="2000"/>
                                        <p:tgtEl>
                                          <p:spTgt spid="10242">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242">
                                            <p:txEl>
                                              <p:pRg st="6" end="6"/>
                                            </p:txEl>
                                          </p:spTgt>
                                        </p:tgtEl>
                                        <p:attrNameLst>
                                          <p:attrName>style.visibility</p:attrName>
                                        </p:attrNameLst>
                                      </p:cBhvr>
                                      <p:to>
                                        <p:strVal val="visible"/>
                                      </p:to>
                                    </p:set>
                                    <p:animEffect transition="in" filter="fade">
                                      <p:cBhvr>
                                        <p:cTn id="31" dur="2000"/>
                                        <p:tgtEl>
                                          <p:spTgt spid="1024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242">
                                            <p:txEl>
                                              <p:pRg st="7" end="7"/>
                                            </p:txEl>
                                          </p:spTgt>
                                        </p:tgtEl>
                                        <p:attrNameLst>
                                          <p:attrName>style.visibility</p:attrName>
                                        </p:attrNameLst>
                                      </p:cBhvr>
                                      <p:to>
                                        <p:strVal val="visible"/>
                                      </p:to>
                                    </p:set>
                                    <p:animEffect transition="in" filter="fade">
                                      <p:cBhvr>
                                        <p:cTn id="36" dur="2000"/>
                                        <p:tgtEl>
                                          <p:spTgt spid="1024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pPr eaLnBrk="1" hangingPunct="1"/>
            <a:r>
              <a:rPr lang="en-US" sz="4000" dirty="0" smtClean="0"/>
              <a:t>What Consists of SE?</a:t>
            </a:r>
            <a:endParaRPr lang="en-US" dirty="0" smtClean="0"/>
          </a:p>
        </p:txBody>
      </p:sp>
      <p:sp>
        <p:nvSpPr>
          <p:cNvPr id="3" name="Content Placeholder 2"/>
          <p:cNvSpPr>
            <a:spLocks noGrp="1"/>
          </p:cNvSpPr>
          <p:nvPr>
            <p:ph idx="1"/>
          </p:nvPr>
        </p:nvSpPr>
        <p:spPr/>
        <p:txBody>
          <a:bodyPr>
            <a:normAutofit/>
          </a:bodyPr>
          <a:lstStyle/>
          <a:p>
            <a:pPr marL="5080" indent="-5080" eaLnBrk="1" fontAlgn="auto" hangingPunct="1">
              <a:spcAft>
                <a:spcPts val="0"/>
              </a:spcAft>
              <a:buClr>
                <a:schemeClr val="accent3"/>
              </a:buClr>
              <a:buFont typeface="Wingdings 2" panose="05020102010507070707"/>
              <a:buNone/>
              <a:defRPr/>
            </a:pPr>
            <a:r>
              <a:rPr lang="en-US" sz="2400" dirty="0" smtClean="0"/>
              <a:t>It encompasses techniques and procedures, often regulated by a </a:t>
            </a:r>
            <a:r>
              <a:rPr lang="en-US" sz="2400" b="1" dirty="0" smtClean="0"/>
              <a:t>software development process</a:t>
            </a:r>
            <a:r>
              <a:rPr lang="en-US" sz="2400" dirty="0" smtClean="0"/>
              <a:t>, with the purpose of improving the effectiveness, reliability, and maintainability of software systems.</a:t>
            </a:r>
            <a:endParaRPr lang="en-US" sz="2400" baseline="30000" dirty="0" smtClean="0"/>
          </a:p>
          <a:p>
            <a:pPr marL="274320" indent="-274320" eaLnBrk="1" fontAlgn="auto" hangingPunct="1">
              <a:spcAft>
                <a:spcPts val="0"/>
              </a:spcAft>
              <a:buClr>
                <a:schemeClr val="accent3"/>
              </a:buClr>
              <a:buFont typeface="Wingdings 2" panose="05020102010507070707"/>
              <a:buNone/>
              <a:defRPr/>
            </a:pPr>
            <a:r>
              <a:rPr lang="en-US" dirty="0" smtClean="0"/>
              <a:t>We have:</a:t>
            </a:r>
            <a:endParaRPr lang="en-US" dirty="0" smtClean="0"/>
          </a:p>
          <a:p>
            <a:pPr>
              <a:buClr>
                <a:schemeClr val="accent3"/>
              </a:buClr>
              <a:defRPr/>
            </a:pPr>
            <a:r>
              <a:rPr lang="en-US" dirty="0" smtClean="0"/>
              <a:t>Personal Software Process</a:t>
            </a:r>
            <a:endParaRPr lang="en-US" dirty="0" smtClean="0"/>
          </a:p>
          <a:p>
            <a:pPr>
              <a:buClr>
                <a:schemeClr val="accent3"/>
              </a:buClr>
              <a:defRPr/>
            </a:pPr>
            <a:endParaRPr lang="en-US" dirty="0" smtClean="0"/>
          </a:p>
          <a:p>
            <a:pPr>
              <a:buClr>
                <a:schemeClr val="accent3"/>
              </a:buClr>
              <a:defRPr/>
            </a:pPr>
            <a:endParaRPr lang="en-US" dirty="0" smtClean="0"/>
          </a:p>
          <a:p>
            <a:pPr>
              <a:buClr>
                <a:schemeClr val="accent3"/>
              </a:buClr>
              <a:defRPr/>
            </a:pPr>
            <a:r>
              <a:rPr lang="en-US" dirty="0" smtClean="0"/>
              <a:t>Team Software Process</a:t>
            </a:r>
            <a:endParaRPr lang="en-US" dirty="0"/>
          </a:p>
        </p:txBody>
      </p:sp>
      <p:pic>
        <p:nvPicPr>
          <p:cNvPr id="1026" name="Picture 2" descr="C:\Program Files\Microsoft Office\MEDIA\CAGCAT10\j0195384.wmf"/>
          <p:cNvPicPr>
            <a:picLocks noChangeAspect="1" noChangeArrowheads="1"/>
          </p:cNvPicPr>
          <p:nvPr/>
        </p:nvPicPr>
        <p:blipFill>
          <a:blip r:embed="rId1" cstate="print"/>
          <a:srcRect/>
          <a:stretch>
            <a:fillRect/>
          </a:stretch>
        </p:blipFill>
        <p:spPr bwMode="auto">
          <a:xfrm>
            <a:off x="5410200" y="2819400"/>
            <a:ext cx="1795882" cy="1833372"/>
          </a:xfrm>
          <a:prstGeom prst="rect">
            <a:avLst/>
          </a:prstGeom>
          <a:noFill/>
        </p:spPr>
      </p:pic>
      <p:pic>
        <p:nvPicPr>
          <p:cNvPr id="1027" name="Picture 3" descr="C:\Users\xinz.000\AppData\Local\Microsoft\Windows\Temporary Internet Files\Content.IE5\7YP7J5AX\MCj04369980000[1].wmf"/>
          <p:cNvPicPr>
            <a:picLocks noChangeAspect="1" noChangeArrowheads="1"/>
          </p:cNvPicPr>
          <p:nvPr/>
        </p:nvPicPr>
        <p:blipFill>
          <a:blip r:embed="rId2" cstate="print"/>
          <a:srcRect/>
          <a:stretch>
            <a:fillRect/>
          </a:stretch>
        </p:blipFill>
        <p:spPr bwMode="auto">
          <a:xfrm>
            <a:off x="5257800" y="4800600"/>
            <a:ext cx="2246046" cy="1447800"/>
          </a:xfrm>
          <a:prstGeom prst="rect">
            <a:avLst/>
          </a:prstGeom>
          <a:noFill/>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wd">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iterate type="lt">
                                    <p:tmPct val="0"/>
                                  </p:iterate>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0"/>
                                  </p:iterate>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iterate type="lt">
                                    <p:tmPct val="0"/>
                                  </p:iterate>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27"/>
                                        </p:tgtEl>
                                        <p:attrNameLst>
                                          <p:attrName>style.visibility</p:attrName>
                                        </p:attrNameLst>
                                      </p:cBhvr>
                                      <p:to>
                                        <p:strVal val="visible"/>
                                      </p:to>
                                    </p:set>
                                    <p:animEffect transition="in" filter="fade">
                                      <p:cBhvr>
                                        <p:cTn id="32" dur="20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Soccer as Example </a:t>
            </a:r>
            <a:endParaRPr lang="en-US" dirty="0"/>
          </a:p>
        </p:txBody>
      </p:sp>
      <p:sp>
        <p:nvSpPr>
          <p:cNvPr id="3" name="Content Placeholder 2"/>
          <p:cNvSpPr>
            <a:spLocks noGrp="1"/>
          </p:cNvSpPr>
          <p:nvPr>
            <p:ph idx="1"/>
          </p:nvPr>
        </p:nvSpPr>
        <p:spPr>
          <a:xfrm>
            <a:off x="457200" y="1600200"/>
            <a:ext cx="4114800" cy="4876800"/>
          </a:xfrm>
        </p:spPr>
        <p:txBody>
          <a:bodyPr>
            <a:normAutofit fontScale="85000" lnSpcReduction="20000"/>
          </a:bodyPr>
          <a:lstStyle/>
          <a:p>
            <a:r>
              <a:rPr lang="en-US" dirty="0" smtClean="0"/>
              <a:t>Personal Soccer Process</a:t>
            </a:r>
            <a:endParaRPr lang="en-US" dirty="0" smtClean="0"/>
          </a:p>
          <a:p>
            <a:pPr lvl="1"/>
            <a:r>
              <a:rPr lang="zh-CN" altLang="en-US" dirty="0" smtClean="0"/>
              <a:t>体能</a:t>
            </a:r>
            <a:endParaRPr lang="en-US" altLang="zh-CN" dirty="0" smtClean="0"/>
          </a:p>
          <a:p>
            <a:pPr lvl="1"/>
            <a:r>
              <a:rPr lang="zh-CN" altLang="en-US" dirty="0" smtClean="0"/>
              <a:t>技术</a:t>
            </a:r>
            <a:endParaRPr lang="en-US" altLang="zh-CN" dirty="0" smtClean="0"/>
          </a:p>
          <a:p>
            <a:pPr lvl="1"/>
            <a:r>
              <a:rPr lang="zh-CN" altLang="en-US" dirty="0" smtClean="0"/>
              <a:t>意识</a:t>
            </a:r>
            <a:endParaRPr lang="en-US" altLang="zh-CN" dirty="0" smtClean="0"/>
          </a:p>
          <a:p>
            <a:pPr lvl="1"/>
            <a:r>
              <a:rPr lang="en-US" altLang="zh-CN" dirty="0" smtClean="0"/>
              <a:t>Ph.D. degree? </a:t>
            </a:r>
            <a:endParaRPr lang="en-US" altLang="zh-CN" dirty="0" smtClean="0"/>
          </a:p>
          <a:p>
            <a:pPr lvl="1"/>
            <a:r>
              <a:rPr lang="en-US" altLang="zh-CN" dirty="0" smtClean="0"/>
              <a:t>C.S. student?</a:t>
            </a:r>
            <a:endParaRPr lang="en-US" dirty="0" smtClean="0"/>
          </a:p>
          <a:p>
            <a:endParaRPr lang="en-US" dirty="0" smtClean="0"/>
          </a:p>
          <a:p>
            <a:r>
              <a:rPr lang="en-US" dirty="0" smtClean="0"/>
              <a:t>Team Soccer Process</a:t>
            </a:r>
            <a:endParaRPr lang="en-US" dirty="0" smtClean="0"/>
          </a:p>
          <a:p>
            <a:pPr lvl="1"/>
            <a:r>
              <a:rPr lang="zh-CN" altLang="en-US" dirty="0" smtClean="0"/>
              <a:t>阵型</a:t>
            </a:r>
            <a:endParaRPr lang="en-US" altLang="zh-CN" dirty="0" smtClean="0"/>
          </a:p>
          <a:p>
            <a:pPr lvl="1"/>
            <a:r>
              <a:rPr lang="zh-CN" altLang="en-US" dirty="0" smtClean="0"/>
              <a:t>配合</a:t>
            </a:r>
            <a:endParaRPr lang="en-US" altLang="zh-CN" dirty="0" smtClean="0"/>
          </a:p>
          <a:p>
            <a:pPr lvl="1"/>
            <a:r>
              <a:rPr lang="zh-CN" altLang="en-US" dirty="0" smtClean="0"/>
              <a:t>临场</a:t>
            </a:r>
            <a:endParaRPr lang="en-US" altLang="zh-CN" dirty="0" smtClean="0"/>
          </a:p>
          <a:p>
            <a:r>
              <a:rPr lang="en-US" altLang="zh-CN" dirty="0" smtClean="0"/>
              <a:t>Process is not the goal. </a:t>
            </a:r>
            <a:endParaRPr lang="en-US" altLang="zh-CN" dirty="0" smtClean="0"/>
          </a:p>
          <a:p>
            <a:r>
              <a:rPr lang="en-US" altLang="zh-CN" dirty="0" smtClean="0"/>
              <a:t>Winning is the goal. </a:t>
            </a:r>
            <a:endParaRPr lang="en-US" dirty="0" smtClean="0"/>
          </a:p>
          <a:p>
            <a:pPr>
              <a:buNone/>
            </a:pPr>
            <a:endParaRPr lang="en-US" dirty="0" smtClean="0"/>
          </a:p>
        </p:txBody>
      </p:sp>
      <p:pic>
        <p:nvPicPr>
          <p:cNvPr id="1031" name="Picture 7" descr="http://t1.gstatic.com/images?q=tbn:Ervd0cBao52trM:http://s3.amazonaws.com/pixmac-preview/soccer-player-silhouettes-1.jpg">
            <a:hlinkClick r:id="rId1"/>
          </p:cNvPr>
          <p:cNvPicPr>
            <a:picLocks noChangeAspect="1" noChangeArrowheads="1"/>
          </p:cNvPicPr>
          <p:nvPr/>
        </p:nvPicPr>
        <p:blipFill>
          <a:blip r:embed="rId2" cstate="print"/>
          <a:srcRect/>
          <a:stretch>
            <a:fillRect/>
          </a:stretch>
        </p:blipFill>
        <p:spPr bwMode="auto">
          <a:xfrm>
            <a:off x="4953000" y="1524000"/>
            <a:ext cx="2971800" cy="2276785"/>
          </a:xfrm>
          <a:prstGeom prst="rect">
            <a:avLst/>
          </a:prstGeom>
          <a:noFill/>
        </p:spPr>
      </p:pic>
      <p:pic>
        <p:nvPicPr>
          <p:cNvPr id="1034" name="Picture 10"/>
          <p:cNvPicPr>
            <a:picLocks noChangeAspect="1" noChangeArrowheads="1"/>
          </p:cNvPicPr>
          <p:nvPr/>
        </p:nvPicPr>
        <p:blipFill>
          <a:blip r:embed="rId3" cstate="print"/>
          <a:srcRect/>
          <a:stretch>
            <a:fillRect/>
          </a:stretch>
        </p:blipFill>
        <p:spPr bwMode="auto">
          <a:xfrm>
            <a:off x="4724400" y="4114800"/>
            <a:ext cx="3692906" cy="2552700"/>
          </a:xfrm>
          <a:prstGeom prst="rect">
            <a:avLst/>
          </a:prstGeom>
          <a:noFill/>
          <a:ln w="9525">
            <a:noFill/>
            <a:miter lim="800000"/>
            <a:headEnd/>
            <a:tailEnd/>
          </a:ln>
        </p:spPr>
      </p:pic>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31"/>
                                        </p:tgtEl>
                                        <p:attrNameLst>
                                          <p:attrName>style.visibility</p:attrName>
                                        </p:attrNameLst>
                                      </p:cBhvr>
                                      <p:to>
                                        <p:strVal val="visible"/>
                                      </p:to>
                                    </p:set>
                                    <p:animEffect transition="in" filter="fade">
                                      <p:cBhvr>
                                        <p:cTn id="12" dur="2000"/>
                                        <p:tgtEl>
                                          <p:spTgt spid="103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34"/>
                                        </p:tgtEl>
                                        <p:attrNameLst>
                                          <p:attrName>style.visibility</p:attrName>
                                        </p:attrNameLst>
                                      </p:cBhvr>
                                      <p:to>
                                        <p:strVal val="visible"/>
                                      </p:to>
                                    </p:set>
                                    <p:animEffect transition="in" filter="fade">
                                      <p:cBhvr>
                                        <p:cTn id="37" dur="2000"/>
                                        <p:tgtEl>
                                          <p:spTgt spid="10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fade">
                                      <p:cBhvr>
                                        <p:cTn id="40" dur="2000"/>
                                        <p:tgtEl>
                                          <p:spTgt spid="3">
                                            <p:txEl>
                                              <p:pRg st="8" end="8"/>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2000"/>
                                        <p:tgtEl>
                                          <p:spTgt spid="3">
                                            <p:txEl>
                                              <p:pRg st="9" end="9"/>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10" end="10"/>
                                            </p:txEl>
                                          </p:spTgt>
                                        </p:tgtEl>
                                        <p:attrNameLst>
                                          <p:attrName>style.visibility</p:attrName>
                                        </p:attrNameLst>
                                      </p:cBhvr>
                                      <p:to>
                                        <p:strVal val="visible"/>
                                      </p:to>
                                    </p:set>
                                    <p:animEffect transition="in" filter="fade">
                                      <p:cBhvr>
                                        <p:cTn id="46" dur="2000"/>
                                        <p:tgtEl>
                                          <p:spTgt spid="3">
                                            <p:txEl>
                                              <p:pRg st="10" end="10"/>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animEffect transition="in" filter="fade">
                                      <p:cBhvr>
                                        <p:cTn id="51" dur="2000"/>
                                        <p:tgtEl>
                                          <p:spTgt spid="3">
                                            <p:txEl>
                                              <p:pRg st="11" end="11"/>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
                                            <p:txEl>
                                              <p:pRg st="12" end="12"/>
                                            </p:txEl>
                                          </p:spTgt>
                                        </p:tgtEl>
                                        <p:attrNameLst>
                                          <p:attrName>style.visibility</p:attrName>
                                        </p:attrNameLst>
                                      </p:cBhvr>
                                      <p:to>
                                        <p:strVal val="visible"/>
                                      </p:to>
                                    </p:set>
                                    <p:animEffect transition="in" filter="fade">
                                      <p:cBhvr>
                                        <p:cTn id="56"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defRPr/>
            </a:pPr>
            <a:r>
              <a:rPr lang="en-US" dirty="0" smtClean="0"/>
              <a:t>Role of “individual”</a:t>
            </a:r>
            <a:endParaRPr lang="en-US" dirty="0"/>
          </a:p>
        </p:txBody>
      </p:sp>
      <p:sp>
        <p:nvSpPr>
          <p:cNvPr id="11266" name="Content Placeholder 1"/>
          <p:cNvSpPr>
            <a:spLocks noGrp="1"/>
          </p:cNvSpPr>
          <p:nvPr>
            <p:ph idx="1"/>
          </p:nvPr>
        </p:nvSpPr>
        <p:spPr/>
        <p:txBody>
          <a:bodyPr>
            <a:normAutofit/>
          </a:bodyPr>
          <a:lstStyle/>
          <a:p>
            <a:r>
              <a:rPr lang="en-US" sz="2800" dirty="0" smtClean="0"/>
              <a:t>Most components in a software system is developed and maintained by Individual Contributor (IC)</a:t>
            </a:r>
            <a:endParaRPr lang="en-US" sz="2800" dirty="0" smtClean="0"/>
          </a:p>
          <a:p>
            <a:r>
              <a:rPr lang="en-US" sz="2800" dirty="0" smtClean="0"/>
              <a:t>IC needs to – </a:t>
            </a:r>
            <a:endParaRPr lang="en-US" sz="2800" dirty="0" smtClean="0"/>
          </a:p>
          <a:p>
            <a:pPr lvl="1"/>
            <a:r>
              <a:rPr lang="en-US" sz="2000" dirty="0" smtClean="0"/>
              <a:t>Understand the current situation</a:t>
            </a:r>
            <a:endParaRPr lang="en-US" sz="2000" dirty="0" smtClean="0"/>
          </a:p>
          <a:p>
            <a:pPr lvl="1"/>
            <a:r>
              <a:rPr lang="en-US" sz="2000" dirty="0" smtClean="0"/>
              <a:t>Find the solution</a:t>
            </a:r>
            <a:endParaRPr lang="en-US" sz="2000" dirty="0" smtClean="0"/>
          </a:p>
          <a:p>
            <a:pPr lvl="1"/>
            <a:r>
              <a:rPr lang="en-US" sz="2000" dirty="0" smtClean="0"/>
              <a:t>Estimate the work</a:t>
            </a:r>
            <a:endParaRPr lang="en-US" sz="2000" dirty="0" smtClean="0"/>
          </a:p>
          <a:p>
            <a:pPr lvl="1"/>
            <a:r>
              <a:rPr lang="en-US" sz="2000" dirty="0" smtClean="0"/>
              <a:t>Communicate the proposal to stake holders and customers</a:t>
            </a:r>
            <a:endParaRPr lang="en-US" sz="2000" dirty="0" smtClean="0"/>
          </a:p>
          <a:p>
            <a:pPr lvl="1"/>
            <a:r>
              <a:rPr lang="en-US" sz="2000" dirty="0" smtClean="0"/>
              <a:t>Carry out the work</a:t>
            </a:r>
            <a:endParaRPr lang="en-US" sz="2000" dirty="0" smtClean="0"/>
          </a:p>
          <a:p>
            <a:pPr lvl="1"/>
            <a:r>
              <a:rPr lang="en-US" sz="2000" dirty="0" smtClean="0"/>
              <a:t>Be accountable for the outcome</a:t>
            </a:r>
            <a:endParaRPr lang="en-US" sz="2000" dirty="0" smtClean="0"/>
          </a:p>
          <a:p>
            <a:r>
              <a:rPr lang="en-US" sz="2800" dirty="0" smtClean="0"/>
              <a:t>The quality of each individual can directly affect the quality of shipped product. </a:t>
            </a:r>
            <a:endParaRPr lang="en-US" sz="2800" dirty="0" smtClean="0"/>
          </a:p>
        </p:txBody>
      </p:sp>
    </p:spTree>
  </p:cSld>
  <p:clrMapOvr>
    <a:masterClrMapping/>
  </p:clrMapOvr>
  <p:transition>
    <p:wipe di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Are You Doing?</a:t>
            </a:r>
            <a:endParaRPr lang="en-US" dirty="0"/>
          </a:p>
        </p:txBody>
      </p:sp>
      <p:sp>
        <p:nvSpPr>
          <p:cNvPr id="3" name="Content Placeholder 2"/>
          <p:cNvSpPr>
            <a:spLocks noGrp="1"/>
          </p:cNvSpPr>
          <p:nvPr>
            <p:ph idx="1"/>
          </p:nvPr>
        </p:nvSpPr>
        <p:spPr/>
        <p:txBody>
          <a:bodyPr>
            <a:normAutofit fontScale="62500" lnSpcReduction="20000"/>
          </a:bodyPr>
          <a:lstStyle/>
          <a:p>
            <a:pPr>
              <a:lnSpc>
                <a:spcPct val="120000"/>
              </a:lnSpc>
            </a:pPr>
            <a:r>
              <a:rPr lang="zh-CN" altLang="en-US" dirty="0"/>
              <a:t>作</a:t>
            </a:r>
            <a:r>
              <a:rPr lang="zh-CN" altLang="en-US" dirty="0" smtClean="0"/>
              <a:t>为一个软件工程师</a:t>
            </a:r>
            <a:r>
              <a:rPr lang="en-US" altLang="zh-CN" dirty="0" smtClean="0"/>
              <a:t>, </a:t>
            </a:r>
            <a:r>
              <a:rPr lang="zh-CN" altLang="en-US" dirty="0" smtClean="0"/>
              <a:t>你觉得自己表现如何</a:t>
            </a:r>
            <a:r>
              <a:rPr lang="en-US" altLang="zh-CN" dirty="0" smtClean="0"/>
              <a:t>?</a:t>
            </a:r>
            <a:endParaRPr lang="en-US" altLang="zh-CN" dirty="0" smtClean="0"/>
          </a:p>
          <a:p>
            <a:pPr>
              <a:lnSpc>
                <a:spcPct val="120000"/>
              </a:lnSpc>
            </a:pPr>
            <a:r>
              <a:rPr lang="zh-CN" altLang="en-US" dirty="0"/>
              <a:t>有没有这样的体</a:t>
            </a:r>
            <a:r>
              <a:rPr lang="zh-CN" altLang="en-US" dirty="0" smtClean="0"/>
              <a:t>会</a:t>
            </a:r>
            <a:r>
              <a:rPr lang="en-US" altLang="zh-CN" dirty="0" smtClean="0"/>
              <a:t>:</a:t>
            </a:r>
            <a:endParaRPr lang="en-US" altLang="zh-CN" dirty="0" smtClean="0"/>
          </a:p>
          <a:p>
            <a:pPr lvl="1">
              <a:lnSpc>
                <a:spcPct val="120000"/>
              </a:lnSpc>
            </a:pPr>
            <a:r>
              <a:rPr lang="zh-CN" altLang="en-US" dirty="0" smtClean="0"/>
              <a:t>看</a:t>
            </a:r>
            <a:r>
              <a:rPr lang="zh-CN" altLang="en-US" dirty="0"/>
              <a:t>书的时候觉得“技止此耳”，开发项目的时候才觉得实际情况和书上讲的都有一些出入</a:t>
            </a:r>
            <a:r>
              <a:rPr lang="zh-CN" altLang="en-US" dirty="0" smtClean="0"/>
              <a:t>，一</a:t>
            </a:r>
            <a:r>
              <a:rPr lang="zh-CN" altLang="en-US" dirty="0"/>
              <a:t>些重要</a:t>
            </a:r>
            <a:r>
              <a:rPr lang="zh-CN" altLang="en-US" dirty="0" smtClean="0"/>
              <a:t>的</a:t>
            </a:r>
            <a:r>
              <a:rPr lang="zh-CN" altLang="en-US" dirty="0"/>
              <a:t>细节</a:t>
            </a:r>
            <a:r>
              <a:rPr lang="zh-CN" altLang="en-US" dirty="0" smtClean="0"/>
              <a:t>书</a:t>
            </a:r>
            <a:r>
              <a:rPr lang="zh-CN" altLang="en-US" dirty="0"/>
              <a:t>上没有提</a:t>
            </a:r>
            <a:r>
              <a:rPr lang="zh-CN" altLang="en-US" dirty="0" smtClean="0"/>
              <a:t>。很</a:t>
            </a:r>
            <a:r>
              <a:rPr lang="zh-CN" altLang="en-US" dirty="0"/>
              <a:t>多人是边看</a:t>
            </a:r>
            <a:r>
              <a:rPr lang="en-US" altLang="zh-CN" dirty="0"/>
              <a:t>asp.net</a:t>
            </a:r>
            <a:r>
              <a:rPr lang="zh-CN" altLang="en-US" dirty="0"/>
              <a:t>的书</a:t>
            </a:r>
            <a:r>
              <a:rPr lang="en-US" altLang="zh-CN" dirty="0"/>
              <a:t>, </a:t>
            </a:r>
            <a:r>
              <a:rPr lang="zh-CN" altLang="en-US" dirty="0"/>
              <a:t>边开发</a:t>
            </a:r>
            <a:r>
              <a:rPr lang="en-US" altLang="zh-CN" dirty="0"/>
              <a:t>asp.net </a:t>
            </a:r>
            <a:r>
              <a:rPr lang="zh-CN" altLang="en-US" dirty="0"/>
              <a:t>的项目，这相当于一边看医学书一边动手术</a:t>
            </a:r>
            <a:r>
              <a:rPr lang="zh-CN" altLang="en-US" dirty="0" smtClean="0"/>
              <a:t>。。。</a:t>
            </a:r>
            <a:endParaRPr lang="en-US" altLang="zh-CN" dirty="0" smtClean="0"/>
          </a:p>
          <a:p>
            <a:pPr lvl="1">
              <a:lnSpc>
                <a:spcPct val="120000"/>
              </a:lnSpc>
            </a:pPr>
            <a:endParaRPr lang="en-US" altLang="zh-CN" dirty="0" smtClean="0"/>
          </a:p>
          <a:p>
            <a:pPr>
              <a:lnSpc>
                <a:spcPct val="120000"/>
              </a:lnSpc>
            </a:pPr>
            <a:r>
              <a:rPr lang="zh-CN" altLang="en-US" dirty="0"/>
              <a:t>如</a:t>
            </a:r>
            <a:r>
              <a:rPr lang="zh-CN" altLang="en-US" dirty="0" smtClean="0"/>
              <a:t>果你是病人</a:t>
            </a:r>
            <a:r>
              <a:rPr lang="en-US" altLang="zh-CN" dirty="0" smtClean="0"/>
              <a:t>, </a:t>
            </a:r>
            <a:r>
              <a:rPr lang="zh-CN" altLang="en-US" dirty="0" smtClean="0"/>
              <a:t>你希望你的医生</a:t>
            </a:r>
            <a:r>
              <a:rPr lang="en-US" altLang="zh-CN" dirty="0" smtClean="0"/>
              <a:t>:</a:t>
            </a:r>
            <a:endParaRPr lang="en-US" altLang="zh-CN" dirty="0" smtClean="0"/>
          </a:p>
          <a:p>
            <a:pPr lvl="1">
              <a:lnSpc>
                <a:spcPct val="120000"/>
              </a:lnSpc>
            </a:pPr>
            <a:r>
              <a:rPr lang="zh-CN" altLang="en-US" dirty="0" smtClean="0"/>
              <a:t>刚刚在书上看到你的病例</a:t>
            </a:r>
            <a:r>
              <a:rPr lang="en-US" altLang="zh-CN" dirty="0" smtClean="0"/>
              <a:t>,  </a:t>
            </a:r>
            <a:r>
              <a:rPr lang="zh-CN" altLang="en-US" dirty="0" smtClean="0"/>
              <a:t>一边看书一边开刀</a:t>
            </a:r>
            <a:r>
              <a:rPr lang="en-US" altLang="zh-CN" dirty="0" smtClean="0"/>
              <a:t>…</a:t>
            </a:r>
            <a:endParaRPr lang="en-US" altLang="zh-CN" dirty="0" smtClean="0"/>
          </a:p>
          <a:p>
            <a:pPr lvl="1">
              <a:lnSpc>
                <a:spcPct val="120000"/>
              </a:lnSpc>
            </a:pPr>
            <a:r>
              <a:rPr lang="zh-CN" altLang="en-US" dirty="0"/>
              <a:t>开刀的过程</a:t>
            </a:r>
            <a:r>
              <a:rPr lang="zh-CN" altLang="en-US" dirty="0" smtClean="0"/>
              <a:t>中突发奇想</a:t>
            </a:r>
            <a:r>
              <a:rPr lang="en-US" altLang="zh-CN" dirty="0" smtClean="0"/>
              <a:t>,  </a:t>
            </a:r>
            <a:r>
              <a:rPr lang="zh-CN" altLang="en-US" dirty="0" smtClean="0"/>
              <a:t>然后在你身上试验</a:t>
            </a:r>
            <a:r>
              <a:rPr lang="en-US" altLang="zh-CN" dirty="0" smtClean="0"/>
              <a:t>…</a:t>
            </a:r>
            <a:endParaRPr lang="en-US" altLang="zh-CN" dirty="0" smtClean="0"/>
          </a:p>
          <a:p>
            <a:pPr lvl="1">
              <a:lnSpc>
                <a:spcPct val="120000"/>
              </a:lnSpc>
            </a:pPr>
            <a:r>
              <a:rPr lang="zh-CN" altLang="en-US" dirty="0" smtClean="0"/>
              <a:t>已经做了多年此类手术</a:t>
            </a:r>
            <a:r>
              <a:rPr lang="en-US" altLang="zh-CN" dirty="0" smtClean="0"/>
              <a:t>, </a:t>
            </a:r>
            <a:r>
              <a:rPr lang="zh-CN" altLang="en-US" dirty="0" smtClean="0"/>
              <a:t>可以一边做手术</a:t>
            </a:r>
            <a:r>
              <a:rPr lang="en-US" altLang="zh-CN" dirty="0" smtClean="0"/>
              <a:t>, </a:t>
            </a:r>
            <a:r>
              <a:rPr lang="zh-CN" altLang="en-US" dirty="0" smtClean="0"/>
              <a:t>一边和别人聊天</a:t>
            </a:r>
            <a:endParaRPr lang="en-US" altLang="zh-CN" dirty="0" smtClean="0"/>
          </a:p>
          <a:p>
            <a:pPr lvl="1">
              <a:lnSpc>
                <a:spcPct val="120000"/>
              </a:lnSpc>
            </a:pPr>
            <a:endParaRPr lang="en-US" altLang="zh-CN" dirty="0" smtClean="0"/>
          </a:p>
          <a:p>
            <a:pPr>
              <a:lnSpc>
                <a:spcPct val="120000"/>
              </a:lnSpc>
            </a:pPr>
            <a:r>
              <a:rPr lang="zh-CN" altLang="en-US" dirty="0" smtClean="0"/>
              <a:t>你在写软件的时候</a:t>
            </a:r>
            <a:r>
              <a:rPr lang="en-US" altLang="zh-CN" dirty="0" smtClean="0"/>
              <a:t>, </a:t>
            </a:r>
            <a:r>
              <a:rPr lang="zh-CN" altLang="en-US" dirty="0" smtClean="0"/>
              <a:t>是哪种情况</a:t>
            </a:r>
            <a:r>
              <a:rPr lang="en-US" altLang="zh-CN" dirty="0" smtClean="0"/>
              <a:t>? </a:t>
            </a:r>
            <a:endParaRPr lang="en-US" altLang="zh-CN" dirty="0" smtClean="0"/>
          </a:p>
          <a:p>
            <a:pPr>
              <a:lnSpc>
                <a:spcPct val="120000"/>
              </a:lnSpc>
            </a:pPr>
            <a:r>
              <a:rPr lang="zh-CN" altLang="en-US" dirty="0" smtClean="0"/>
              <a:t>那一个软件工程师如何成长，如何证明自己的成长</a:t>
            </a:r>
            <a:r>
              <a:rPr lang="en-US" altLang="zh-CN" dirty="0" smtClean="0"/>
              <a:t>?</a:t>
            </a:r>
            <a:endParaRPr lang="en-US" altLang="zh-CN" dirty="0" smtClean="0"/>
          </a:p>
          <a:p>
            <a:pPr lvl="1">
              <a:lnSpc>
                <a:spcPct val="120000"/>
              </a:lnSpc>
            </a:pPr>
            <a:r>
              <a:rPr lang="en-US" dirty="0" smtClean="0"/>
              <a:t>Personal Software </a:t>
            </a:r>
            <a:r>
              <a:rPr lang="en-US" altLang="zh-CN" dirty="0" smtClean="0"/>
              <a:t>Process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“learn” knowledge</a:t>
            </a:r>
            <a:endParaRPr lang="en-US" dirty="0"/>
          </a:p>
        </p:txBody>
      </p:sp>
      <p:sp>
        <p:nvSpPr>
          <p:cNvPr id="3" name="Content Placeholder 2"/>
          <p:cNvSpPr>
            <a:spLocks noGrp="1"/>
          </p:cNvSpPr>
          <p:nvPr>
            <p:ph idx="1"/>
          </p:nvPr>
        </p:nvSpPr>
        <p:spPr/>
        <p:txBody>
          <a:bodyPr/>
          <a:lstStyle/>
          <a:p>
            <a:r>
              <a:rPr lang="zh-CN" altLang="en-US" dirty="0" smtClean="0"/>
              <a:t>知识</a:t>
            </a:r>
            <a:r>
              <a:rPr lang="zh-CN" altLang="en-US" dirty="0"/>
              <a:t>体系是构建出来的</a:t>
            </a:r>
            <a:r>
              <a:rPr lang="en-US" altLang="zh-CN" dirty="0"/>
              <a:t>, </a:t>
            </a:r>
            <a:r>
              <a:rPr lang="zh-CN" altLang="en-US" dirty="0"/>
              <a:t>而不是接收到的    </a:t>
            </a:r>
            <a:endParaRPr lang="en-US" altLang="zh-CN" dirty="0" smtClean="0"/>
          </a:p>
          <a:p>
            <a:pPr lvl="1"/>
            <a:r>
              <a:rPr lang="zh-CN" altLang="en-US" dirty="0" smtClean="0"/>
              <a:t>与其</a:t>
            </a:r>
            <a:r>
              <a:rPr lang="zh-CN" altLang="en-US" dirty="0"/>
              <a:t>灌输知识</a:t>
            </a:r>
            <a:r>
              <a:rPr lang="en-US" altLang="zh-CN" dirty="0"/>
              <a:t>, </a:t>
            </a:r>
            <a:r>
              <a:rPr lang="zh-CN" altLang="en-US" dirty="0" smtClean="0"/>
              <a:t>远不如</a:t>
            </a:r>
            <a:r>
              <a:rPr lang="zh-CN" altLang="en-US" dirty="0"/>
              <a:t>让学生自己构建</a:t>
            </a:r>
            <a:endParaRPr lang="zh-CN" altLang="en-US" dirty="0"/>
          </a:p>
          <a:p>
            <a:r>
              <a:rPr lang="zh-CN" altLang="en-US" dirty="0" smtClean="0"/>
              <a:t>人</a:t>
            </a:r>
            <a:r>
              <a:rPr lang="zh-CN" altLang="en-US" dirty="0"/>
              <a:t>的认知模型改变得非常缓慢       </a:t>
            </a:r>
            <a:endParaRPr lang="en-US" altLang="zh-CN" dirty="0" smtClean="0"/>
          </a:p>
          <a:p>
            <a:pPr lvl="1"/>
            <a:r>
              <a:rPr lang="en-US" altLang="zh-CN" dirty="0" smtClean="0"/>
              <a:t> </a:t>
            </a:r>
            <a:r>
              <a:rPr lang="zh-CN" altLang="en-US" dirty="0"/>
              <a:t>搞那些速成的</a:t>
            </a:r>
            <a:r>
              <a:rPr lang="en-US" altLang="zh-CN" dirty="0"/>
              <a:t>, </a:t>
            </a:r>
            <a:r>
              <a:rPr lang="zh-CN" altLang="en-US" dirty="0"/>
              <a:t>疯狂的</a:t>
            </a:r>
            <a:r>
              <a:rPr lang="en-US" altLang="zh-CN" dirty="0"/>
              <a:t>, </a:t>
            </a:r>
            <a:r>
              <a:rPr lang="zh-CN" altLang="en-US" dirty="0"/>
              <a:t>喊口号的培训未必改变了人的认知模型</a:t>
            </a:r>
            <a:endParaRPr lang="zh-CN" altLang="en-US" dirty="0"/>
          </a:p>
          <a:p>
            <a:r>
              <a:rPr lang="zh-CN" altLang="en-US" dirty="0" smtClean="0"/>
              <a:t>提问</a:t>
            </a:r>
            <a:r>
              <a:rPr lang="zh-CN" altLang="en-US" dirty="0"/>
              <a:t>能帮助构建知识体系            </a:t>
            </a:r>
            <a:endParaRPr lang="en-US" altLang="zh-CN" dirty="0" smtClean="0"/>
          </a:p>
          <a:p>
            <a:pPr lvl="1"/>
            <a:r>
              <a:rPr lang="zh-CN" altLang="en-US" dirty="0" smtClean="0"/>
              <a:t>鼓励</a:t>
            </a:r>
            <a:r>
              <a:rPr lang="zh-CN" altLang="en-US" dirty="0"/>
              <a:t>学生思考</a:t>
            </a:r>
            <a:r>
              <a:rPr lang="en-US" altLang="zh-CN" dirty="0"/>
              <a:t>, </a:t>
            </a:r>
            <a:r>
              <a:rPr lang="zh-CN" altLang="en-US" dirty="0"/>
              <a:t>辩论</a:t>
            </a:r>
            <a:r>
              <a:rPr lang="en-US" altLang="zh-CN" dirty="0"/>
              <a:t>,</a:t>
            </a:r>
            <a:endParaRPr lang="en-US" altLang="zh-CN" dirty="0"/>
          </a:p>
          <a:p>
            <a:r>
              <a:rPr lang="zh-CN" altLang="en-US" dirty="0" smtClean="0"/>
              <a:t>身心投入</a:t>
            </a:r>
            <a:r>
              <a:rPr lang="en-US" altLang="zh-CN" dirty="0" smtClean="0"/>
              <a:t>, </a:t>
            </a:r>
            <a:r>
              <a:rPr lang="zh-CN" altLang="en-US" dirty="0" smtClean="0"/>
              <a:t>回顾总结是成长的</a:t>
            </a:r>
            <a:r>
              <a:rPr lang="zh-CN" altLang="en-US" dirty="0"/>
              <a:t>关键   </a:t>
            </a: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How to Grow </a:t>
            </a:r>
            <a:r>
              <a:rPr lang="en-US" dirty="0"/>
              <a:t>S</a:t>
            </a:r>
            <a:r>
              <a:rPr lang="en-US" dirty="0" smtClean="0"/>
              <a:t>kills – PSP0</a:t>
            </a:r>
            <a:endParaRPr lang="en-US" dirty="0"/>
          </a:p>
        </p:txBody>
      </p:sp>
      <p:sp>
        <p:nvSpPr>
          <p:cNvPr id="2" name="Content Placeholder 1"/>
          <p:cNvSpPr>
            <a:spLocks noGrp="1"/>
          </p:cNvSpPr>
          <p:nvPr>
            <p:ph idx="1"/>
          </p:nvPr>
        </p:nvSpPr>
        <p:spPr/>
        <p:txBody>
          <a:bodyPr/>
          <a:lstStyle/>
          <a:p>
            <a:r>
              <a:rPr lang="en-US" sz="2400" dirty="0" smtClean="0"/>
              <a:t>P</a:t>
            </a:r>
            <a:r>
              <a:rPr lang="en-US" altLang="zh-CN" sz="2400" dirty="0" smtClean="0"/>
              <a:t>ersonal Software Process</a:t>
            </a:r>
            <a:endParaRPr lang="en-US" sz="2400" dirty="0" smtClean="0"/>
          </a:p>
          <a:p>
            <a:pPr lvl="1"/>
            <a:r>
              <a:rPr lang="en-US" sz="2000" dirty="0" smtClean="0"/>
              <a:t>Body of knowledge (PSP)</a:t>
            </a:r>
            <a:endParaRPr lang="en-US" sz="2000" dirty="0" smtClean="0"/>
          </a:p>
          <a:p>
            <a:r>
              <a:rPr lang="en-US" sz="2400" b="1" dirty="0" smtClean="0"/>
              <a:t>Process</a:t>
            </a:r>
            <a:br>
              <a:rPr lang="en-US" sz="2400" dirty="0" smtClean="0"/>
            </a:br>
            <a:r>
              <a:rPr lang="en-US" sz="2400" dirty="0" smtClean="0"/>
              <a:t>The </a:t>
            </a:r>
            <a:r>
              <a:rPr lang="en-US" sz="2400" b="1" dirty="0" smtClean="0"/>
              <a:t>Input</a:t>
            </a:r>
            <a:r>
              <a:rPr lang="en-US" sz="2400" dirty="0" smtClean="0"/>
              <a:t> to PSP is the requirements; </a:t>
            </a:r>
            <a:endParaRPr lang="en-US" sz="2400" dirty="0" smtClean="0"/>
          </a:p>
          <a:p>
            <a:pPr lvl="1"/>
            <a:r>
              <a:rPr lang="en-US" sz="2000" dirty="0" smtClean="0"/>
              <a:t>requirement document is completed and delivered to the engineer.   </a:t>
            </a:r>
            <a:endParaRPr lang="en-US" sz="2000" dirty="0" smtClean="0"/>
          </a:p>
          <a:p>
            <a:r>
              <a:rPr lang="en-US" sz="2400" b="1" dirty="0" smtClean="0"/>
              <a:t>Output</a:t>
            </a:r>
            <a:r>
              <a:rPr lang="en-US" sz="2400" dirty="0" smtClean="0"/>
              <a:t>: metrics telling how good an engineer is. </a:t>
            </a:r>
            <a:endParaRPr lang="en-US" sz="2400" dirty="0" smtClean="0"/>
          </a:p>
          <a:p>
            <a:r>
              <a:rPr lang="en-US" sz="2400" b="1" dirty="0" smtClean="0"/>
              <a:t>PSP0 </a:t>
            </a:r>
            <a:r>
              <a:rPr lang="en-US" sz="2400" dirty="0" smtClean="0"/>
              <a:t>has 3 phases:</a:t>
            </a:r>
            <a:endParaRPr lang="en-US" sz="2400" dirty="0" smtClean="0"/>
          </a:p>
          <a:p>
            <a:pPr lvl="1"/>
            <a:r>
              <a:rPr lang="en-US" sz="2000" dirty="0" smtClean="0"/>
              <a:t>planning, </a:t>
            </a:r>
            <a:endParaRPr lang="en-US" sz="2000" dirty="0" smtClean="0"/>
          </a:p>
          <a:p>
            <a:pPr lvl="1"/>
            <a:r>
              <a:rPr lang="en-US" sz="2000" dirty="0" smtClean="0"/>
              <a:t>development (design, coding, test) </a:t>
            </a:r>
            <a:endParaRPr lang="en-US" sz="2000" dirty="0" smtClean="0"/>
          </a:p>
          <a:p>
            <a:pPr lvl="1"/>
            <a:r>
              <a:rPr lang="en-US" sz="2000" dirty="0" smtClean="0"/>
              <a:t>postmortem. </a:t>
            </a:r>
            <a:endParaRPr lang="en-US" sz="2000" dirty="0" smtClean="0"/>
          </a:p>
          <a:p>
            <a:r>
              <a:rPr lang="en-US" dirty="0" smtClean="0">
                <a:solidFill>
                  <a:srgbClr val="FF0000"/>
                </a:solidFill>
              </a:rPr>
              <a:t>Is this the process of your I-Project?</a:t>
            </a:r>
            <a:endParaRPr lang="en-US" sz="2400" dirty="0" smtClean="0">
              <a:solidFill>
                <a:srgbClr val="FF0000"/>
              </a:solidFill>
            </a:endParaRPr>
          </a:p>
        </p:txBody>
      </p:sp>
    </p:spTree>
  </p:cSld>
  <p:clrMapOvr>
    <a:masterClrMapping/>
  </p:clrMapOvr>
  <p:transition>
    <p:wipe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How to Grow </a:t>
            </a:r>
            <a:r>
              <a:rPr lang="en-US" dirty="0"/>
              <a:t>S</a:t>
            </a:r>
            <a:r>
              <a:rPr lang="en-US" dirty="0" smtClean="0"/>
              <a:t>kills – PSP0.1</a:t>
            </a:r>
            <a:endParaRPr lang="en-US" dirty="0"/>
          </a:p>
        </p:txBody>
      </p:sp>
      <p:sp>
        <p:nvSpPr>
          <p:cNvPr id="2" name="Content Placeholder 1"/>
          <p:cNvSpPr>
            <a:spLocks noGrp="1"/>
          </p:cNvSpPr>
          <p:nvPr>
            <p:ph idx="1"/>
          </p:nvPr>
        </p:nvSpPr>
        <p:spPr/>
        <p:txBody>
          <a:bodyPr/>
          <a:lstStyle/>
          <a:p>
            <a:r>
              <a:rPr lang="en-US" sz="3200" dirty="0" smtClean="0"/>
              <a:t>PSP0.1, based on PSP0, </a:t>
            </a:r>
            <a:r>
              <a:rPr lang="en-US" sz="2800" dirty="0" smtClean="0"/>
              <a:t>Adding </a:t>
            </a:r>
            <a:endParaRPr lang="en-US" sz="2800" dirty="0" smtClean="0"/>
          </a:p>
          <a:p>
            <a:pPr lvl="1"/>
            <a:r>
              <a:rPr lang="en-US" sz="2800" dirty="0"/>
              <a:t>C</a:t>
            </a:r>
            <a:r>
              <a:rPr lang="en-US" sz="2800" dirty="0" smtClean="0"/>
              <a:t>oding </a:t>
            </a:r>
            <a:r>
              <a:rPr lang="en-US" sz="2800" dirty="0"/>
              <a:t>S</a:t>
            </a:r>
            <a:r>
              <a:rPr lang="en-US" sz="2800" dirty="0" smtClean="0"/>
              <a:t>tandard</a:t>
            </a:r>
            <a:endParaRPr lang="en-US" sz="2800" dirty="0" smtClean="0"/>
          </a:p>
          <a:p>
            <a:pPr lvl="1"/>
            <a:r>
              <a:rPr lang="en-US" sz="2800" dirty="0" smtClean="0"/>
              <a:t>Size Measurement</a:t>
            </a:r>
            <a:endParaRPr lang="en-US" sz="2800" dirty="0" smtClean="0"/>
          </a:p>
          <a:p>
            <a:pPr lvl="1"/>
            <a:r>
              <a:rPr lang="en-US" sz="2800" dirty="0" smtClean="0"/>
              <a:t>Process Improvement </a:t>
            </a:r>
            <a:r>
              <a:rPr lang="en-US" sz="2800" dirty="0"/>
              <a:t>P</a:t>
            </a:r>
            <a:r>
              <a:rPr lang="en-US" sz="2800" dirty="0" smtClean="0"/>
              <a:t>lan (PIP) – engineer records ideas for improving his own process</a:t>
            </a:r>
            <a:endParaRPr lang="en-US" sz="2800" dirty="0" smtClean="0"/>
          </a:p>
          <a:p>
            <a:r>
              <a:rPr lang="en-US" sz="3200" dirty="0" smtClean="0">
                <a:solidFill>
                  <a:srgbClr val="FF0000"/>
                </a:solidFill>
              </a:rPr>
              <a:t>Do you have these in your I-Project?</a:t>
            </a:r>
            <a:endParaRPr lang="en-US" sz="3200" dirty="0" smtClean="0">
              <a:solidFill>
                <a:srgbClr val="FF0000"/>
              </a:solidFill>
            </a:endParaRPr>
          </a:p>
          <a:p>
            <a:endParaRPr lang="en-US" sz="4000" dirty="0"/>
          </a:p>
        </p:txBody>
      </p:sp>
    </p:spTree>
  </p:cSld>
  <p:clrMapOvr>
    <a:masterClrMapping/>
  </p:clrMapOvr>
  <p:transition>
    <p:wipe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PSP1</a:t>
            </a:r>
            <a:endParaRPr lang="en-US" dirty="0"/>
          </a:p>
        </p:txBody>
      </p:sp>
      <p:sp>
        <p:nvSpPr>
          <p:cNvPr id="2" name="Content Placeholder 1"/>
          <p:cNvSpPr>
            <a:spLocks noGrp="1"/>
          </p:cNvSpPr>
          <p:nvPr>
            <p:ph idx="1"/>
          </p:nvPr>
        </p:nvSpPr>
        <p:spPr/>
        <p:txBody>
          <a:bodyPr>
            <a:normAutofit fontScale="85000" lnSpcReduction="10000"/>
          </a:bodyPr>
          <a:lstStyle/>
          <a:p>
            <a:r>
              <a:rPr lang="en-US" b="1" dirty="0" smtClean="0"/>
              <a:t>PSP1, PSP1.1 (Introduces estimating and planning)</a:t>
            </a:r>
            <a:endParaRPr lang="en-US" b="1" dirty="0" smtClean="0"/>
          </a:p>
          <a:p>
            <a:pPr lvl="1"/>
            <a:r>
              <a:rPr lang="en-US" dirty="0" smtClean="0"/>
              <a:t>Based upon the baseline data collected in PSP0 and PSP0.1, the engineer </a:t>
            </a:r>
            <a:r>
              <a:rPr lang="en-US" b="1" dirty="0" smtClean="0"/>
              <a:t>estimates</a:t>
            </a:r>
            <a:r>
              <a:rPr lang="en-US" dirty="0" smtClean="0"/>
              <a:t> how large a new program will be and prepares a test report (PSP1). </a:t>
            </a:r>
            <a:endParaRPr lang="en-US" dirty="0" smtClean="0"/>
          </a:p>
          <a:p>
            <a:pPr lvl="1"/>
            <a:r>
              <a:rPr lang="en-US" dirty="0" smtClean="0"/>
              <a:t>Accumulated data from previous projects is used to estimate the total time. </a:t>
            </a:r>
            <a:endParaRPr lang="en-US" dirty="0"/>
          </a:p>
          <a:p>
            <a:pPr lvl="1"/>
            <a:r>
              <a:rPr lang="en-US" dirty="0" smtClean="0"/>
              <a:t>Each new project will record the actual time spent. </a:t>
            </a:r>
            <a:endParaRPr lang="en-US" dirty="0" smtClean="0"/>
          </a:p>
          <a:p>
            <a:pPr lvl="1"/>
            <a:r>
              <a:rPr lang="en-US" dirty="0" smtClean="0"/>
              <a:t>This information is used for task and schedule planning and estimation (PSP1.1).</a:t>
            </a:r>
            <a:endParaRPr lang="en-US" dirty="0" smtClean="0"/>
          </a:p>
          <a:p>
            <a:r>
              <a:rPr lang="en-US" dirty="0" smtClean="0">
                <a:solidFill>
                  <a:srgbClr val="FF0000"/>
                </a:solidFill>
              </a:rPr>
              <a:t>Did you have estimation before Coding? </a:t>
            </a:r>
            <a:endParaRPr lang="en-US" dirty="0" smtClean="0">
              <a:solidFill>
                <a:srgbClr val="FF0000"/>
              </a:solidFill>
            </a:endParaRPr>
          </a:p>
          <a:p>
            <a:r>
              <a:rPr lang="en-US" dirty="0" smtClean="0">
                <a:solidFill>
                  <a:srgbClr val="FF0000"/>
                </a:solidFill>
              </a:rPr>
              <a:t>How far off was your estimation? </a:t>
            </a:r>
            <a:br>
              <a:rPr lang="en-US" dirty="0" smtClean="0">
                <a:solidFill>
                  <a:srgbClr val="FF0000"/>
                </a:solidFill>
              </a:rPr>
            </a:br>
            <a:endParaRPr lang="en-US" dirty="0">
              <a:solidFill>
                <a:srgbClr val="FF0000"/>
              </a:solidFill>
            </a:endParaRPr>
          </a:p>
        </p:txBody>
      </p:sp>
    </p:spTree>
  </p:cSld>
  <p:clrMapOvr>
    <a:masterClrMapping/>
  </p:clrMapOvr>
  <p:transition>
    <p:wipe dir="d"/>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PSP2</a:t>
            </a:r>
            <a:endParaRPr lang="en-US" dirty="0"/>
          </a:p>
        </p:txBody>
      </p:sp>
      <p:sp>
        <p:nvSpPr>
          <p:cNvPr id="2" name="Content Placeholder 1"/>
          <p:cNvSpPr>
            <a:spLocks noGrp="1"/>
          </p:cNvSpPr>
          <p:nvPr>
            <p:ph idx="1"/>
          </p:nvPr>
        </p:nvSpPr>
        <p:spPr/>
        <p:txBody>
          <a:bodyPr>
            <a:normAutofit fontScale="85000" lnSpcReduction="20000"/>
          </a:bodyPr>
          <a:lstStyle/>
          <a:p>
            <a:r>
              <a:rPr lang="en-US" b="1" dirty="0" smtClean="0"/>
              <a:t>PSP2, PSP2.1 (Introduces quality management and design)</a:t>
            </a:r>
            <a:endParaRPr lang="en-US" dirty="0" smtClean="0"/>
          </a:p>
          <a:p>
            <a:r>
              <a:rPr lang="en-US" dirty="0" smtClean="0"/>
              <a:t>PSP2 adds two new phases: </a:t>
            </a:r>
            <a:endParaRPr lang="en-US" dirty="0" smtClean="0"/>
          </a:p>
          <a:p>
            <a:pPr lvl="1"/>
            <a:r>
              <a:rPr lang="en-US" dirty="0"/>
              <a:t>D</a:t>
            </a:r>
            <a:r>
              <a:rPr lang="en-US" dirty="0" smtClean="0"/>
              <a:t>esign </a:t>
            </a:r>
            <a:r>
              <a:rPr lang="en-US" dirty="0"/>
              <a:t>R</a:t>
            </a:r>
            <a:r>
              <a:rPr lang="en-US" dirty="0" smtClean="0"/>
              <a:t>eview and Code </a:t>
            </a:r>
            <a:r>
              <a:rPr lang="en-US" dirty="0"/>
              <a:t>R</a:t>
            </a:r>
            <a:r>
              <a:rPr lang="en-US" dirty="0" smtClean="0"/>
              <a:t>eview. </a:t>
            </a:r>
            <a:endParaRPr lang="en-US" dirty="0" smtClean="0"/>
          </a:p>
          <a:p>
            <a:pPr lvl="1"/>
            <a:r>
              <a:rPr lang="en-US" dirty="0" smtClean="0"/>
              <a:t>Defect Prevention and removal are the focus at the PSP2. </a:t>
            </a:r>
            <a:endParaRPr lang="en-US" dirty="0" smtClean="0"/>
          </a:p>
          <a:p>
            <a:pPr lvl="1"/>
            <a:r>
              <a:rPr lang="en-US" dirty="0" smtClean="0"/>
              <a:t>Engineers construct and use checklists for design and code reviews. </a:t>
            </a:r>
            <a:endParaRPr lang="en-US" dirty="0" smtClean="0"/>
          </a:p>
          <a:p>
            <a:r>
              <a:rPr lang="en-US" dirty="0" smtClean="0"/>
              <a:t>PSP2.1 introduces design specification and analysis techniques</a:t>
            </a:r>
            <a:endParaRPr lang="en-US" dirty="0" smtClean="0"/>
          </a:p>
          <a:p>
            <a:r>
              <a:rPr lang="en-US" dirty="0" smtClean="0">
                <a:solidFill>
                  <a:srgbClr val="FF0000"/>
                </a:solidFill>
              </a:rPr>
              <a:t>Did you do Self-review of your design?</a:t>
            </a:r>
            <a:endParaRPr lang="en-US" dirty="0" smtClean="0">
              <a:solidFill>
                <a:srgbClr val="FF0000"/>
              </a:solidFill>
            </a:endParaRPr>
          </a:p>
          <a:p>
            <a:r>
              <a:rPr lang="en-US" dirty="0" smtClean="0">
                <a:solidFill>
                  <a:srgbClr val="FF0000"/>
                </a:solidFill>
              </a:rPr>
              <a:t>Do you have a check-list of your code?</a:t>
            </a:r>
            <a:br>
              <a:rPr lang="en-US" dirty="0" smtClean="0">
                <a:solidFill>
                  <a:srgbClr val="FF0000"/>
                </a:solidFill>
              </a:rPr>
            </a:br>
            <a:endParaRPr lang="en-US" dirty="0">
              <a:solidFill>
                <a:srgbClr val="FF0000"/>
              </a:solidFill>
            </a:endParaRPr>
          </a:p>
        </p:txBody>
      </p:sp>
    </p:spTree>
  </p:cSld>
  <p:clrMapOvr>
    <a:masterClrMapping/>
  </p:clrMapOvr>
  <p:transition>
    <p:wipe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PSP Evolution</a:t>
            </a:r>
            <a:endParaRPr lang="en-US" dirty="0"/>
          </a:p>
        </p:txBody>
      </p:sp>
      <p:sp>
        <p:nvSpPr>
          <p:cNvPr id="3" name="Content Placeholder 2"/>
          <p:cNvSpPr>
            <a:spLocks noGrp="1"/>
          </p:cNvSpPr>
          <p:nvPr>
            <p:ph idx="1"/>
          </p:nvPr>
        </p:nvSpPr>
        <p:spPr>
          <a:xfrm>
            <a:off x="457200" y="1600200"/>
            <a:ext cx="2819400" cy="4525963"/>
          </a:xfrm>
          <a:ln>
            <a:solidFill>
              <a:schemeClr val="accent1"/>
            </a:solidFill>
          </a:ln>
        </p:spPr>
        <p:txBody>
          <a:bodyPr>
            <a:normAutofit/>
          </a:bodyPr>
          <a:lstStyle/>
          <a:p>
            <a:r>
              <a:rPr lang="en-US" sz="2800" dirty="0" smtClean="0"/>
              <a:t>PSP</a:t>
            </a:r>
            <a:r>
              <a:rPr lang="en-US" sz="2800" b="1" dirty="0" smtClean="0">
                <a:solidFill>
                  <a:srgbClr val="FF0000"/>
                </a:solidFill>
              </a:rPr>
              <a:t>0</a:t>
            </a:r>
            <a:endParaRPr lang="en-US" sz="2800" b="1" dirty="0" smtClean="0">
              <a:solidFill>
                <a:srgbClr val="FF0000"/>
              </a:solidFill>
            </a:endParaRPr>
          </a:p>
          <a:p>
            <a:r>
              <a:rPr lang="en-US" sz="2800" dirty="0" smtClean="0"/>
              <a:t>Planning</a:t>
            </a:r>
            <a:endParaRPr lang="en-US" sz="2800" dirty="0" smtClean="0"/>
          </a:p>
          <a:p>
            <a:r>
              <a:rPr lang="en-US" sz="2800" dirty="0" smtClean="0"/>
              <a:t>Development</a:t>
            </a:r>
            <a:endParaRPr lang="en-US" sz="2800" dirty="0" smtClean="0"/>
          </a:p>
          <a:p>
            <a:pPr lvl="1"/>
            <a:r>
              <a:rPr lang="en-US" sz="2400" dirty="0" smtClean="0"/>
              <a:t>Design</a:t>
            </a:r>
            <a:endParaRPr lang="en-US" sz="2400" dirty="0" smtClean="0"/>
          </a:p>
          <a:p>
            <a:pPr lvl="1"/>
            <a:r>
              <a:rPr lang="en-US" sz="2400" dirty="0" smtClean="0"/>
              <a:t>Coding</a:t>
            </a:r>
            <a:endParaRPr lang="en-US" sz="2400" dirty="0" smtClean="0"/>
          </a:p>
          <a:p>
            <a:pPr lvl="1"/>
            <a:r>
              <a:rPr lang="en-US" sz="2400" dirty="0" smtClean="0"/>
              <a:t>Test</a:t>
            </a:r>
            <a:endParaRPr lang="en-US" sz="2400" dirty="0" smtClean="0"/>
          </a:p>
          <a:p>
            <a:r>
              <a:rPr lang="en-US" sz="2800" dirty="0" smtClean="0"/>
              <a:t>Postmortem</a:t>
            </a:r>
            <a:endParaRPr lang="en-US" sz="2800" dirty="0" smtClean="0"/>
          </a:p>
        </p:txBody>
      </p:sp>
      <p:sp>
        <p:nvSpPr>
          <p:cNvPr id="4" name="Content Placeholder 2"/>
          <p:cNvSpPr txBox="1"/>
          <p:nvPr/>
        </p:nvSpPr>
        <p:spPr>
          <a:xfrm>
            <a:off x="3276600" y="1600200"/>
            <a:ext cx="2895600" cy="4525963"/>
          </a:xfrm>
          <a:prstGeom prst="rect">
            <a:avLst/>
          </a:prstGeom>
          <a:ln>
            <a:solidFill>
              <a:schemeClr val="accent1"/>
            </a:solidFill>
          </a:ln>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000" dirty="0" smtClean="0"/>
              <a:t>PSP</a:t>
            </a:r>
            <a:r>
              <a:rPr lang="en-US" sz="2000" b="1" dirty="0" smtClean="0">
                <a:solidFill>
                  <a:srgbClr val="FF0000"/>
                </a:solidFill>
              </a:rPr>
              <a:t>0.1</a:t>
            </a:r>
            <a:endParaRPr lang="en-US" sz="2000" b="1" dirty="0" smtClean="0">
              <a:solidFill>
                <a:srgbClr val="FF0000"/>
              </a:solidFill>
            </a:endParaRPr>
          </a:p>
          <a:p>
            <a:r>
              <a:rPr lang="en-US" sz="2000" dirty="0" smtClean="0"/>
              <a:t>Planning</a:t>
            </a:r>
            <a:endParaRPr lang="en-US" sz="2000" dirty="0" smtClean="0"/>
          </a:p>
          <a:p>
            <a:r>
              <a:rPr lang="en-US" sz="2000" dirty="0" smtClean="0"/>
              <a:t>Development</a:t>
            </a:r>
            <a:endParaRPr lang="en-US" sz="2000" dirty="0" smtClean="0"/>
          </a:p>
          <a:p>
            <a:pPr lvl="1"/>
            <a:r>
              <a:rPr lang="en-US" sz="1800" b="1" dirty="0" smtClean="0">
                <a:solidFill>
                  <a:srgbClr val="FF0000"/>
                </a:solidFill>
              </a:rPr>
              <a:t>Coding Standard</a:t>
            </a:r>
            <a:endParaRPr lang="en-US" sz="1800" b="1" dirty="0" smtClean="0">
              <a:solidFill>
                <a:srgbClr val="FF0000"/>
              </a:solidFill>
            </a:endParaRPr>
          </a:p>
          <a:p>
            <a:pPr lvl="1"/>
            <a:r>
              <a:rPr lang="en-US" sz="1800" dirty="0" smtClean="0"/>
              <a:t>Design</a:t>
            </a:r>
            <a:endParaRPr lang="en-US" sz="1800" dirty="0" smtClean="0"/>
          </a:p>
          <a:p>
            <a:pPr lvl="1"/>
            <a:r>
              <a:rPr lang="en-US" sz="1800" dirty="0" smtClean="0"/>
              <a:t>Coding</a:t>
            </a:r>
            <a:endParaRPr lang="en-US" sz="1800" dirty="0" smtClean="0"/>
          </a:p>
          <a:p>
            <a:pPr lvl="1"/>
            <a:r>
              <a:rPr lang="en-US" sz="1800" dirty="0" smtClean="0"/>
              <a:t>Test</a:t>
            </a:r>
            <a:endParaRPr lang="en-US" sz="1800" dirty="0" smtClean="0"/>
          </a:p>
          <a:p>
            <a:r>
              <a:rPr lang="en-US" sz="2000" b="1" dirty="0" smtClean="0">
                <a:solidFill>
                  <a:srgbClr val="FF0000"/>
                </a:solidFill>
              </a:rPr>
              <a:t>Size Measurement</a:t>
            </a:r>
            <a:endParaRPr lang="en-US" sz="2000" b="1" dirty="0" smtClean="0">
              <a:solidFill>
                <a:srgbClr val="FF0000"/>
              </a:solidFill>
            </a:endParaRPr>
          </a:p>
          <a:p>
            <a:r>
              <a:rPr lang="en-US" sz="2000" dirty="0" smtClean="0"/>
              <a:t>Postmortem</a:t>
            </a:r>
            <a:endParaRPr lang="en-US" sz="2000" dirty="0" smtClean="0"/>
          </a:p>
          <a:p>
            <a:r>
              <a:rPr lang="en-US" sz="2000" b="1" dirty="0" smtClean="0">
                <a:solidFill>
                  <a:srgbClr val="FF0000"/>
                </a:solidFill>
              </a:rPr>
              <a:t>Process Improvement Plan</a:t>
            </a:r>
            <a:endParaRPr lang="en-US" sz="2000" b="1" dirty="0" smtClean="0">
              <a:solidFill>
                <a:srgbClr val="FF0000"/>
              </a:solidFill>
            </a:endParaRPr>
          </a:p>
        </p:txBody>
      </p:sp>
      <p:sp>
        <p:nvSpPr>
          <p:cNvPr id="5" name="Content Placeholder 2"/>
          <p:cNvSpPr txBox="1"/>
          <p:nvPr/>
        </p:nvSpPr>
        <p:spPr>
          <a:xfrm>
            <a:off x="6172200" y="1600200"/>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6" name="Content Placeholder 2"/>
          <p:cNvSpPr txBox="1"/>
          <p:nvPr/>
        </p:nvSpPr>
        <p:spPr>
          <a:xfrm>
            <a:off x="6172200" y="1600200"/>
            <a:ext cx="2971800" cy="4525963"/>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1</a:t>
            </a:r>
            <a:endParaRPr lang="en-US" b="1" dirty="0" smtClean="0">
              <a:solidFill>
                <a:srgbClr val="FF0000"/>
              </a:solidFill>
            </a:endParaRPr>
          </a:p>
          <a:p>
            <a:r>
              <a:rPr lang="en-US" dirty="0" smtClean="0"/>
              <a:t>Planning</a:t>
            </a:r>
            <a:endParaRPr lang="en-US" dirty="0" smtClean="0"/>
          </a:p>
          <a:p>
            <a:pPr lvl="1"/>
            <a:r>
              <a:rPr lang="en-US" b="1" dirty="0" smtClean="0">
                <a:solidFill>
                  <a:srgbClr val="FF0000"/>
                </a:solidFill>
              </a:rPr>
              <a:t>Estimate</a:t>
            </a:r>
            <a:r>
              <a:rPr lang="en-US" dirty="0" smtClean="0"/>
              <a:t> </a:t>
            </a:r>
            <a:endParaRPr lang="en-US" dirty="0" smtClean="0"/>
          </a:p>
          <a:p>
            <a:r>
              <a:rPr lang="en-US" dirty="0" smtClean="0"/>
              <a:t>Development</a:t>
            </a:r>
            <a:endParaRPr lang="en-US" dirty="0" smtClean="0"/>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dirty="0" smtClean="0"/>
              <a:t>Test</a:t>
            </a:r>
            <a:endParaRPr lang="en-US" dirty="0" smtClean="0"/>
          </a:p>
          <a:p>
            <a:r>
              <a:rPr lang="en-US" b="1" dirty="0" smtClean="0">
                <a:solidFill>
                  <a:srgbClr val="FF0000"/>
                </a:solidFill>
              </a:rPr>
              <a:t>Test Report</a:t>
            </a:r>
            <a:endParaRPr lang="en-US" b="1" dirty="0" smtClean="0">
              <a:solidFill>
                <a:srgbClr val="FF0000"/>
              </a:solidFill>
            </a:endParaRPr>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build="p"/>
      <p:bldP spid="4"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PSP Evolution (cont.)</a:t>
            </a:r>
            <a:endParaRPr lang="en-US" dirty="0"/>
          </a:p>
        </p:txBody>
      </p:sp>
      <p:sp>
        <p:nvSpPr>
          <p:cNvPr id="8" name="Content Placeholder 2"/>
          <p:cNvSpPr txBox="1">
            <a:spLocks noGrp="1"/>
          </p:cNvSpPr>
          <p:nvPr>
            <p:ph idx="1"/>
          </p:nvPr>
        </p:nvSpPr>
        <p:spPr>
          <a:xfrm>
            <a:off x="457200" y="1600200"/>
            <a:ext cx="2895600" cy="4876800"/>
          </a:xfrm>
          <a:prstGeom prst="rect">
            <a:avLst/>
          </a:prstGeom>
          <a:ln>
            <a:solidFill>
              <a:schemeClr val="accent1"/>
            </a:solidFill>
          </a:ln>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1.1</a:t>
            </a:r>
            <a:endParaRPr lang="en-US" b="1" dirty="0" smtClean="0">
              <a:solidFill>
                <a:srgbClr val="FF0000"/>
              </a:solidFill>
            </a:endParaRPr>
          </a:p>
          <a:p>
            <a:r>
              <a:rPr lang="en-US" dirty="0" smtClean="0"/>
              <a:t>Planning</a:t>
            </a:r>
            <a:endParaRPr lang="en-US" dirty="0" smtClean="0"/>
          </a:p>
          <a:p>
            <a:pPr lvl="1"/>
            <a:r>
              <a:rPr lang="en-US" b="1" dirty="0" smtClean="0">
                <a:solidFill>
                  <a:srgbClr val="FF0000"/>
                </a:solidFill>
              </a:rPr>
              <a:t>Estimate</a:t>
            </a:r>
            <a:r>
              <a:rPr lang="en-US" dirty="0" smtClean="0"/>
              <a:t> </a:t>
            </a:r>
            <a:endParaRPr lang="en-US" dirty="0" smtClean="0"/>
          </a:p>
          <a:p>
            <a:r>
              <a:rPr lang="en-US" dirty="0" smtClean="0"/>
              <a:t>Development</a:t>
            </a:r>
            <a:endParaRPr lang="en-US" dirty="0" smtClean="0"/>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dirty="0" smtClean="0"/>
              <a:t>Test</a:t>
            </a:r>
            <a:endParaRPr lang="en-US" dirty="0" smtClean="0"/>
          </a:p>
          <a:p>
            <a:r>
              <a:rPr lang="en-US" b="1" dirty="0" smtClean="0">
                <a:solidFill>
                  <a:srgbClr val="FF0000"/>
                </a:solidFill>
              </a:rPr>
              <a:t>Record Time Spent</a:t>
            </a:r>
            <a:endParaRPr lang="en-US" b="1" dirty="0" smtClean="0">
              <a:solidFill>
                <a:srgbClr val="FF0000"/>
              </a:solidFill>
            </a:endParaRPr>
          </a:p>
          <a:p>
            <a:r>
              <a:rPr lang="en-US" dirty="0" smtClean="0"/>
              <a:t>Test Report</a:t>
            </a:r>
            <a:endParaRPr lang="en-US" dirty="0" smtClean="0"/>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
        <p:nvSpPr>
          <p:cNvPr id="5" name="Content Placeholder 2"/>
          <p:cNvSpPr txBox="1"/>
          <p:nvPr/>
        </p:nvSpPr>
        <p:spPr>
          <a:xfrm>
            <a:off x="6172200" y="1600200"/>
            <a:ext cx="29718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US" dirty="0"/>
          </a:p>
        </p:txBody>
      </p:sp>
      <p:sp>
        <p:nvSpPr>
          <p:cNvPr id="10" name="Content Placeholder 2"/>
          <p:cNvSpPr txBox="1"/>
          <p:nvPr/>
        </p:nvSpPr>
        <p:spPr>
          <a:xfrm>
            <a:off x="3352800" y="1600200"/>
            <a:ext cx="2895600" cy="4876800"/>
          </a:xfrm>
          <a:prstGeom prst="rect">
            <a:avLst/>
          </a:prstGeom>
          <a:ln>
            <a:solidFill>
              <a:schemeClr val="accent1"/>
            </a:solidFill>
          </a:ln>
        </p:spPr>
        <p:txBody>
          <a:bodyPr vert="horz" lIns="91440" tIns="45720" rIns="91440" bIns="45720" rtlCol="0">
            <a:normAutofit fontScale="625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2</a:t>
            </a:r>
            <a:endParaRPr lang="en-US" b="1" dirty="0" smtClean="0">
              <a:solidFill>
                <a:srgbClr val="FF0000"/>
              </a:solidFill>
            </a:endParaRPr>
          </a:p>
          <a:p>
            <a:r>
              <a:rPr lang="en-US" dirty="0" smtClean="0"/>
              <a:t>Planning</a:t>
            </a:r>
            <a:endParaRPr lang="en-US" dirty="0" smtClean="0"/>
          </a:p>
          <a:p>
            <a:pPr lvl="1"/>
            <a:r>
              <a:rPr lang="en-US" dirty="0" smtClean="0"/>
              <a:t>Estimate </a:t>
            </a:r>
            <a:endParaRPr lang="en-US" dirty="0" smtClean="0"/>
          </a:p>
          <a:p>
            <a:r>
              <a:rPr lang="en-US" dirty="0" smtClean="0"/>
              <a:t>Development</a:t>
            </a:r>
            <a:endParaRPr lang="en-US" dirty="0" smtClean="0"/>
          </a:p>
          <a:p>
            <a:pPr lvl="1"/>
            <a:r>
              <a:rPr lang="en-US" b="1" dirty="0" smtClean="0">
                <a:solidFill>
                  <a:srgbClr val="FF0000"/>
                </a:solidFill>
              </a:rPr>
              <a:t>Design Review</a:t>
            </a:r>
            <a:endParaRPr lang="en-US" b="1" dirty="0" smtClean="0">
              <a:solidFill>
                <a:srgbClr val="FF0000"/>
              </a:solidFill>
            </a:endParaRPr>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b="1" dirty="0" smtClean="0">
                <a:solidFill>
                  <a:srgbClr val="FF0000"/>
                </a:solidFill>
              </a:rPr>
              <a:t>Code Review</a:t>
            </a:r>
            <a:endParaRPr lang="en-US" b="1" dirty="0" smtClean="0">
              <a:solidFill>
                <a:srgbClr val="FF0000"/>
              </a:solidFill>
            </a:endParaRPr>
          </a:p>
          <a:p>
            <a:pPr lvl="1"/>
            <a:r>
              <a:rPr lang="en-US" dirty="0" smtClean="0"/>
              <a:t>Test</a:t>
            </a:r>
            <a:endParaRPr lang="en-US" dirty="0" smtClean="0"/>
          </a:p>
          <a:p>
            <a:r>
              <a:rPr lang="en-US" dirty="0" smtClean="0"/>
              <a:t>Record Time Spent</a:t>
            </a:r>
            <a:endParaRPr lang="en-US" dirty="0" smtClean="0"/>
          </a:p>
          <a:p>
            <a:r>
              <a:rPr lang="en-US" dirty="0" smtClean="0"/>
              <a:t>Test Report</a:t>
            </a:r>
            <a:endParaRPr lang="en-US" dirty="0" smtClean="0"/>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
        <p:nvSpPr>
          <p:cNvPr id="11" name="Content Placeholder 2"/>
          <p:cNvSpPr txBox="1"/>
          <p:nvPr/>
        </p:nvSpPr>
        <p:spPr>
          <a:xfrm>
            <a:off x="6248400" y="1600200"/>
            <a:ext cx="2895600" cy="4876800"/>
          </a:xfrm>
          <a:prstGeom prst="rect">
            <a:avLst/>
          </a:prstGeom>
          <a:ln>
            <a:solidFill>
              <a:schemeClr val="accent1"/>
            </a:solidFill>
          </a:ln>
        </p:spPr>
        <p:txBody>
          <a:bodyPr vert="horz" lIns="91440" tIns="45720" rIns="91440" bIns="45720" rtlCol="0">
            <a:normAutofit fontScale="55000" lnSpcReduction="20000"/>
          </a:bodyPr>
          <a:lstStyle>
            <a:lvl1pPr marL="342900" indent="-342900" algn="l" defTabSz="914400" rtl="0" eaLnBrk="1" latinLnBrk="0" hangingPunct="1">
              <a:spcBef>
                <a:spcPct val="20000"/>
              </a:spcBef>
              <a:buClr>
                <a:schemeClr val="accent1"/>
              </a:buClr>
              <a:buSzPct val="85000"/>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1"/>
              </a:buClr>
              <a:buSzPct val="85000"/>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1"/>
              </a:buClr>
              <a:buSzPct val="90000"/>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1"/>
              </a:buClr>
              <a:buSzPct val="100000"/>
              <a:buFont typeface="Arial" panose="020B0604020202020204" pitchFamily="34" charset="0"/>
              <a:buChar char="»"/>
              <a:defRPr sz="20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Clr>
                <a:schemeClr val="accent1"/>
              </a:buClr>
              <a:buFont typeface="Arial" panose="020B0604020202020204" pitchFamily="34" charset="0"/>
              <a:buChar char="•"/>
              <a:defRPr sz="2000" kern="1200">
                <a:solidFill>
                  <a:schemeClr val="tx1"/>
                </a:solidFill>
                <a:latin typeface="+mn-lt"/>
                <a:ea typeface="+mn-ea"/>
                <a:cs typeface="+mn-cs"/>
              </a:defRPr>
            </a:lvl9pPr>
          </a:lstStyle>
          <a:p>
            <a:r>
              <a:rPr lang="en-US" dirty="0" smtClean="0"/>
              <a:t>PSP</a:t>
            </a:r>
            <a:r>
              <a:rPr lang="en-US" b="1" dirty="0" smtClean="0">
                <a:solidFill>
                  <a:srgbClr val="FF0000"/>
                </a:solidFill>
              </a:rPr>
              <a:t>2.1</a:t>
            </a:r>
            <a:endParaRPr lang="en-US" b="1" dirty="0" smtClean="0">
              <a:solidFill>
                <a:srgbClr val="FF0000"/>
              </a:solidFill>
            </a:endParaRPr>
          </a:p>
          <a:p>
            <a:r>
              <a:rPr lang="en-US" dirty="0" smtClean="0"/>
              <a:t>Planning</a:t>
            </a:r>
            <a:endParaRPr lang="en-US" dirty="0" smtClean="0"/>
          </a:p>
          <a:p>
            <a:pPr lvl="1"/>
            <a:r>
              <a:rPr lang="en-US" dirty="0" smtClean="0"/>
              <a:t>Estimate </a:t>
            </a:r>
            <a:endParaRPr lang="en-US" dirty="0" smtClean="0"/>
          </a:p>
          <a:p>
            <a:r>
              <a:rPr lang="en-US" dirty="0" smtClean="0"/>
              <a:t>Development</a:t>
            </a:r>
            <a:endParaRPr lang="en-US" dirty="0" smtClean="0"/>
          </a:p>
          <a:p>
            <a:pPr lvl="1"/>
            <a:r>
              <a:rPr lang="en-US" b="1" dirty="0" smtClean="0">
                <a:solidFill>
                  <a:srgbClr val="FF0000"/>
                </a:solidFill>
              </a:rPr>
              <a:t>Analysis </a:t>
            </a:r>
            <a:endParaRPr lang="en-US" b="1" dirty="0" smtClean="0">
              <a:solidFill>
                <a:srgbClr val="FF0000"/>
              </a:solidFill>
            </a:endParaRPr>
          </a:p>
          <a:p>
            <a:pPr lvl="1"/>
            <a:r>
              <a:rPr lang="en-US" b="1" dirty="0" smtClean="0">
                <a:solidFill>
                  <a:srgbClr val="FF0000"/>
                </a:solidFill>
              </a:rPr>
              <a:t>Design Spec</a:t>
            </a:r>
            <a:endParaRPr lang="en-US" b="1" dirty="0" smtClean="0">
              <a:solidFill>
                <a:srgbClr val="FF0000"/>
              </a:solidFill>
            </a:endParaRPr>
          </a:p>
          <a:p>
            <a:pPr lvl="1"/>
            <a:r>
              <a:rPr lang="en-US" dirty="0" smtClean="0"/>
              <a:t>Design Review</a:t>
            </a:r>
            <a:endParaRPr lang="en-US" dirty="0" smtClean="0"/>
          </a:p>
          <a:p>
            <a:pPr lvl="1"/>
            <a:r>
              <a:rPr lang="en-US" dirty="0" smtClean="0"/>
              <a:t>Coding Standard</a:t>
            </a:r>
            <a:endParaRPr lang="en-US" dirty="0" smtClean="0"/>
          </a:p>
          <a:p>
            <a:pPr lvl="1"/>
            <a:r>
              <a:rPr lang="en-US" dirty="0" smtClean="0"/>
              <a:t>Design</a:t>
            </a:r>
            <a:endParaRPr lang="en-US" dirty="0" smtClean="0"/>
          </a:p>
          <a:p>
            <a:pPr lvl="1"/>
            <a:r>
              <a:rPr lang="en-US" dirty="0" smtClean="0"/>
              <a:t>Coding</a:t>
            </a:r>
            <a:endParaRPr lang="en-US" dirty="0" smtClean="0"/>
          </a:p>
          <a:p>
            <a:pPr lvl="1"/>
            <a:r>
              <a:rPr lang="en-US" dirty="0" smtClean="0"/>
              <a:t>Code Review</a:t>
            </a:r>
            <a:endParaRPr lang="en-US" dirty="0" smtClean="0"/>
          </a:p>
          <a:p>
            <a:pPr lvl="1"/>
            <a:r>
              <a:rPr lang="en-US" dirty="0" smtClean="0"/>
              <a:t>Test</a:t>
            </a:r>
            <a:endParaRPr lang="en-US" dirty="0" smtClean="0"/>
          </a:p>
          <a:p>
            <a:r>
              <a:rPr lang="en-US" dirty="0" smtClean="0"/>
              <a:t>Record Time Spent</a:t>
            </a:r>
            <a:endParaRPr lang="en-US" dirty="0" smtClean="0"/>
          </a:p>
          <a:p>
            <a:r>
              <a:rPr lang="en-US" dirty="0" smtClean="0"/>
              <a:t>Test Report</a:t>
            </a:r>
            <a:endParaRPr lang="en-US" dirty="0" smtClean="0"/>
          </a:p>
          <a:p>
            <a:r>
              <a:rPr lang="en-US" dirty="0" smtClean="0"/>
              <a:t>Size Measurement</a:t>
            </a:r>
            <a:endParaRPr lang="en-US" dirty="0" smtClean="0"/>
          </a:p>
          <a:p>
            <a:r>
              <a:rPr lang="en-US" dirty="0" smtClean="0"/>
              <a:t>Postmortem</a:t>
            </a:r>
            <a:endParaRPr lang="en-US" dirty="0" smtClean="0"/>
          </a:p>
          <a:p>
            <a:r>
              <a:rPr lang="en-US" dirty="0" smtClean="0"/>
              <a:t>Process Improvement Plan</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DATA</a:t>
            </a:r>
            <a:endParaRPr lang="en-US" dirty="0"/>
          </a:p>
        </p:txBody>
      </p:sp>
      <p:sp>
        <p:nvSpPr>
          <p:cNvPr id="2" name="Content Placeholder 1"/>
          <p:cNvSpPr>
            <a:spLocks noGrp="1"/>
          </p:cNvSpPr>
          <p:nvPr>
            <p:ph idx="1"/>
          </p:nvPr>
        </p:nvSpPr>
        <p:spPr/>
        <p:txBody>
          <a:bodyPr/>
          <a:lstStyle/>
          <a:p>
            <a:r>
              <a:rPr lang="en-US" dirty="0" smtClean="0"/>
              <a:t>One of the core aspects of the PSP is using historical data to analyze and improve process performance. PSP data collection is supported by four main elements:</a:t>
            </a:r>
            <a:br>
              <a:rPr lang="en-US" dirty="0" smtClean="0"/>
            </a:br>
            <a:endParaRPr lang="en-US" dirty="0" smtClean="0"/>
          </a:p>
          <a:p>
            <a:pPr lvl="1"/>
            <a:r>
              <a:rPr lang="en-US" dirty="0" smtClean="0"/>
              <a:t>Scripts</a:t>
            </a:r>
            <a:endParaRPr lang="en-US" dirty="0" smtClean="0"/>
          </a:p>
          <a:p>
            <a:pPr lvl="1"/>
            <a:r>
              <a:rPr lang="en-US" dirty="0" smtClean="0"/>
              <a:t>Measures</a:t>
            </a:r>
            <a:endParaRPr lang="en-US" dirty="0" smtClean="0"/>
          </a:p>
          <a:p>
            <a:pPr lvl="1"/>
            <a:r>
              <a:rPr lang="en-US" dirty="0" smtClean="0"/>
              <a:t>Standards</a:t>
            </a:r>
            <a:endParaRPr lang="en-US" dirty="0" smtClean="0"/>
          </a:p>
          <a:p>
            <a:pPr lvl="1"/>
            <a:r>
              <a:rPr lang="en-US" dirty="0" smtClean="0"/>
              <a:t>Forms</a:t>
            </a:r>
            <a:endParaRPr lang="en-US" dirty="0" smtClean="0"/>
          </a:p>
          <a:p>
            <a:endParaRPr lang="en-US" dirty="0"/>
          </a:p>
        </p:txBody>
      </p:sp>
    </p:spTree>
  </p:cSld>
  <p:clrMapOvr>
    <a:masterClrMapping/>
  </p:clrMapOvr>
  <p:transition>
    <p:wipe dir="d"/>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Core Measures:</a:t>
            </a:r>
            <a:endParaRPr lang="en-US" dirty="0"/>
          </a:p>
        </p:txBody>
      </p:sp>
      <p:sp>
        <p:nvSpPr>
          <p:cNvPr id="2" name="Content Placeholder 1"/>
          <p:cNvSpPr>
            <a:spLocks noGrp="1"/>
          </p:cNvSpPr>
          <p:nvPr>
            <p:ph idx="1"/>
          </p:nvPr>
        </p:nvSpPr>
        <p:spPr/>
        <p:txBody>
          <a:bodyPr>
            <a:normAutofit fontScale="92500" lnSpcReduction="10000"/>
          </a:bodyPr>
          <a:lstStyle/>
          <a:p>
            <a:pPr>
              <a:buNone/>
            </a:pPr>
            <a:r>
              <a:rPr lang="en-US" sz="2400" dirty="0" smtClean="0"/>
              <a:t>The PSP scripts provide expert-level guidance to following the process steps and they provide a framework for applying the PSP measures. The PSP has four core measures:</a:t>
            </a:r>
            <a:endParaRPr lang="en-US" sz="2400" dirty="0" smtClean="0"/>
          </a:p>
          <a:p>
            <a:r>
              <a:rPr lang="en-US" sz="2400" dirty="0" smtClean="0"/>
              <a:t>Size – the size measure for a product part, such as lines of code (LOC).</a:t>
            </a:r>
            <a:endParaRPr lang="en-US" sz="2400" dirty="0" smtClean="0"/>
          </a:p>
          <a:p>
            <a:pPr lvl="1"/>
            <a:r>
              <a:rPr lang="en-US" altLang="zh-CN" sz="2200" dirty="0" smtClean="0"/>
              <a:t>How big is the task</a:t>
            </a:r>
            <a:endParaRPr lang="en-US" sz="2200" dirty="0" smtClean="0"/>
          </a:p>
          <a:p>
            <a:r>
              <a:rPr lang="en-US" sz="2400" dirty="0" smtClean="0"/>
              <a:t>Effort – the time required to complete a task, usually recorded in minutes.</a:t>
            </a:r>
            <a:endParaRPr lang="en-US" sz="2400" dirty="0" smtClean="0"/>
          </a:p>
          <a:p>
            <a:pPr lvl="1"/>
            <a:r>
              <a:rPr lang="en-US" altLang="zh-CN" sz="2200" dirty="0" smtClean="0"/>
              <a:t>How big is the effort</a:t>
            </a:r>
            <a:endParaRPr lang="en-US" sz="2200" dirty="0" smtClean="0"/>
          </a:p>
          <a:p>
            <a:r>
              <a:rPr lang="en-US" sz="2400" dirty="0" smtClean="0"/>
              <a:t>Quality – the number of defects in the product.</a:t>
            </a:r>
            <a:endParaRPr lang="en-US" sz="2400" dirty="0" smtClean="0"/>
          </a:p>
          <a:p>
            <a:pPr lvl="1"/>
            <a:r>
              <a:rPr lang="en-US" altLang="zh-CN" sz="2200" dirty="0" smtClean="0"/>
              <a:t>How good is your result</a:t>
            </a:r>
            <a:endParaRPr lang="en-US" sz="2200" dirty="0" smtClean="0"/>
          </a:p>
          <a:p>
            <a:r>
              <a:rPr lang="en-US" sz="2400" dirty="0" smtClean="0"/>
              <a:t>Schedule – a measure of project progression, tracked against planned and actual completion dates.</a:t>
            </a:r>
            <a:endParaRPr lang="en-US" sz="2400" dirty="0" smtClean="0"/>
          </a:p>
          <a:p>
            <a:pPr lvl="1"/>
            <a:r>
              <a:rPr lang="en-US" altLang="zh-CN" sz="2200" dirty="0" smtClean="0"/>
              <a:t>How timely is the delivery</a:t>
            </a:r>
            <a:endParaRPr lang="en-US" sz="2200" dirty="0" smtClean="0"/>
          </a:p>
          <a:p>
            <a:endParaRPr lang="en-US" sz="24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fade">
                                      <p:cBhvr>
                                        <p:cTn id="20" dur="2000"/>
                                        <p:tgtEl>
                                          <p:spTgt spid="2">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animEffect transition="in" filter="fade">
                                      <p:cBhvr>
                                        <p:cTn id="23" dur="2000"/>
                                        <p:tgtEl>
                                          <p:spTgt spid="2">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Effect transition="in" filter="fade">
                                      <p:cBhvr>
                                        <p:cTn id="28" dur="2000"/>
                                        <p:tgtEl>
                                          <p:spTgt spid="2">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animEffect transition="in" filter="fade">
                                      <p:cBhvr>
                                        <p:cTn id="31" dur="2000"/>
                                        <p:tgtEl>
                                          <p:spTgt spid="2">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xEl>
                                              <p:pRg st="7" end="7"/>
                                            </p:txEl>
                                          </p:spTgt>
                                        </p:tgtEl>
                                        <p:attrNameLst>
                                          <p:attrName>style.visibility</p:attrName>
                                        </p:attrNameLst>
                                      </p:cBhvr>
                                      <p:to>
                                        <p:strVal val="visible"/>
                                      </p:to>
                                    </p:set>
                                    <p:animEffect transition="in" filter="fade">
                                      <p:cBhvr>
                                        <p:cTn id="36" dur="2000"/>
                                        <p:tgtEl>
                                          <p:spTgt spid="2">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animEffect transition="in" filter="fade">
                                      <p:cBhvr>
                                        <p:cTn id="39" dur="20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smtClean="0"/>
              <a:t>M</a:t>
            </a:r>
            <a:r>
              <a:rPr lang="en-US" dirty="0" smtClean="0"/>
              <a:t>easures</a:t>
            </a:r>
            <a:endParaRPr lang="en-US" dirty="0"/>
          </a:p>
        </p:txBody>
      </p:sp>
      <p:sp>
        <p:nvSpPr>
          <p:cNvPr id="2" name="Content Placeholder 1"/>
          <p:cNvSpPr>
            <a:spLocks noGrp="1"/>
          </p:cNvSpPr>
          <p:nvPr>
            <p:ph idx="1"/>
          </p:nvPr>
        </p:nvSpPr>
        <p:spPr/>
        <p:txBody>
          <a:bodyPr>
            <a:normAutofit fontScale="85000" lnSpcReduction="10000"/>
          </a:bodyPr>
          <a:lstStyle/>
          <a:p>
            <a:r>
              <a:rPr lang="en-US" dirty="0" smtClean="0"/>
              <a:t>Based on this principle:</a:t>
            </a:r>
            <a:endParaRPr lang="en-US" dirty="0" smtClean="0"/>
          </a:p>
          <a:p>
            <a:pPr lvl="1"/>
            <a:r>
              <a:rPr lang="en-US" dirty="0" smtClean="0"/>
              <a:t>You can’t improve what you can’t measure. </a:t>
            </a:r>
            <a:endParaRPr lang="en-US" dirty="0" smtClean="0"/>
          </a:p>
          <a:p>
            <a:pPr lvl="1"/>
            <a:endParaRPr lang="en-US" dirty="0"/>
          </a:p>
          <a:p>
            <a:r>
              <a:rPr lang="en-US" dirty="0" smtClean="0"/>
              <a:t>The key data collected in the PSP tool are </a:t>
            </a:r>
            <a:r>
              <a:rPr lang="en-US" b="1" dirty="0" smtClean="0"/>
              <a:t>time, defect, and size data </a:t>
            </a:r>
            <a:r>
              <a:rPr lang="en-US" dirty="0" smtClean="0"/>
              <a:t>– </a:t>
            </a:r>
            <a:endParaRPr lang="en-US" dirty="0" smtClean="0"/>
          </a:p>
          <a:p>
            <a:pPr lvl="1"/>
            <a:r>
              <a:rPr lang="en-US" dirty="0" smtClean="0"/>
              <a:t>the time spent in each phase; </a:t>
            </a:r>
            <a:endParaRPr lang="en-US" dirty="0" smtClean="0"/>
          </a:p>
          <a:p>
            <a:pPr lvl="1"/>
            <a:r>
              <a:rPr lang="en-US" dirty="0" smtClean="0"/>
              <a:t>when and where defects were injected, found, and fixed; </a:t>
            </a:r>
            <a:endParaRPr lang="en-US" dirty="0" smtClean="0"/>
          </a:p>
          <a:p>
            <a:pPr lvl="1"/>
            <a:r>
              <a:rPr lang="en-US" dirty="0" smtClean="0"/>
              <a:t>and the size of the product parts. </a:t>
            </a:r>
            <a:endParaRPr lang="en-US" dirty="0" smtClean="0"/>
          </a:p>
          <a:p>
            <a:r>
              <a:rPr lang="en-US" dirty="0" smtClean="0"/>
              <a:t>Software developers use many other measures that are derived from these three basic measures to understand and improve their performance.</a:t>
            </a:r>
            <a:endParaRPr lang="en-US" dirty="0"/>
          </a:p>
        </p:txBody>
      </p:sp>
    </p:spTree>
  </p:cSld>
  <p:clrMapOvr>
    <a:masterClrMapping/>
  </p:clrMapOvr>
  <p:transition>
    <p:wipe dir="d"/>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 ISSUES</a:t>
            </a:r>
            <a:endParaRPr lang="en-US" dirty="0"/>
          </a:p>
        </p:txBody>
      </p:sp>
      <p:sp>
        <p:nvSpPr>
          <p:cNvPr id="2" name="Content Placeholder 1"/>
          <p:cNvSpPr>
            <a:spLocks noGrp="1"/>
          </p:cNvSpPr>
          <p:nvPr>
            <p:ph idx="1"/>
          </p:nvPr>
        </p:nvSpPr>
        <p:spPr/>
        <p:txBody>
          <a:bodyPr>
            <a:normAutofit fontScale="92500" lnSpcReduction="20000"/>
          </a:bodyPr>
          <a:lstStyle/>
          <a:p>
            <a:r>
              <a:rPr lang="en-US" sz="2400" dirty="0" smtClean="0"/>
              <a:t>In small, start-up team, high quality requirement is hard to find</a:t>
            </a:r>
            <a:endParaRPr lang="en-US" sz="2400" dirty="0" smtClean="0"/>
          </a:p>
          <a:p>
            <a:pPr lvl="1"/>
            <a:r>
              <a:rPr lang="en-US" sz="2000" dirty="0" smtClean="0"/>
              <a:t>If the input is in low quality,  how can the quality of PSP be ensured?</a:t>
            </a:r>
            <a:endParaRPr lang="en-US" sz="2000" dirty="0" smtClean="0"/>
          </a:p>
          <a:p>
            <a:r>
              <a:rPr lang="en-US" sz="2400" dirty="0" smtClean="0"/>
              <a:t>Depends on data</a:t>
            </a:r>
            <a:endParaRPr lang="en-US" sz="2400" dirty="0" smtClean="0"/>
          </a:p>
          <a:p>
            <a:pPr lvl="1"/>
            <a:r>
              <a:rPr lang="en-US" sz="2000" dirty="0" smtClean="0"/>
              <a:t>Requires developers to enter data to log various activities</a:t>
            </a:r>
            <a:endParaRPr lang="en-US" sz="2000" dirty="0" smtClean="0"/>
          </a:p>
          <a:p>
            <a:pPr lvl="1"/>
            <a:r>
              <a:rPr lang="en-US" sz="2000" dirty="0" smtClean="0"/>
              <a:t>What if data is missing, or inaccurate?</a:t>
            </a:r>
            <a:endParaRPr lang="en-US" sz="2000" dirty="0" smtClean="0"/>
          </a:p>
          <a:p>
            <a:pPr lvl="1"/>
            <a:r>
              <a:rPr lang="en-US" sz="2000" dirty="0" smtClean="0"/>
              <a:t>Conflict of interest?  </a:t>
            </a:r>
            <a:r>
              <a:rPr lang="en-US" altLang="zh-CN" sz="2000" dirty="0" smtClean="0"/>
              <a:t>Should I honestly record how bad I am?</a:t>
            </a:r>
            <a:endParaRPr lang="en-US" altLang="zh-CN" sz="2000" dirty="0" smtClean="0"/>
          </a:p>
          <a:p>
            <a:r>
              <a:rPr lang="en-US" sz="2400" dirty="0" smtClean="0"/>
              <a:t>Micro-measurement</a:t>
            </a:r>
            <a:endParaRPr lang="en-US" sz="2400" dirty="0" smtClean="0"/>
          </a:p>
          <a:p>
            <a:pPr lvl="1"/>
            <a:r>
              <a:rPr lang="en-US" sz="2000" dirty="0" smtClean="0"/>
              <a:t>Do we need to measure code size everyday? </a:t>
            </a:r>
            <a:endParaRPr lang="en-US" sz="2000" dirty="0" smtClean="0"/>
          </a:p>
          <a:p>
            <a:pPr lvl="1"/>
            <a:r>
              <a:rPr lang="en-US" dirty="0" smtClean="0"/>
              <a:t>Writing your own code vs. re-use, use libraries </a:t>
            </a:r>
            <a:endParaRPr lang="en-US" sz="2000" dirty="0" smtClean="0"/>
          </a:p>
          <a:p>
            <a:pPr lvl="1"/>
            <a:r>
              <a:rPr lang="en-US" dirty="0" smtClean="0"/>
              <a:t>One strong </a:t>
            </a:r>
            <a:r>
              <a:rPr lang="en-US" dirty="0" err="1" smtClean="0"/>
              <a:t>dev</a:t>
            </a:r>
            <a:r>
              <a:rPr lang="en-US" dirty="0" smtClean="0"/>
              <a:t> removed 2000 LOC bad code, what’s his performance?</a:t>
            </a:r>
            <a:endParaRPr lang="en-US" sz="2000" dirty="0" smtClean="0"/>
          </a:p>
          <a:p>
            <a:r>
              <a:rPr lang="en-US" sz="2400" dirty="0" smtClean="0"/>
              <a:t>What’s the end goal?</a:t>
            </a:r>
            <a:endParaRPr lang="en-US" sz="2400" dirty="0" smtClean="0"/>
          </a:p>
          <a:p>
            <a:pPr lvl="1"/>
            <a:r>
              <a:rPr lang="en-US" sz="2000" dirty="0" smtClean="0"/>
              <a:t>Measuring how to effectively execute on a requirement</a:t>
            </a:r>
            <a:endParaRPr lang="en-US" sz="2000" dirty="0" smtClean="0"/>
          </a:p>
          <a:p>
            <a:pPr lvl="1"/>
            <a:r>
              <a:rPr lang="en-US" sz="2000" dirty="0" smtClean="0"/>
              <a:t>NOT measuring how customers are satisfied by the product. </a:t>
            </a:r>
            <a:endParaRPr lang="en-US" sz="2000" dirty="0" smtClean="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2000"/>
                                        <p:tgtEl>
                                          <p:spTgt spid="2">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2">
                                            <p:txEl>
                                              <p:pRg st="6" end="6"/>
                                            </p:txEl>
                                          </p:spTgt>
                                        </p:tgtEl>
                                        <p:attrNameLst>
                                          <p:attrName>style.visibility</p:attrName>
                                        </p:attrNameLst>
                                      </p:cBhvr>
                                      <p:to>
                                        <p:strVal val="visible"/>
                                      </p:to>
                                    </p:set>
                                    <p:animEffect transition="in" filter="fade">
                                      <p:cBhvr>
                                        <p:cTn id="29" dur="2000"/>
                                        <p:tgtEl>
                                          <p:spTgt spid="2">
                                            <p:txEl>
                                              <p:pRg st="6" end="6"/>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fade">
                                      <p:cBhvr>
                                        <p:cTn id="32" dur="2000"/>
                                        <p:tgtEl>
                                          <p:spTgt spid="2">
                                            <p:txEl>
                                              <p:pRg st="7" end="7"/>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Effect transition="in" filter="fade">
                                      <p:cBhvr>
                                        <p:cTn id="35" dur="2000"/>
                                        <p:tgtEl>
                                          <p:spTgt spid="2">
                                            <p:txEl>
                                              <p:pRg st="8" end="8"/>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
                                            <p:txEl>
                                              <p:pRg st="9" end="9"/>
                                            </p:txEl>
                                          </p:spTgt>
                                        </p:tgtEl>
                                        <p:attrNameLst>
                                          <p:attrName>style.visibility</p:attrName>
                                        </p:attrNameLst>
                                      </p:cBhvr>
                                      <p:to>
                                        <p:strVal val="visible"/>
                                      </p:to>
                                    </p:set>
                                    <p:animEffect transition="in" filter="fade">
                                      <p:cBhvr>
                                        <p:cTn id="38" dur="2000"/>
                                        <p:tgtEl>
                                          <p:spTgt spid="2">
                                            <p:txEl>
                                              <p:pRg st="9" end="9"/>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
                                            <p:txEl>
                                              <p:pRg st="10" end="10"/>
                                            </p:txEl>
                                          </p:spTgt>
                                        </p:tgtEl>
                                        <p:attrNameLst>
                                          <p:attrName>style.visibility</p:attrName>
                                        </p:attrNameLst>
                                      </p:cBhvr>
                                      <p:to>
                                        <p:strVal val="visible"/>
                                      </p:to>
                                    </p:set>
                                    <p:animEffect transition="in" filter="fade">
                                      <p:cBhvr>
                                        <p:cTn id="43" dur="2000"/>
                                        <p:tgtEl>
                                          <p:spTgt spid="2">
                                            <p:txEl>
                                              <p:pRg st="10" end="10"/>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
                                            <p:txEl>
                                              <p:pRg st="11" end="11"/>
                                            </p:txEl>
                                          </p:spTgt>
                                        </p:tgtEl>
                                        <p:attrNameLst>
                                          <p:attrName>style.visibility</p:attrName>
                                        </p:attrNameLst>
                                      </p:cBhvr>
                                      <p:to>
                                        <p:strVal val="visible"/>
                                      </p:to>
                                    </p:set>
                                    <p:animEffect transition="in" filter="fade">
                                      <p:cBhvr>
                                        <p:cTn id="46" dur="2000"/>
                                        <p:tgtEl>
                                          <p:spTgt spid="2">
                                            <p:txEl>
                                              <p:pRg st="11" end="11"/>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
                                            <p:txEl>
                                              <p:pRg st="12" end="12"/>
                                            </p:txEl>
                                          </p:spTgt>
                                        </p:tgtEl>
                                        <p:attrNameLst>
                                          <p:attrName>style.visibility</p:attrName>
                                        </p:attrNameLst>
                                      </p:cBhvr>
                                      <p:to>
                                        <p:strVal val="visible"/>
                                      </p:to>
                                    </p:set>
                                    <p:animEffect transition="in" filter="fade">
                                      <p:cBhvr>
                                        <p:cTn id="49" dur="2000"/>
                                        <p:tgtEl>
                                          <p:spTgt spid="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zh-CN" sz="3200" dirty="0" smtClean="0"/>
              <a:t>PSP data (</a:t>
            </a:r>
            <a:r>
              <a:rPr lang="zh-CN" altLang="en-US" sz="3200" dirty="0" smtClean="0"/>
              <a:t>大三学生 </a:t>
            </a:r>
            <a:r>
              <a:rPr lang="en-US" altLang="zh-CN" sz="3200" dirty="0" smtClean="0"/>
              <a:t>vs. </a:t>
            </a:r>
            <a:r>
              <a:rPr lang="zh-CN" altLang="en-US" sz="3200" dirty="0" smtClean="0"/>
              <a:t>工作三年的工程师）</a:t>
            </a:r>
            <a:endParaRPr lang="en-US" sz="3200" dirty="0"/>
          </a:p>
        </p:txBody>
      </p:sp>
      <p:pic>
        <p:nvPicPr>
          <p:cNvPr id="4" name="Content Placeholder 3"/>
          <p:cNvPicPr>
            <a:picLocks noGrp="1" noChangeAspect="1"/>
          </p:cNvPicPr>
          <p:nvPr>
            <p:ph idx="1"/>
          </p:nvPr>
        </p:nvPicPr>
        <p:blipFill>
          <a:blip r:embed="rId1"/>
          <a:stretch>
            <a:fillRect/>
          </a:stretch>
        </p:blipFill>
        <p:spPr>
          <a:xfrm>
            <a:off x="1558987" y="1752600"/>
            <a:ext cx="6026026" cy="462597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续表</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1"/>
          <a:stretch>
            <a:fillRect/>
          </a:stretch>
        </p:blipFill>
        <p:spPr>
          <a:xfrm>
            <a:off x="457200" y="2813110"/>
            <a:ext cx="8229600" cy="254976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大三 </a:t>
            </a:r>
            <a:r>
              <a:rPr lang="en-US" altLang="zh-CN" dirty="0" smtClean="0"/>
              <a:t>vs. </a:t>
            </a:r>
            <a:r>
              <a:rPr lang="zh-CN" altLang="en-US" dirty="0" smtClean="0"/>
              <a:t>研究生毕业</a:t>
            </a:r>
            <a:r>
              <a:rPr lang="en-US" altLang="zh-CN" dirty="0" smtClean="0"/>
              <a:t>+</a:t>
            </a:r>
            <a:r>
              <a:rPr lang="zh-CN" altLang="en-US" dirty="0" smtClean="0"/>
              <a:t>工作三年</a:t>
            </a:r>
            <a:endParaRPr lang="en-US" dirty="0"/>
          </a:p>
        </p:txBody>
      </p:sp>
      <p:sp>
        <p:nvSpPr>
          <p:cNvPr id="3" name="Content Placeholder 2"/>
          <p:cNvSpPr>
            <a:spLocks noGrp="1"/>
          </p:cNvSpPr>
          <p:nvPr>
            <p:ph idx="1"/>
          </p:nvPr>
        </p:nvSpPr>
        <p:spPr/>
        <p:txBody>
          <a:bodyPr>
            <a:normAutofit/>
          </a:bodyPr>
          <a:lstStyle/>
          <a:p>
            <a:pPr marL="118745" indent="0">
              <a:buNone/>
            </a:pPr>
            <a:r>
              <a:rPr lang="zh-CN" altLang="en-US" sz="2000" dirty="0"/>
              <a:t>软件工程师比大四学生多读了 </a:t>
            </a:r>
            <a:r>
              <a:rPr lang="en-US" altLang="zh-CN" sz="2000" dirty="0"/>
              <a:t>3 </a:t>
            </a:r>
            <a:r>
              <a:rPr lang="zh-CN" altLang="en-US" sz="2000" dirty="0"/>
              <a:t>年书</a:t>
            </a:r>
            <a:r>
              <a:rPr lang="en-US" altLang="zh-CN" sz="2000" dirty="0"/>
              <a:t>, </a:t>
            </a:r>
            <a:r>
              <a:rPr lang="zh-CN" altLang="en-US" sz="2000" dirty="0"/>
              <a:t>多工作了</a:t>
            </a:r>
            <a:r>
              <a:rPr lang="en-US" altLang="zh-CN" sz="2000" dirty="0"/>
              <a:t>3 </a:t>
            </a:r>
            <a:r>
              <a:rPr lang="zh-CN" altLang="en-US" sz="2000" dirty="0"/>
              <a:t>年，两类人任务的质量要求</a:t>
            </a:r>
            <a:r>
              <a:rPr lang="zh-CN" altLang="en-US" sz="2000" dirty="0" smtClean="0"/>
              <a:t>也不</a:t>
            </a:r>
            <a:r>
              <a:rPr lang="zh-CN" altLang="en-US" sz="2000" dirty="0"/>
              <a:t>一样</a:t>
            </a:r>
            <a:r>
              <a:rPr lang="zh-CN" altLang="en-US" sz="2000" dirty="0" smtClean="0"/>
              <a:t>。</a:t>
            </a:r>
            <a:endParaRPr lang="en-US" altLang="zh-CN" sz="2000" dirty="0" smtClean="0"/>
          </a:p>
          <a:p>
            <a:r>
              <a:rPr lang="zh-CN" altLang="en-US" sz="2000" dirty="0" smtClean="0"/>
              <a:t>工</a:t>
            </a:r>
            <a:r>
              <a:rPr lang="zh-CN" altLang="en-US" sz="2000" dirty="0"/>
              <a:t>程师</a:t>
            </a:r>
            <a:r>
              <a:rPr lang="zh-CN" altLang="en-US" sz="2000" dirty="0" smtClean="0"/>
              <a:t>在 “</a:t>
            </a:r>
            <a:r>
              <a:rPr lang="zh-CN" altLang="en-US" sz="2000" dirty="0"/>
              <a:t>需求分析</a:t>
            </a:r>
            <a:r>
              <a:rPr lang="zh-CN" altLang="en-US" sz="2000" dirty="0" smtClean="0"/>
              <a:t>” 和 “</a:t>
            </a:r>
            <a:r>
              <a:rPr lang="zh-CN" altLang="en-US" sz="2000" dirty="0"/>
              <a:t>测试</a:t>
            </a:r>
            <a:r>
              <a:rPr lang="zh-CN" altLang="en-US" sz="2000" dirty="0" smtClean="0"/>
              <a:t>” 这</a:t>
            </a:r>
            <a:r>
              <a:rPr lang="zh-CN" altLang="en-US" sz="2000" dirty="0"/>
              <a:t>两方面明显地要花</a:t>
            </a:r>
            <a:r>
              <a:rPr lang="zh-CN" altLang="en-US" sz="2000" dirty="0" smtClean="0"/>
              <a:t>更多</a:t>
            </a:r>
            <a:r>
              <a:rPr lang="zh-CN" altLang="en-US" sz="2000" dirty="0"/>
              <a:t>的时间（多 </a:t>
            </a:r>
            <a:r>
              <a:rPr lang="en-US" altLang="zh-CN" sz="2000" dirty="0"/>
              <a:t>60% </a:t>
            </a:r>
            <a:r>
              <a:rPr lang="zh-CN" altLang="en-US" sz="2000" dirty="0"/>
              <a:t>以上）；但是在具体编码上</a:t>
            </a:r>
            <a:r>
              <a:rPr lang="en-US" altLang="zh-CN" sz="2000" dirty="0"/>
              <a:t>, </a:t>
            </a:r>
            <a:r>
              <a:rPr lang="zh-CN" altLang="en-US" sz="2000" dirty="0"/>
              <a:t>工程师比学生 要少花</a:t>
            </a:r>
            <a:r>
              <a:rPr lang="en-US" altLang="zh-CN" sz="2000" dirty="0"/>
              <a:t>1/3 </a:t>
            </a:r>
            <a:r>
              <a:rPr lang="zh-CN" altLang="en-US" sz="2000" dirty="0"/>
              <a:t>强</a:t>
            </a:r>
            <a:r>
              <a:rPr lang="zh-CN" altLang="en-US" sz="2000" dirty="0" smtClean="0"/>
              <a:t>的时</a:t>
            </a:r>
            <a:r>
              <a:rPr lang="zh-CN" altLang="en-US" sz="2000" dirty="0"/>
              <a:t>间</a:t>
            </a:r>
            <a:r>
              <a:rPr lang="zh-CN" altLang="en-US" sz="2000" dirty="0" smtClean="0"/>
              <a:t>。</a:t>
            </a:r>
            <a:endParaRPr lang="en-US" altLang="zh-CN" sz="2000" dirty="0" smtClean="0"/>
          </a:p>
          <a:p>
            <a:r>
              <a:rPr lang="zh-CN" altLang="en-US" sz="2000" dirty="0" smtClean="0"/>
              <a:t>显</a:t>
            </a:r>
            <a:r>
              <a:rPr lang="zh-CN" altLang="en-US" sz="2000" dirty="0"/>
              <a:t>然</a:t>
            </a:r>
            <a:r>
              <a:rPr lang="en-US" altLang="zh-CN" sz="2000" dirty="0"/>
              <a:t>, </a:t>
            </a:r>
            <a:r>
              <a:rPr lang="zh-CN" altLang="en-US" sz="2000" dirty="0"/>
              <a:t>从学生到职业程序员</a:t>
            </a:r>
            <a:r>
              <a:rPr lang="en-US" altLang="zh-CN" sz="2000" dirty="0"/>
              <a:t>, </a:t>
            </a:r>
            <a:r>
              <a:rPr lang="zh-CN" altLang="en-US" sz="2000" dirty="0"/>
              <a:t>并不是更加没完没了地写程序</a:t>
            </a:r>
            <a:r>
              <a:rPr lang="en-US" altLang="zh-CN" sz="2000" dirty="0"/>
              <a:t>——</a:t>
            </a:r>
            <a:r>
              <a:rPr lang="zh-CN" altLang="en-US" sz="2000" dirty="0"/>
              <a:t>花在写代</a:t>
            </a:r>
            <a:r>
              <a:rPr lang="zh-CN" altLang="en-US" sz="2000" dirty="0" smtClean="0"/>
              <a:t>码上的</a:t>
            </a:r>
            <a:r>
              <a:rPr lang="zh-CN" altLang="en-US" sz="2000" dirty="0"/>
              <a:t>时间反而少了许多</a:t>
            </a:r>
            <a:r>
              <a:rPr lang="zh-CN" altLang="en-US" sz="2000" dirty="0" smtClean="0"/>
              <a:t>。</a:t>
            </a:r>
            <a:endParaRPr lang="en-US" altLang="zh-CN" sz="2000" dirty="0" smtClean="0"/>
          </a:p>
          <a:p>
            <a:endParaRPr lang="en-US" sz="2000" dirty="0"/>
          </a:p>
          <a:p>
            <a:pPr marL="118745" indent="0">
              <a:buNone/>
            </a:pPr>
            <a:r>
              <a:rPr lang="zh-CN" altLang="en-US" sz="2000" dirty="0"/>
              <a:t>请同学</a:t>
            </a:r>
            <a:r>
              <a:rPr lang="zh-CN" altLang="en-US" sz="2000" dirty="0" smtClean="0"/>
              <a:t>们汇报自己在写个人项目时候的时间分布，发布到博客上。</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 ISSUES </a:t>
            </a:r>
            <a:r>
              <a:rPr lang="en-US" altLang="zh-CN" dirty="0" smtClean="0"/>
              <a:t>(cont.)</a:t>
            </a:r>
            <a:endParaRPr lang="en-US" dirty="0"/>
          </a:p>
        </p:txBody>
      </p:sp>
      <p:sp>
        <p:nvSpPr>
          <p:cNvPr id="2" name="Content Placeholder 1"/>
          <p:cNvSpPr>
            <a:spLocks noGrp="1"/>
          </p:cNvSpPr>
          <p:nvPr>
            <p:ph idx="1"/>
          </p:nvPr>
        </p:nvSpPr>
        <p:spPr/>
        <p:txBody>
          <a:bodyPr>
            <a:normAutofit/>
          </a:bodyPr>
          <a:lstStyle/>
          <a:p>
            <a:r>
              <a:rPr lang="en-US" altLang="zh-CN" sz="2200" dirty="0" smtClean="0"/>
              <a:t>How do you measure efficiency?</a:t>
            </a:r>
            <a:endParaRPr lang="en-US" altLang="zh-CN" sz="2200" dirty="0" smtClean="0"/>
          </a:p>
          <a:p>
            <a:pPr lvl="1"/>
            <a:r>
              <a:rPr lang="zh-CN" altLang="en-US" sz="2200" dirty="0" smtClean="0"/>
              <a:t>一群人把一堆砖头从</a:t>
            </a:r>
            <a:r>
              <a:rPr lang="en-US" altLang="zh-CN" sz="2200" dirty="0" smtClean="0"/>
              <a:t>A</a:t>
            </a:r>
            <a:r>
              <a:rPr lang="zh-CN" altLang="en-US" sz="2200" dirty="0" smtClean="0"/>
              <a:t>地搬到</a:t>
            </a:r>
            <a:r>
              <a:rPr lang="en-US" altLang="zh-CN" sz="2200" dirty="0" smtClean="0"/>
              <a:t>B</a:t>
            </a:r>
            <a:r>
              <a:rPr lang="zh-CN" altLang="en-US" sz="2200" dirty="0" smtClean="0"/>
              <a:t>地。</a:t>
            </a:r>
            <a:endParaRPr lang="en-US" altLang="zh-CN" sz="2200" dirty="0" smtClean="0"/>
          </a:p>
          <a:p>
            <a:pPr lvl="1"/>
            <a:r>
              <a:rPr lang="zh-CN" altLang="en-US" sz="2200" dirty="0" smtClean="0"/>
              <a:t>一个剧组排演话剧</a:t>
            </a:r>
            <a:endParaRPr lang="en-US" altLang="zh-CN" sz="2200" dirty="0" smtClean="0"/>
          </a:p>
          <a:p>
            <a:pPr lvl="1"/>
            <a:r>
              <a:rPr lang="zh-CN" altLang="en-US" sz="2200" dirty="0" smtClean="0"/>
              <a:t>一群画家一起创作 </a:t>
            </a:r>
            <a:r>
              <a:rPr lang="en-US" altLang="zh-CN" sz="2200" dirty="0" smtClean="0"/>
              <a:t>“</a:t>
            </a:r>
            <a:r>
              <a:rPr lang="zh-CN" altLang="en-US" sz="2200" dirty="0" smtClean="0"/>
              <a:t>百里长城图”</a:t>
            </a:r>
            <a:endParaRPr lang="en-US" altLang="zh-CN" sz="2200" dirty="0" smtClean="0"/>
          </a:p>
          <a:p>
            <a:pPr lvl="1"/>
            <a:r>
              <a:rPr lang="zh-CN" altLang="en-US" sz="2200" dirty="0" smtClean="0"/>
              <a:t>一群队员在职业球队踢球</a:t>
            </a:r>
            <a:endParaRPr lang="en-US" altLang="zh-CN" sz="2200" dirty="0" smtClean="0"/>
          </a:p>
          <a:p>
            <a:pPr lvl="1"/>
            <a:r>
              <a:rPr lang="zh-CN" altLang="en-US" sz="2200" dirty="0" smtClean="0"/>
              <a:t>一群医生</a:t>
            </a:r>
            <a:r>
              <a:rPr lang="en-US" altLang="zh-CN" sz="2200" dirty="0" smtClean="0"/>
              <a:t>/</a:t>
            </a:r>
            <a:r>
              <a:rPr lang="zh-CN" altLang="en-US" sz="2200" dirty="0" smtClean="0"/>
              <a:t>护士轮流值夜班</a:t>
            </a:r>
            <a:endParaRPr lang="en-US" altLang="zh-CN" sz="2200" dirty="0" smtClean="0"/>
          </a:p>
          <a:p>
            <a:pPr lvl="1"/>
            <a:r>
              <a:rPr lang="zh-CN" altLang="en-US" sz="2200" dirty="0" smtClean="0"/>
              <a:t>一群老师教一个系中不同的课</a:t>
            </a:r>
            <a:endParaRPr lang="en-US" altLang="zh-CN" sz="2200" dirty="0" smtClean="0"/>
          </a:p>
          <a:p>
            <a:pPr lvl="1"/>
            <a:r>
              <a:rPr lang="zh-CN" altLang="en-US" sz="2200" dirty="0" smtClean="0"/>
              <a:t>一群学生做软工项目</a:t>
            </a:r>
            <a:endParaRPr lang="en-US" altLang="zh-CN" sz="2200" dirty="0" smtClean="0"/>
          </a:p>
          <a:p>
            <a:pPr>
              <a:buNone/>
            </a:pPr>
            <a:endParaRPr lang="en-US" altLang="zh-CN" sz="2400" dirty="0" smtClean="0"/>
          </a:p>
          <a:p>
            <a:pPr>
              <a:buNone/>
            </a:pPr>
            <a:r>
              <a:rPr lang="zh-CN" altLang="en-US" sz="2400" dirty="0" smtClean="0"/>
              <a:t>如何衡量个人在各自团队的效率？</a:t>
            </a:r>
            <a:br>
              <a:rPr lang="zh-CN" altLang="en-US" sz="2400" dirty="0" smtClean="0"/>
            </a:b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
                                            <p:txEl>
                                              <p:pRg st="3" end="3"/>
                                            </p:txEl>
                                          </p:spTgt>
                                        </p:tgtEl>
                                        <p:attrNameLst>
                                          <p:attrName>style.visibility</p:attrName>
                                        </p:attrNameLst>
                                      </p:cBhvr>
                                      <p:to>
                                        <p:strVal val="visible"/>
                                      </p:to>
                                    </p:set>
                                    <p:animEffect transition="in" filter="fade">
                                      <p:cBhvr>
                                        <p:cTn id="16" dur="2000"/>
                                        <p:tgtEl>
                                          <p:spTgt spid="2">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2000"/>
                                        <p:tgtEl>
                                          <p:spTgt spid="2">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fade">
                                      <p:cBhvr>
                                        <p:cTn id="22" dur="2000"/>
                                        <p:tgtEl>
                                          <p:spTgt spid="2">
                                            <p:txEl>
                                              <p:pRg st="5" end="5"/>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animEffect transition="in" filter="fade">
                                      <p:cBhvr>
                                        <p:cTn id="25" dur="2000"/>
                                        <p:tgtEl>
                                          <p:spTgt spid="2">
                                            <p:txEl>
                                              <p:pRg st="6" end="6"/>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7" end="7"/>
                                            </p:txEl>
                                          </p:spTgt>
                                        </p:tgtEl>
                                        <p:attrNameLst>
                                          <p:attrName>style.visibility</p:attrName>
                                        </p:attrNameLst>
                                      </p:cBhvr>
                                      <p:to>
                                        <p:strVal val="visible"/>
                                      </p:to>
                                    </p:set>
                                    <p:animEffect transition="in" filter="fade">
                                      <p:cBhvr>
                                        <p:cTn id="28" dur="2000"/>
                                        <p:tgtEl>
                                          <p:spTgt spid="2">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xEl>
                                              <p:pRg st="9" end="9"/>
                                            </p:txEl>
                                          </p:spTgt>
                                        </p:tgtEl>
                                        <p:attrNameLst>
                                          <p:attrName>style.visibility</p:attrName>
                                        </p:attrNameLst>
                                      </p:cBhvr>
                                      <p:to>
                                        <p:strVal val="visible"/>
                                      </p:to>
                                    </p:set>
                                    <p:animEffect transition="in" filter="fade">
                                      <p:cBhvr>
                                        <p:cTn id="33" dur="20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PSP ISSUES </a:t>
            </a:r>
            <a:r>
              <a:rPr lang="en-US" altLang="zh-CN" dirty="0" smtClean="0"/>
              <a:t>(cont.)</a:t>
            </a:r>
            <a:endParaRPr lang="en-US" dirty="0"/>
          </a:p>
        </p:txBody>
      </p:sp>
      <p:sp>
        <p:nvSpPr>
          <p:cNvPr id="2" name="Content Placeholder 1"/>
          <p:cNvSpPr>
            <a:spLocks noGrp="1"/>
          </p:cNvSpPr>
          <p:nvPr>
            <p:ph idx="1"/>
          </p:nvPr>
        </p:nvSpPr>
        <p:spPr/>
        <p:txBody>
          <a:bodyPr>
            <a:normAutofit/>
          </a:bodyPr>
          <a:lstStyle/>
          <a:p>
            <a:r>
              <a:rPr lang="en-US" altLang="zh-CN" sz="2200" dirty="0" smtClean="0"/>
              <a:t>How do you measure creativity?</a:t>
            </a:r>
            <a:endParaRPr lang="en-US" altLang="zh-CN" sz="2200" dirty="0" smtClean="0"/>
          </a:p>
          <a:p>
            <a:pPr lvl="1"/>
            <a:r>
              <a:rPr lang="zh-CN" altLang="en-US" sz="2000" dirty="0" smtClean="0"/>
              <a:t>写诗歌最多的人是谁</a:t>
            </a:r>
            <a:r>
              <a:rPr lang="en-US" altLang="zh-CN" sz="2000" dirty="0" smtClean="0"/>
              <a:t>? </a:t>
            </a:r>
            <a:endParaRPr lang="en-US" altLang="zh-CN" sz="2000" dirty="0" smtClean="0"/>
          </a:p>
          <a:p>
            <a:pPr lvl="1"/>
            <a:r>
              <a:rPr lang="zh-CN" altLang="en-US" sz="2000" dirty="0" smtClean="0"/>
              <a:t>最有创造力的诗人是谁</a:t>
            </a:r>
            <a:r>
              <a:rPr lang="en-US" altLang="zh-CN" sz="2000" dirty="0" smtClean="0"/>
              <a:t>? </a:t>
            </a:r>
            <a:endParaRPr lang="en-US" altLang="zh-CN" sz="2000" dirty="0" smtClean="0"/>
          </a:p>
          <a:p>
            <a:r>
              <a:rPr lang="en-US" altLang="zh-CN" sz="2200" dirty="0" smtClean="0"/>
              <a:t>Is software Art or Engineering?</a:t>
            </a:r>
            <a:endParaRPr lang="en-US" altLang="zh-CN" sz="2200" dirty="0" smtClean="0"/>
          </a:p>
          <a:p>
            <a:pPr lvl="1"/>
            <a:r>
              <a:rPr lang="en-US" altLang="zh-CN" sz="2000" dirty="0" smtClean="0"/>
              <a:t>How do you measure an Artist?   </a:t>
            </a:r>
            <a:endParaRPr lang="en-US" altLang="zh-CN" sz="2000" dirty="0" smtClean="0"/>
          </a:p>
          <a:p>
            <a:pPr lvl="1"/>
            <a:r>
              <a:rPr lang="en-US" altLang="zh-CN" sz="2000" dirty="0" smtClean="0"/>
              <a:t>&lt;</a:t>
            </a:r>
            <a:r>
              <a:rPr lang="zh-CN" altLang="en-US" sz="2000" dirty="0" smtClean="0"/>
              <a:t>红楼梦</a:t>
            </a:r>
            <a:r>
              <a:rPr lang="en-US" altLang="zh-CN" sz="2000" dirty="0" smtClean="0"/>
              <a:t>&gt; by </a:t>
            </a:r>
            <a:r>
              <a:rPr lang="zh-CN" altLang="en-US" sz="2000" dirty="0" smtClean="0"/>
              <a:t>曹雪芹</a:t>
            </a:r>
            <a:endParaRPr lang="en-US" sz="2000"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fade">
                                      <p:cBhvr>
                                        <p:cTn id="10" dur="2000"/>
                                        <p:tgtEl>
                                          <p:spTgt spid="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Effect transition="in" filter="fade">
                                      <p:cBhvr>
                                        <p:cTn id="13" dur="2000"/>
                                        <p:tgtEl>
                                          <p:spTgt spid="2">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2">
                                            <p:txEl>
                                              <p:pRg st="3" end="3"/>
                                            </p:txEl>
                                          </p:spTgt>
                                        </p:tgtEl>
                                        <p:attrNameLst>
                                          <p:attrName>style.visibility</p:attrName>
                                        </p:attrNameLst>
                                      </p:cBhvr>
                                      <p:to>
                                        <p:strVal val="visible"/>
                                      </p:to>
                                    </p:set>
                                    <p:animEffect transition="in" filter="fade">
                                      <p:cBhvr>
                                        <p:cTn id="18" dur="2000"/>
                                        <p:tgtEl>
                                          <p:spTgt spid="2">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2000"/>
                                        <p:tgtEl>
                                          <p:spTgt spid="2">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
                                            <p:txEl>
                                              <p:pRg st="5" end="5"/>
                                            </p:txEl>
                                          </p:spTgt>
                                        </p:tgtEl>
                                        <p:attrNameLst>
                                          <p:attrName>style.visibility</p:attrName>
                                        </p:attrNameLst>
                                      </p:cBhvr>
                                      <p:to>
                                        <p:strVal val="visible"/>
                                      </p:to>
                                    </p:set>
                                    <p:animEffect transition="in" filter="fade">
                                      <p:cBhvr>
                                        <p:cTn id="24" dur="20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Art vs. Follow the rules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zh-CN" altLang="en-US" sz="2400" dirty="0" smtClean="0">
                <a:latin typeface="微软雅黑" panose="020B0503020204020204" charset="-122"/>
                <a:ea typeface="微软雅黑" panose="020B0503020204020204" charset="-122"/>
              </a:rPr>
              <a:t>念奴娇 </a:t>
            </a:r>
            <a:r>
              <a:rPr lang="en-US" altLang="zh-CN" sz="2400" dirty="0" smtClean="0">
                <a:latin typeface="微软雅黑" panose="020B0503020204020204" charset="-122"/>
                <a:ea typeface="微软雅黑" panose="020B0503020204020204" charset="-122"/>
              </a:rPr>
              <a:t>· </a:t>
            </a:r>
            <a:r>
              <a:rPr lang="zh-CN" altLang="en-US" sz="2400" dirty="0" smtClean="0">
                <a:latin typeface="微软雅黑" panose="020B0503020204020204" charset="-122"/>
                <a:ea typeface="微软雅黑" panose="020B0503020204020204" charset="-122"/>
              </a:rPr>
              <a:t>赤壁怀古 </a:t>
            </a:r>
            <a:br>
              <a:rPr lang="zh-CN" altLang="en-US" dirty="0" smtClean="0">
                <a:latin typeface="微软雅黑" panose="020B0503020204020204" charset="-122"/>
                <a:ea typeface="微软雅黑" panose="020B0503020204020204" charset="-122"/>
              </a:rPr>
            </a:br>
            <a:br>
              <a:rPr lang="zh-CN" altLang="en-US"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大江东去，浪淘尽，</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千古风流人物。</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故垒西边，人道是，三国周郎赤壁。</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乱石崩云，惊涛裂岸，卷起千堆雪。</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江山如画，一时多少豪杰。</a:t>
            </a:r>
            <a:br>
              <a:rPr lang="zh-CN" altLang="en-US" sz="2200" dirty="0" smtClean="0">
                <a:latin typeface="微软雅黑" panose="020B0503020204020204" charset="-122"/>
                <a:ea typeface="微软雅黑" panose="020B0503020204020204" charset="-122"/>
              </a:rPr>
            </a:b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遥想公谨当年，小乔初嫁了。</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羽扇纶巾，谈笑间，樯橹灰飞烟灭。</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故国神游，多情应笑我，早生华发。</a:t>
            </a:r>
            <a:br>
              <a:rPr lang="zh-CN" altLang="en-US" sz="2200" dirty="0" smtClean="0">
                <a:latin typeface="微软雅黑" panose="020B0503020204020204" charset="-122"/>
                <a:ea typeface="微软雅黑" panose="020B0503020204020204" charset="-122"/>
              </a:rPr>
            </a:br>
            <a:r>
              <a:rPr lang="zh-CN" altLang="en-US" sz="2200" dirty="0" smtClean="0">
                <a:latin typeface="微软雅黑" panose="020B0503020204020204" charset="-122"/>
                <a:ea typeface="微软雅黑" panose="020B0503020204020204" charset="-122"/>
              </a:rPr>
              <a:t>人生如梦，一樽还酹江月。</a:t>
            </a:r>
            <a:endParaRPr lang="en-US" altLang="zh-CN" sz="2200" dirty="0" smtClean="0">
              <a:latin typeface="微软雅黑" panose="020B0503020204020204" charset="-122"/>
              <a:ea typeface="微软雅黑" panose="020B0503020204020204" charset="-122"/>
            </a:endParaRPr>
          </a:p>
          <a:p>
            <a:pPr>
              <a:buNone/>
            </a:pPr>
            <a:r>
              <a:rPr lang="en-US" altLang="zh-CN" sz="2200" dirty="0" smtClean="0"/>
              <a:t>-----------------</a:t>
            </a:r>
            <a:endParaRPr lang="en-US" altLang="zh-CN" sz="2200" dirty="0" smtClean="0"/>
          </a:p>
          <a:p>
            <a:pPr>
              <a:buNone/>
            </a:pPr>
            <a:r>
              <a:rPr lang="zh-CN" altLang="en-US" sz="2200" dirty="0" smtClean="0"/>
              <a:t>找出上面重复的字</a:t>
            </a:r>
            <a:endParaRPr lang="en-US" altLang="zh-CN" sz="2200" dirty="0" smtClean="0"/>
          </a:p>
          <a:p>
            <a:pPr>
              <a:buNone/>
            </a:pPr>
            <a:r>
              <a:rPr lang="en-US" altLang="zh-CN" sz="2200" dirty="0" smtClean="0"/>
              <a:t>-----------------</a:t>
            </a:r>
            <a:endParaRPr lang="en-US" altLang="zh-CN" sz="2200" dirty="0" smtClean="0"/>
          </a:p>
          <a:p>
            <a:pPr>
              <a:buNone/>
            </a:pPr>
            <a:r>
              <a:rPr lang="en-US" altLang="zh-CN" sz="2200" dirty="0" smtClean="0"/>
              <a:t>[</a:t>
            </a:r>
            <a:r>
              <a:rPr lang="zh-CN" altLang="en-US" sz="2200" dirty="0" smtClean="0"/>
              <a:t>南宋</a:t>
            </a:r>
            <a:r>
              <a:rPr lang="en-US" altLang="zh-CN" sz="2200" dirty="0" smtClean="0"/>
              <a:t>]</a:t>
            </a:r>
            <a:r>
              <a:rPr lang="zh-CN" altLang="en-US" sz="2200" dirty="0" smtClean="0"/>
              <a:t>俞文豹：今人看人文字，未论其大体如何，先且指点重字。 </a:t>
            </a:r>
            <a:endParaRPr lang="en-US"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What is SE</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dirty="0" smtClean="0"/>
              <a:t>Which role is corresponding to software engineer?</a:t>
            </a:r>
            <a:endParaRPr lang="en-US" altLang="zh-CN" dirty="0" smtClean="0"/>
          </a:p>
          <a:p>
            <a:pPr lvl="1"/>
            <a:r>
              <a:rPr lang="zh-CN" altLang="en-US" dirty="0" smtClean="0">
                <a:latin typeface="微软雅黑" panose="020B0503020204020204" charset="-122"/>
                <a:ea typeface="微软雅黑" panose="020B0503020204020204" charset="-122"/>
              </a:rPr>
              <a:t>房地产老板</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投标，买地</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建筑设计师</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设计建筑</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土木工程师</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设计土木结构</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建筑工人</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具体建设</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工程监理</a:t>
            </a:r>
            <a:endParaRPr lang="en-US" altLang="zh-CN" dirty="0" smtClean="0">
              <a:latin typeface="微软雅黑" panose="020B0503020204020204" charset="-122"/>
              <a:ea typeface="微软雅黑" panose="020B0503020204020204" charset="-122"/>
            </a:endParaRPr>
          </a:p>
          <a:p>
            <a:pPr lvl="2"/>
            <a:r>
              <a:rPr lang="zh-CN" altLang="en-US" dirty="0" smtClean="0">
                <a:latin typeface="微软雅黑" panose="020B0503020204020204" charset="-122"/>
                <a:ea typeface="微软雅黑" panose="020B0503020204020204" charset="-122"/>
              </a:rPr>
              <a:t>监管质量</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装修工人</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楼房销售</a:t>
            </a:r>
            <a:endParaRPr lang="en-US" altLang="zh-CN" dirty="0" smtClean="0">
              <a:latin typeface="微软雅黑" panose="020B0503020204020204" charset="-122"/>
              <a:ea typeface="微软雅黑" panose="020B0503020204020204" charset="-122"/>
            </a:endParaRPr>
          </a:p>
          <a:p>
            <a:pPr lvl="1"/>
            <a:r>
              <a:rPr lang="zh-CN" altLang="en-US" dirty="0" smtClean="0">
                <a:latin typeface="微软雅黑" panose="020B0503020204020204" charset="-122"/>
                <a:ea typeface="微软雅黑" panose="020B0503020204020204" charset="-122"/>
              </a:rPr>
              <a:t>楼房中介</a:t>
            </a:r>
            <a:endParaRPr lang="en-US" altLang="zh-CN" dirty="0" smtClean="0">
              <a:latin typeface="微软雅黑" panose="020B0503020204020204" charset="-122"/>
              <a:ea typeface="微软雅黑" panose="020B0503020204020204" charset="-122"/>
            </a:endParaRPr>
          </a:p>
          <a:p>
            <a:r>
              <a:rPr lang="en-US" altLang="zh-CN" dirty="0" smtClean="0"/>
              <a:t>Should software engineering include elements of art?</a:t>
            </a:r>
            <a:endParaRPr lang="en-US" altLang="zh-CN" dirty="0" smtClean="0">
              <a:latin typeface="微软雅黑" panose="020B0503020204020204" charset="-122"/>
              <a:ea typeface="微软雅黑" panose="020B0503020204020204" charset="-122"/>
            </a:endParaRPr>
          </a:p>
        </p:txBody>
      </p:sp>
      <p:sp>
        <p:nvSpPr>
          <p:cNvPr id="4" name="Right Bracket 3"/>
          <p:cNvSpPr/>
          <p:nvPr/>
        </p:nvSpPr>
        <p:spPr>
          <a:xfrm>
            <a:off x="3733800" y="2438400"/>
            <a:ext cx="1188720" cy="2514600"/>
          </a:xfrm>
          <a:prstGeom prst="rightBracket">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p:cNvSpPr txBox="1"/>
          <p:nvPr/>
        </p:nvSpPr>
        <p:spPr>
          <a:xfrm>
            <a:off x="5181600" y="3352800"/>
            <a:ext cx="2819400" cy="646331"/>
          </a:xfrm>
          <a:prstGeom prst="rect">
            <a:avLst/>
          </a:prstGeom>
          <a:noFill/>
        </p:spPr>
        <p:txBody>
          <a:bodyPr wrap="square" rtlCol="0">
            <a:spAutoFit/>
          </a:bodyPr>
          <a:lstStyle/>
          <a:p>
            <a:r>
              <a:rPr lang="zh-CN" altLang="en-US" dirty="0" smtClean="0"/>
              <a:t>软件工程师</a:t>
            </a:r>
            <a:r>
              <a:rPr lang="en-US" altLang="zh-CN" dirty="0" smtClean="0"/>
              <a:t>/</a:t>
            </a:r>
            <a:r>
              <a:rPr lang="zh-CN" altLang="en-US" dirty="0" smtClean="0"/>
              <a:t>码农</a:t>
            </a:r>
            <a:r>
              <a:rPr lang="en-US" altLang="zh-CN" dirty="0"/>
              <a:t> </a:t>
            </a:r>
            <a:endParaRPr lang="en-US" altLang="zh-CN" dirty="0"/>
          </a:p>
          <a:p>
            <a:r>
              <a:rPr lang="zh-CN" altLang="en-US" dirty="0" smtClean="0"/>
              <a:t>要做的事情</a:t>
            </a:r>
            <a:endParaRPr lang="en-US" dirty="0"/>
          </a:p>
        </p:txBody>
      </p:sp>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gtEl>
                                        <p:attrNameLst>
                                          <p:attrName>style.visibility</p:attrName>
                                        </p:attrNameLst>
                                      </p:cBhvr>
                                      <p:to>
                                        <p:strVal val="visible"/>
                                      </p:to>
                                    </p:set>
                                    <p:animEffect transition="in" filter="fade">
                                      <p:cBhvr>
                                        <p:cTn id="77" dur="2000"/>
                                        <p:tgtEl>
                                          <p:spTgt spid="4"/>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
                                            <p:txEl>
                                              <p:pRg st="14" end="14"/>
                                            </p:txEl>
                                          </p:spTgt>
                                        </p:tgtEl>
                                        <p:attrNameLst>
                                          <p:attrName>style.visibility</p:attrName>
                                        </p:attrNameLst>
                                      </p:cBhvr>
                                      <p:to>
                                        <p:strVal val="visible"/>
                                      </p:to>
                                    </p:set>
                                    <p:animEffect transition="in" filter="fade">
                                      <p:cBhvr>
                                        <p:cTn id="86"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Pragmatic </a:t>
            </a:r>
            <a:r>
              <a:rPr lang="en-US" dirty="0"/>
              <a:t>A</a:t>
            </a:r>
            <a:r>
              <a:rPr lang="en-US" dirty="0" smtClean="0"/>
              <a:t>pproach</a:t>
            </a:r>
            <a:endParaRPr lang="en-US" dirty="0"/>
          </a:p>
        </p:txBody>
      </p:sp>
      <p:sp>
        <p:nvSpPr>
          <p:cNvPr id="2" name="Content Placeholder 1"/>
          <p:cNvSpPr>
            <a:spLocks noGrp="1"/>
          </p:cNvSpPr>
          <p:nvPr>
            <p:ph idx="1"/>
          </p:nvPr>
        </p:nvSpPr>
        <p:spPr>
          <a:xfrm>
            <a:off x="457200" y="1600200"/>
            <a:ext cx="4191000" cy="4876800"/>
          </a:xfrm>
        </p:spPr>
        <p:txBody>
          <a:bodyPr>
            <a:noAutofit/>
          </a:bodyPr>
          <a:lstStyle/>
          <a:p>
            <a:r>
              <a:rPr lang="en-US" sz="2000" dirty="0" smtClean="0"/>
              <a:t>Book </a:t>
            </a:r>
            <a:r>
              <a:rPr lang="en-US" altLang="zh-CN" sz="2000" dirty="0" smtClean="0"/>
              <a:t>-</a:t>
            </a:r>
            <a:r>
              <a:rPr lang="en-US" sz="2000" dirty="0" smtClean="0"/>
              <a:t> </a:t>
            </a:r>
            <a:r>
              <a:rPr lang="en-US" altLang="zh-CN" sz="2000" dirty="0" smtClean="0"/>
              <a:t>TPP</a:t>
            </a:r>
            <a:endParaRPr lang="en-US" sz="2000" dirty="0" smtClean="0"/>
          </a:p>
          <a:p>
            <a:pPr lvl="1"/>
            <a:r>
              <a:rPr lang="en-US" sz="1400" i="1" dirty="0" smtClean="0"/>
              <a:t>&lt;the </a:t>
            </a:r>
            <a:r>
              <a:rPr lang="en-US" altLang="zh-CN" sz="1400" i="1" dirty="0" smtClean="0"/>
              <a:t>P</a:t>
            </a:r>
            <a:r>
              <a:rPr lang="en-US" sz="1400" i="1" dirty="0" smtClean="0"/>
              <a:t>ragmatic Programmer – from Journeyman to Master&gt;</a:t>
            </a:r>
            <a:r>
              <a:rPr lang="en-US" sz="1800" dirty="0" smtClean="0"/>
              <a:t> </a:t>
            </a:r>
            <a:endParaRPr lang="en-US" sz="1800" dirty="0" smtClean="0"/>
          </a:p>
          <a:p>
            <a:r>
              <a:rPr lang="en-US" sz="2000" dirty="0" smtClean="0"/>
              <a:t>How does TPP guide engineer in:</a:t>
            </a:r>
            <a:endParaRPr lang="en-US" sz="2000" dirty="0" smtClean="0"/>
          </a:p>
          <a:p>
            <a:r>
              <a:rPr lang="en-US" sz="2000" dirty="0" smtClean="0"/>
              <a:t>Planning</a:t>
            </a:r>
            <a:endParaRPr lang="en-US" sz="2000" dirty="0" smtClean="0"/>
          </a:p>
          <a:p>
            <a:r>
              <a:rPr lang="en-US" altLang="zh-CN" sz="2000" dirty="0" smtClean="0"/>
              <a:t>D</a:t>
            </a:r>
            <a:r>
              <a:rPr lang="en-US" sz="2000" dirty="0" smtClean="0"/>
              <a:t>evelopment </a:t>
            </a:r>
            <a:endParaRPr lang="en-US" sz="2000" dirty="0" smtClean="0"/>
          </a:p>
          <a:p>
            <a:pPr lvl="1"/>
            <a:r>
              <a:rPr lang="en-US" altLang="zh-CN" sz="1800" dirty="0" smtClean="0"/>
              <a:t>D</a:t>
            </a:r>
            <a:r>
              <a:rPr lang="en-US" sz="1800" dirty="0" smtClean="0"/>
              <a:t>esign, </a:t>
            </a:r>
            <a:endParaRPr lang="en-US" sz="1800" dirty="0" smtClean="0"/>
          </a:p>
          <a:p>
            <a:pPr marL="887095" lvl="3" indent="-255905">
              <a:spcBef>
                <a:spcPts val="400"/>
              </a:spcBef>
              <a:buSzPct val="68000"/>
              <a:buFont typeface="Wingdings 3" panose="05040102010807070707" pitchFamily="18" charset="2"/>
              <a:buChar char=""/>
            </a:pPr>
            <a:r>
              <a:rPr lang="en-US" dirty="0" smtClean="0"/>
              <a:t>design review and code review</a:t>
            </a:r>
            <a:endParaRPr lang="en-US" dirty="0" smtClean="0"/>
          </a:p>
          <a:p>
            <a:pPr marL="887095" lvl="3" indent="-255905">
              <a:spcBef>
                <a:spcPts val="400"/>
              </a:spcBef>
              <a:buSzPct val="68000"/>
              <a:buFont typeface="Wingdings 3" panose="05040102010807070707" pitchFamily="18" charset="2"/>
              <a:buChar char=""/>
            </a:pPr>
            <a:r>
              <a:rPr lang="en-US" dirty="0" smtClean="0"/>
              <a:t>coding standard</a:t>
            </a:r>
            <a:endParaRPr lang="en-US" dirty="0" smtClean="0"/>
          </a:p>
          <a:p>
            <a:pPr lvl="1"/>
            <a:r>
              <a:rPr lang="en-US" sz="1800" dirty="0" smtClean="0"/>
              <a:t>Coding</a:t>
            </a:r>
            <a:endParaRPr lang="en-US" sz="1800" dirty="0" smtClean="0"/>
          </a:p>
          <a:p>
            <a:pPr lvl="2"/>
            <a:r>
              <a:rPr lang="en-US" altLang="zh-CN" sz="1600" dirty="0" smtClean="0"/>
              <a:t>Performance analysis</a:t>
            </a:r>
            <a:endParaRPr lang="en-US" sz="1600" dirty="0" smtClean="0"/>
          </a:p>
          <a:p>
            <a:pPr lvl="1"/>
            <a:r>
              <a:rPr lang="en-US" altLang="zh-CN" sz="1800" dirty="0" smtClean="0"/>
              <a:t>T</a:t>
            </a:r>
            <a:r>
              <a:rPr lang="en-US" sz="1800" dirty="0" smtClean="0"/>
              <a:t>est </a:t>
            </a:r>
            <a:endParaRPr lang="en-US" sz="1800" dirty="0" smtClean="0"/>
          </a:p>
          <a:p>
            <a:r>
              <a:rPr lang="en-US" altLang="zh-CN" sz="2000" dirty="0" smtClean="0"/>
              <a:t>P</a:t>
            </a:r>
            <a:r>
              <a:rPr lang="en-US" sz="2000" dirty="0" smtClean="0"/>
              <a:t>ostmortem</a:t>
            </a:r>
            <a:endParaRPr lang="en-US" sz="2000" dirty="0" smtClean="0"/>
          </a:p>
        </p:txBody>
      </p:sp>
      <p:pic>
        <p:nvPicPr>
          <p:cNvPr id="102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105400" y="1600200"/>
            <a:ext cx="3527474" cy="4495800"/>
          </a:xfrm>
          <a:prstGeom prst="rect">
            <a:avLst/>
          </a:prstGeom>
          <a:noFill/>
          <a:ln>
            <a:noFill/>
          </a:ln>
          <a:effectLst>
            <a:outerShdw blurRad="127000" dist="38100" dir="2700000" sx="105000" sy="105000" algn="tl" rotWithShape="0">
              <a:schemeClr val="tx1">
                <a:lumMod val="50000"/>
                <a:lumOff val="50000"/>
                <a:alpha val="40000"/>
              </a:scheme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p:wipe dir="d"/>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CN" dirty="0" smtClean="0"/>
              <a:t>TPP - Planning</a:t>
            </a:r>
            <a:endParaRPr lang="en-US" dirty="0"/>
          </a:p>
        </p:txBody>
      </p:sp>
      <p:sp>
        <p:nvSpPr>
          <p:cNvPr id="2" name="Content Placeholder 1"/>
          <p:cNvSpPr>
            <a:spLocks noGrp="1"/>
          </p:cNvSpPr>
          <p:nvPr>
            <p:ph idx="1"/>
          </p:nvPr>
        </p:nvSpPr>
        <p:spPr/>
        <p:txBody>
          <a:bodyPr/>
          <a:lstStyle/>
          <a:p>
            <a:r>
              <a:rPr lang="en-US" dirty="0" smtClean="0"/>
              <a:t>Estimation – consider 2 developers</a:t>
            </a:r>
            <a:endParaRPr lang="en-US" dirty="0" smtClean="0"/>
          </a:p>
          <a:p>
            <a:r>
              <a:rPr lang="en-US" dirty="0" smtClean="0"/>
              <a:t>Al improves his task finish time from 10 days to 7 days; Bob improves it from 10 days to 8 days.  Is Al better?</a:t>
            </a:r>
            <a:endParaRPr lang="en-US" dirty="0" smtClean="0"/>
          </a:p>
          <a:p>
            <a:pPr>
              <a:buNone/>
            </a:pPr>
            <a:endParaRPr lang="en-US" dirty="0" smtClean="0"/>
          </a:p>
          <a:p>
            <a:pPr>
              <a:buNone/>
            </a:pPr>
            <a:endParaRPr lang="en-US" dirty="0"/>
          </a:p>
        </p:txBody>
      </p:sp>
      <p:graphicFrame>
        <p:nvGraphicFramePr>
          <p:cNvPr id="4" name="Table 3"/>
          <p:cNvGraphicFramePr>
            <a:graphicFrameLocks noGrp="1"/>
          </p:cNvGraphicFramePr>
          <p:nvPr/>
        </p:nvGraphicFramePr>
        <p:xfrm>
          <a:off x="990600" y="3997180"/>
          <a:ext cx="7086600" cy="2632220"/>
        </p:xfrm>
        <a:graphic>
          <a:graphicData uri="http://schemas.openxmlformats.org/drawingml/2006/table">
            <a:tbl>
              <a:tblPr firstRow="1" bandRow="1">
                <a:tableStyleId>{5C22544A-7EE6-4342-B048-85BDC9FD1C3A}</a:tableStyleId>
              </a:tblPr>
              <a:tblGrid>
                <a:gridCol w="1417320"/>
                <a:gridCol w="1417320"/>
                <a:gridCol w="1417320"/>
                <a:gridCol w="1417320"/>
                <a:gridCol w="1417320"/>
              </a:tblGrid>
              <a:tr h="517381">
                <a:tc>
                  <a:txBody>
                    <a:bodyPr/>
                    <a:lstStyle/>
                    <a:p>
                      <a:r>
                        <a:rPr lang="en-US" sz="1600" dirty="0" smtClean="0"/>
                        <a:t>Assignment</a:t>
                      </a:r>
                      <a:endParaRPr lang="en-US" sz="1600" dirty="0"/>
                    </a:p>
                  </a:txBody>
                  <a:tcPr/>
                </a:tc>
                <a:tc>
                  <a:txBody>
                    <a:bodyPr/>
                    <a:lstStyle/>
                    <a:p>
                      <a:r>
                        <a:rPr lang="en-US" sz="1600" dirty="0" smtClean="0"/>
                        <a:t>Al’s estimation</a:t>
                      </a:r>
                      <a:endParaRPr lang="en-US" sz="1600" dirty="0"/>
                    </a:p>
                  </a:txBody>
                  <a:tcPr/>
                </a:tc>
                <a:tc>
                  <a:txBody>
                    <a:bodyPr/>
                    <a:lstStyle/>
                    <a:p>
                      <a:r>
                        <a:rPr lang="en-US" sz="1600" dirty="0" smtClean="0"/>
                        <a:t>Al’s delivery</a:t>
                      </a:r>
                      <a:endParaRPr lang="en-US" sz="1600" dirty="0"/>
                    </a:p>
                  </a:txBody>
                  <a:tcPr/>
                </a:tc>
                <a:tc>
                  <a:txBody>
                    <a:bodyPr/>
                    <a:lstStyle/>
                    <a:p>
                      <a:r>
                        <a:rPr lang="en-US" sz="1600" dirty="0" smtClean="0"/>
                        <a:t>Bob’s estimation</a:t>
                      </a:r>
                      <a:endParaRPr lang="en-US" sz="1600" dirty="0"/>
                    </a:p>
                  </a:txBody>
                  <a:tcPr/>
                </a:tc>
                <a:tc>
                  <a:txBody>
                    <a:bodyPr/>
                    <a:lstStyle/>
                    <a:p>
                      <a:r>
                        <a:rPr lang="en-US" sz="1600" dirty="0" smtClean="0"/>
                        <a:t>Bob’s delivery</a:t>
                      </a:r>
                      <a:endParaRPr lang="en-US" sz="1600" dirty="0"/>
                    </a:p>
                  </a:txBody>
                  <a:tcPr/>
                </a:tc>
              </a:tr>
              <a:tr h="513275">
                <a:tc>
                  <a:txBody>
                    <a:bodyPr/>
                    <a:lstStyle/>
                    <a:p>
                      <a:r>
                        <a:rPr lang="en-US" dirty="0" smtClean="0"/>
                        <a:t>1,2,</a:t>
                      </a:r>
                      <a:r>
                        <a:rPr lang="en-US" baseline="0" dirty="0" smtClean="0"/>
                        <a:t>3</a:t>
                      </a:r>
                      <a:endParaRPr lang="en-US" dirty="0"/>
                    </a:p>
                  </a:txBody>
                  <a:tcPr/>
                </a:tc>
                <a:tc>
                  <a:txBody>
                    <a:bodyPr/>
                    <a:lstStyle/>
                    <a:p>
                      <a:r>
                        <a:rPr lang="en-US" dirty="0" smtClean="0"/>
                        <a:t>10</a:t>
                      </a:r>
                      <a:r>
                        <a:rPr lang="en-US" baseline="0" dirty="0" smtClean="0"/>
                        <a:t> days</a:t>
                      </a:r>
                      <a:endParaRPr lang="en-US" dirty="0"/>
                    </a:p>
                  </a:txBody>
                  <a:tcPr/>
                </a:tc>
                <a:tc>
                  <a:txBody>
                    <a:bodyPr/>
                    <a:lstStyle/>
                    <a:p>
                      <a:r>
                        <a:rPr lang="en-US" dirty="0" smtClean="0"/>
                        <a:t>5,</a:t>
                      </a:r>
                      <a:r>
                        <a:rPr lang="en-US" baseline="0" dirty="0" smtClean="0"/>
                        <a:t> 10, 15</a:t>
                      </a:r>
                      <a:endParaRPr lang="en-US" dirty="0"/>
                    </a:p>
                  </a:txBody>
                  <a:tcPr/>
                </a:tc>
                <a:tc>
                  <a:txBody>
                    <a:bodyPr/>
                    <a:lstStyle/>
                    <a:p>
                      <a:r>
                        <a:rPr lang="en-US" dirty="0" smtClean="0"/>
                        <a:t>10 day</a:t>
                      </a:r>
                      <a:endParaRPr lang="en-US" dirty="0"/>
                    </a:p>
                  </a:txBody>
                  <a:tcPr/>
                </a:tc>
                <a:tc>
                  <a:txBody>
                    <a:bodyPr/>
                    <a:lstStyle/>
                    <a:p>
                      <a:r>
                        <a:rPr lang="en-US" dirty="0" smtClean="0"/>
                        <a:t>5,</a:t>
                      </a:r>
                      <a:r>
                        <a:rPr lang="en-US" baseline="0" dirty="0" smtClean="0"/>
                        <a:t> 10, 15</a:t>
                      </a:r>
                      <a:endParaRPr lang="en-US" dirty="0"/>
                    </a:p>
                  </a:txBody>
                  <a:tcPr/>
                </a:tc>
              </a:tr>
              <a:tr h="513275">
                <a:tc>
                  <a:txBody>
                    <a:bodyPr/>
                    <a:lstStyle/>
                    <a:p>
                      <a:r>
                        <a:rPr lang="en-US" dirty="0" smtClean="0"/>
                        <a:t>4,5,6</a:t>
                      </a:r>
                      <a:endParaRPr lang="en-US" dirty="0"/>
                    </a:p>
                  </a:txBody>
                  <a:tcPr/>
                </a:tc>
                <a:tc>
                  <a:txBody>
                    <a:bodyPr/>
                    <a:lstStyle/>
                    <a:p>
                      <a:r>
                        <a:rPr lang="en-US" dirty="0" smtClean="0"/>
                        <a:t>7</a:t>
                      </a:r>
                      <a:r>
                        <a:rPr lang="en-US" baseline="0" dirty="0" smtClean="0"/>
                        <a:t> days</a:t>
                      </a:r>
                      <a:endParaRPr lang="en-US" dirty="0"/>
                    </a:p>
                  </a:txBody>
                  <a:tcPr/>
                </a:tc>
                <a:tc>
                  <a:txBody>
                    <a:bodyPr/>
                    <a:lstStyle/>
                    <a:p>
                      <a:r>
                        <a:rPr lang="en-US" dirty="0" smtClean="0"/>
                        <a:t>1, 9, 11</a:t>
                      </a:r>
                      <a:endParaRPr lang="en-US" dirty="0"/>
                    </a:p>
                  </a:txBody>
                  <a:tcPr/>
                </a:tc>
                <a:tc>
                  <a:txBody>
                    <a:bodyPr/>
                    <a:lstStyle/>
                    <a:p>
                      <a:r>
                        <a:rPr lang="en-US" dirty="0" smtClean="0"/>
                        <a:t>8</a:t>
                      </a:r>
                      <a:r>
                        <a:rPr lang="en-US" baseline="0" dirty="0" smtClean="0"/>
                        <a:t> days</a:t>
                      </a:r>
                      <a:endParaRPr lang="en-US" dirty="0"/>
                    </a:p>
                  </a:txBody>
                  <a:tcPr/>
                </a:tc>
                <a:tc>
                  <a:txBody>
                    <a:bodyPr/>
                    <a:lstStyle/>
                    <a:p>
                      <a:r>
                        <a:rPr lang="en-US" dirty="0" smtClean="0"/>
                        <a:t>7,8,9</a:t>
                      </a:r>
                      <a:endParaRPr lang="en-US" dirty="0"/>
                    </a:p>
                  </a:txBody>
                  <a:tcPr/>
                </a:tc>
              </a:tr>
              <a:tr h="513275">
                <a:tc>
                  <a:txBody>
                    <a:bodyPr/>
                    <a:lstStyle/>
                    <a:p>
                      <a:endParaRPr lang="en-US" dirty="0"/>
                    </a:p>
                  </a:txBody>
                  <a:tcPr/>
                </a:tc>
                <a:tc>
                  <a:txBody>
                    <a:bodyPr/>
                    <a:lstStyle/>
                    <a:p>
                      <a:endParaRPr lang="en-US" dirty="0"/>
                    </a:p>
                  </a:txBody>
                  <a:tcPr/>
                </a:tc>
                <a:tc>
                  <a:txBody>
                    <a:bodyPr/>
                    <a:lstStyle/>
                    <a:p>
                      <a:r>
                        <a:rPr lang="en-US" dirty="0" smtClean="0"/>
                        <a:t>Average = 7</a:t>
                      </a:r>
                      <a:endParaRPr lang="en-US" dirty="0"/>
                    </a:p>
                  </a:txBody>
                  <a:tcPr/>
                </a:tc>
                <a:tc>
                  <a:txBody>
                    <a:bodyPr/>
                    <a:lstStyle/>
                    <a:p>
                      <a:endParaRPr lang="en-US" dirty="0"/>
                    </a:p>
                  </a:txBody>
                  <a:tcPr/>
                </a:tc>
                <a:tc>
                  <a:txBody>
                    <a:bodyPr/>
                    <a:lstStyle/>
                    <a:p>
                      <a:r>
                        <a:rPr lang="en-US" dirty="0" smtClean="0"/>
                        <a:t>Average=8</a:t>
                      </a:r>
                      <a:endParaRPr lang="en-US" dirty="0"/>
                    </a:p>
                  </a:txBody>
                  <a:tcPr/>
                </a:tc>
              </a:tr>
              <a:tr h="513275">
                <a:tc>
                  <a:txBody>
                    <a:bodyPr/>
                    <a:lstStyle/>
                    <a:p>
                      <a:endParaRPr lang="en-US" dirty="0"/>
                    </a:p>
                  </a:txBody>
                  <a:tcPr/>
                </a:tc>
                <a:tc>
                  <a:txBody>
                    <a:bodyPr/>
                    <a:lstStyle/>
                    <a:p>
                      <a:endParaRPr lang="en-US" dirty="0"/>
                    </a:p>
                  </a:txBody>
                  <a:tcPr/>
                </a:tc>
                <a:tc>
                  <a:txBody>
                    <a:bodyPr/>
                    <a:lstStyle/>
                    <a:p>
                      <a:r>
                        <a:rPr lang="en-US" dirty="0" err="1" smtClean="0"/>
                        <a:t>StdDev</a:t>
                      </a:r>
                      <a:r>
                        <a:rPr lang="en-US" dirty="0" smtClean="0"/>
                        <a:t>=5.3</a:t>
                      </a:r>
                      <a:endParaRPr lang="en-US" dirty="0"/>
                    </a:p>
                  </a:txBody>
                  <a:tcPr/>
                </a:tc>
                <a:tc>
                  <a:txBody>
                    <a:bodyPr/>
                    <a:lstStyle/>
                    <a:p>
                      <a:endParaRPr lang="en-US" dirty="0"/>
                    </a:p>
                  </a:txBody>
                  <a:tcPr/>
                </a:tc>
                <a:tc>
                  <a:txBody>
                    <a:bodyPr/>
                    <a:lstStyle/>
                    <a:p>
                      <a:r>
                        <a:rPr lang="en-US" dirty="0" err="1" smtClean="0"/>
                        <a:t>StdDev</a:t>
                      </a:r>
                      <a:r>
                        <a:rPr lang="en-US" dirty="0" smtClean="0"/>
                        <a:t>=1</a:t>
                      </a:r>
                      <a:endParaRPr lang="en-US" dirty="0"/>
                    </a:p>
                  </a:txBody>
                  <a:tcPr/>
                </a:tc>
              </a:tr>
            </a:tbl>
          </a:graphicData>
        </a:graphic>
      </p:graphicFrame>
    </p:spTree>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20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Standard Deviation</a:t>
            </a:r>
            <a:endParaRPr lang="en-US" dirty="0"/>
          </a:p>
        </p:txBody>
      </p:sp>
      <p:sp>
        <p:nvSpPr>
          <p:cNvPr id="3" name="Content Placeholder 2"/>
          <p:cNvSpPr>
            <a:spLocks noGrp="1"/>
          </p:cNvSpPr>
          <p:nvPr>
            <p:ph idx="1"/>
          </p:nvPr>
        </p:nvSpPr>
        <p:spPr/>
        <p:txBody>
          <a:bodyPr/>
          <a:lstStyle/>
          <a:p>
            <a:pPr marL="118745" indent="0">
              <a:buNone/>
            </a:pPr>
            <a:r>
              <a:rPr lang="en-US" i="1" dirty="0" smtClean="0"/>
              <a:t>Standard deviation is key to the quality of service, and key to build trust.   </a:t>
            </a:r>
            <a:endParaRPr lang="en-US" i="1" dirty="0" smtClean="0"/>
          </a:p>
          <a:p>
            <a:pPr marL="274320" lvl="1" indent="0">
              <a:buNone/>
            </a:pPr>
            <a:r>
              <a:rPr lang="en-US" altLang="zh-CN" dirty="0" smtClean="0"/>
              <a:t>		- Jack Welch</a:t>
            </a:r>
            <a:endParaRPr lang="en-US" altLang="zh-CN" dirty="0" smtClean="0"/>
          </a:p>
          <a:p>
            <a:r>
              <a:rPr lang="en-US" altLang="zh-CN" dirty="0" smtClean="0"/>
              <a:t>Estimation/Promise  vs.  Delivery</a:t>
            </a:r>
            <a:endParaRPr lang="en-US" altLang="zh-CN" dirty="0" smtClean="0"/>
          </a:p>
          <a:p>
            <a:r>
              <a:rPr lang="en-US" altLang="zh-CN" dirty="0" smtClean="0"/>
              <a:t>How is your (or your team’s) Standard Deviation? </a:t>
            </a:r>
            <a:endParaRPr lang="en-US" dirty="0" smtClean="0"/>
          </a:p>
          <a:p>
            <a:endParaRPr lang="en-US" dirty="0"/>
          </a:p>
        </p:txBody>
      </p:sp>
    </p:spTree>
  </p:cSld>
  <p:clrMapOvr>
    <a:masterClrMapping/>
  </p:clrMapOvr>
  <p:transition>
    <p:wipe dir="d"/>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What is a skill?</a:t>
            </a:r>
            <a:endParaRPr lang="en-US" dirty="0"/>
          </a:p>
        </p:txBody>
      </p:sp>
      <p:sp>
        <p:nvSpPr>
          <p:cNvPr id="3" name="Content Placeholder 2"/>
          <p:cNvSpPr>
            <a:spLocks noGrp="1"/>
          </p:cNvSpPr>
          <p:nvPr>
            <p:ph idx="1"/>
          </p:nvPr>
        </p:nvSpPr>
        <p:spPr/>
        <p:txBody>
          <a:bodyPr>
            <a:normAutofit lnSpcReduction="10000"/>
          </a:bodyPr>
          <a:lstStyle/>
          <a:p>
            <a:r>
              <a:rPr lang="en-US" dirty="0" smtClean="0"/>
              <a:t>When can you claim you have the skill?</a:t>
            </a:r>
            <a:endParaRPr lang="en-US" dirty="0" smtClean="0"/>
          </a:p>
          <a:p>
            <a:r>
              <a:rPr lang="en-US" dirty="0" smtClean="0"/>
              <a:t>What’s the opposite of skill?</a:t>
            </a:r>
            <a:endParaRPr lang="en-US" dirty="0" smtClean="0"/>
          </a:p>
          <a:p>
            <a:pPr lvl="1"/>
            <a:r>
              <a:rPr lang="en-US" dirty="0" smtClean="0"/>
              <a:t>Unskilled?</a:t>
            </a:r>
            <a:endParaRPr lang="en-US" dirty="0" smtClean="0"/>
          </a:p>
          <a:p>
            <a:pPr lvl="1"/>
            <a:r>
              <a:rPr lang="en-US" dirty="0" smtClean="0"/>
              <a:t>“problem solving”</a:t>
            </a:r>
            <a:endParaRPr lang="en-US" dirty="0" smtClean="0"/>
          </a:p>
          <a:p>
            <a:endParaRPr lang="en-US" dirty="0"/>
          </a:p>
          <a:p>
            <a:r>
              <a:rPr lang="en-US" dirty="0">
                <a:hlinkClick r:id="rId1"/>
              </a:rPr>
              <a:t>http://</a:t>
            </a:r>
            <a:r>
              <a:rPr lang="en-US" dirty="0" smtClean="0">
                <a:hlinkClick r:id="rId1"/>
              </a:rPr>
              <a:t>www.billbuxton.com/xc.html</a:t>
            </a:r>
            <a:endParaRPr lang="en-US" dirty="0" smtClean="0"/>
          </a:p>
          <a:p>
            <a:endParaRPr lang="en-US" dirty="0"/>
          </a:p>
          <a:p>
            <a:r>
              <a:rPr lang="en-US" dirty="0" smtClean="0"/>
              <a:t>Quality vs. Quantity</a:t>
            </a:r>
            <a:endParaRPr lang="en-US" dirty="0" smtClean="0"/>
          </a:p>
          <a:p>
            <a:pPr lvl="1"/>
            <a:r>
              <a:rPr lang="en-US" dirty="0" smtClean="0"/>
              <a:t>Story of making pottery,  the “quantity group” vs. “quality group”</a:t>
            </a:r>
            <a:endParaRPr lang="en-US" dirty="0" smtClean="0"/>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不同层次的问题</a:t>
            </a:r>
            <a:endParaRPr lang="en-US" dirty="0"/>
          </a:p>
        </p:txBody>
      </p:sp>
      <p:pic>
        <p:nvPicPr>
          <p:cNvPr id="4" name="Content Placeholder 3"/>
          <p:cNvPicPr>
            <a:picLocks noGrp="1" noChangeAspect="1"/>
          </p:cNvPicPr>
          <p:nvPr>
            <p:ph idx="1"/>
          </p:nvPr>
        </p:nvPicPr>
        <p:blipFill>
          <a:blip r:embed="rId1"/>
          <a:stretch>
            <a:fillRect/>
          </a:stretch>
        </p:blipFill>
        <p:spPr>
          <a:xfrm>
            <a:off x="1771543" y="1600200"/>
            <a:ext cx="5600913" cy="48521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“精通”魔方</a:t>
            </a:r>
            <a:endParaRPr lang="en-US" dirty="0"/>
          </a:p>
        </p:txBody>
      </p:sp>
      <p:sp>
        <p:nvSpPr>
          <p:cNvPr id="3" name="Content Placeholder 2"/>
          <p:cNvSpPr>
            <a:spLocks noGrp="1"/>
          </p:cNvSpPr>
          <p:nvPr>
            <p:ph idx="1"/>
          </p:nvPr>
        </p:nvSpPr>
        <p:spPr/>
        <p:txBody>
          <a:bodyPr/>
          <a:lstStyle/>
          <a:p>
            <a:r>
              <a:rPr lang="zh-CN" altLang="en-US" dirty="0"/>
              <a:t>那怎么才能考察出一个人是否“精通”魔方呢</a:t>
            </a:r>
            <a:r>
              <a:rPr lang="en-US" altLang="zh-CN" dirty="0"/>
              <a:t>? </a:t>
            </a:r>
            <a:r>
              <a:rPr lang="en-US" altLang="zh-CN" dirty="0" smtClean="0"/>
              <a:t> </a:t>
            </a:r>
            <a:endParaRPr lang="en-US" altLang="zh-CN" dirty="0"/>
          </a:p>
          <a:p>
            <a:pPr lvl="1"/>
            <a:r>
              <a:rPr lang="en-US" altLang="zh-CN" dirty="0"/>
              <a:t>a) </a:t>
            </a:r>
            <a:r>
              <a:rPr lang="zh-CN" altLang="en-US" dirty="0"/>
              <a:t>给面试者一个各面打乱颜色的魔方； </a:t>
            </a:r>
            <a:endParaRPr lang="zh-CN" altLang="en-US" dirty="0"/>
          </a:p>
          <a:p>
            <a:pPr lvl="1"/>
            <a:r>
              <a:rPr lang="en-US" altLang="zh-CN" dirty="0"/>
              <a:t>b) </a:t>
            </a:r>
            <a:r>
              <a:rPr lang="zh-CN" altLang="en-US" dirty="0"/>
              <a:t>要求他把六面还原； </a:t>
            </a:r>
            <a:endParaRPr lang="zh-CN" altLang="en-US" dirty="0"/>
          </a:p>
          <a:p>
            <a:pPr lvl="1"/>
            <a:r>
              <a:rPr lang="en-US" altLang="zh-CN" dirty="0"/>
              <a:t>c) </a:t>
            </a:r>
            <a:r>
              <a:rPr lang="zh-CN" altLang="en-US" dirty="0"/>
              <a:t>如果还原了</a:t>
            </a:r>
            <a:r>
              <a:rPr lang="en-US" altLang="zh-CN" dirty="0"/>
              <a:t>, </a:t>
            </a:r>
            <a:r>
              <a:rPr lang="zh-CN" altLang="en-US" dirty="0"/>
              <a:t>要求他把魔方恢复成我最初给他的那个混乱的局面</a:t>
            </a:r>
            <a:r>
              <a:rPr lang="en-US" altLang="zh-CN" dirty="0"/>
              <a:t>, </a:t>
            </a:r>
            <a:r>
              <a:rPr lang="zh-CN" altLang="en-US" dirty="0"/>
              <a:t>必须一模一样</a:t>
            </a:r>
            <a:r>
              <a:rPr lang="zh-CN" altLang="en-US" dirty="0" smtClean="0"/>
              <a:t>。</a:t>
            </a:r>
            <a:endParaRPr lang="en-US" altLang="zh-CN" dirty="0" smtClean="0"/>
          </a:p>
          <a:p>
            <a:pPr marL="457200" lvl="1" indent="0">
              <a:buNone/>
            </a:pPr>
            <a:endParaRPr lang="zh-CN" altLang="en-US" dirty="0"/>
          </a:p>
          <a:p>
            <a:r>
              <a:rPr lang="zh-CN" altLang="en-US" dirty="0"/>
              <a:t>精通魔方的同学</a:t>
            </a:r>
            <a:r>
              <a:rPr lang="en-US" altLang="zh-CN" dirty="0"/>
              <a:t>, </a:t>
            </a:r>
            <a:r>
              <a:rPr lang="zh-CN" altLang="en-US" dirty="0"/>
              <a:t>来吧。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课堂演示</a:t>
            </a:r>
            <a:endParaRPr lang="en-US" dirty="0"/>
          </a:p>
        </p:txBody>
      </p:sp>
      <p:sp>
        <p:nvSpPr>
          <p:cNvPr id="3" name="内容占位符 2"/>
          <p:cNvSpPr>
            <a:spLocks noGrp="1"/>
          </p:cNvSpPr>
          <p:nvPr>
            <p:ph idx="1"/>
          </p:nvPr>
        </p:nvSpPr>
        <p:spPr/>
        <p:txBody>
          <a:bodyPr/>
          <a:lstStyle/>
          <a:p>
            <a:r>
              <a:rPr lang="zh-CN" altLang="en-US" dirty="0" smtClean="0"/>
              <a:t>单元测试</a:t>
            </a:r>
            <a:endParaRPr lang="en-US" altLang="zh-CN" dirty="0" smtClean="0"/>
          </a:p>
          <a:p>
            <a:r>
              <a:rPr lang="zh-CN" altLang="en-US" dirty="0" smtClean="0"/>
              <a:t>效能分析</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编</a:t>
            </a:r>
            <a:r>
              <a:rPr lang="zh-CN" altLang="en-US" dirty="0" smtClean="0"/>
              <a:t>程作业 </a:t>
            </a:r>
            <a:r>
              <a:rPr lang="en-US" altLang="zh-CN" dirty="0" smtClean="0"/>
              <a:t>vs. </a:t>
            </a:r>
            <a:r>
              <a:rPr lang="zh-CN" altLang="en-US" dirty="0" smtClean="0"/>
              <a:t>软件工程作业</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zh-CN" altLang="en-US" dirty="0" smtClean="0"/>
              <a:t>在</a:t>
            </a:r>
            <a:r>
              <a:rPr lang="zh-CN" altLang="en-US" dirty="0"/>
              <a:t>软件工程课上的编程作业通常有三类： </a:t>
            </a:r>
            <a:endParaRPr lang="zh-CN" altLang="en-US" dirty="0"/>
          </a:p>
          <a:p>
            <a:pPr lvl="1">
              <a:lnSpc>
                <a:spcPct val="120000"/>
              </a:lnSpc>
            </a:pPr>
            <a:r>
              <a:rPr lang="zh-CN" altLang="en-US" dirty="0"/>
              <a:t>学习某种编程语言的特性，例如学习</a:t>
            </a:r>
            <a:r>
              <a:rPr lang="en-US" altLang="zh-CN" dirty="0"/>
              <a:t>C++ </a:t>
            </a:r>
            <a:r>
              <a:rPr lang="zh-CN" altLang="en-US" dirty="0"/>
              <a:t>语言的类的各种知识。这是学习编程语言的基础，不是软件工程作业。</a:t>
            </a:r>
            <a:endParaRPr lang="zh-CN" altLang="en-US" dirty="0"/>
          </a:p>
          <a:p>
            <a:pPr lvl="1">
              <a:lnSpc>
                <a:spcPct val="120000"/>
              </a:lnSpc>
            </a:pPr>
            <a:r>
              <a:rPr lang="zh-CN" altLang="en-US" dirty="0"/>
              <a:t>练习某些算法或按某种模式处理数据， 例如：对输入数据进行排序处理，并输出。这是算法和数据结构的练习，不是软件工程作业。</a:t>
            </a:r>
            <a:endParaRPr lang="zh-CN" altLang="en-US" dirty="0"/>
          </a:p>
          <a:p>
            <a:pPr lvl="1">
              <a:lnSpc>
                <a:spcPct val="120000"/>
              </a:lnSpc>
            </a:pPr>
            <a:r>
              <a:rPr lang="zh-CN" altLang="en-US" dirty="0"/>
              <a:t>按照给定的需求实现一个较复杂的软件系统，但没有要求系统进行大规模的测试、模拟、实际运行，或后续演化。全国大学生交上来的成千上万的“图书馆信息系统” 就是其中翘楚。这个作业有一定的复杂性，但是离实际的软件还差很远。</a:t>
            </a:r>
            <a:endParaRPr lang="zh-CN" altLang="en-US" dirty="0"/>
          </a:p>
          <a:p>
            <a:pPr>
              <a:lnSpc>
                <a:spcPct val="120000"/>
              </a:lnSpc>
            </a:pPr>
            <a:r>
              <a:rPr lang="zh-CN" altLang="en-US" dirty="0"/>
              <a:t>软件工程作业是为了练习用工具来解决软件的复杂性</a:t>
            </a:r>
            <a:endParaRPr lang="en-US" altLang="zh-CN" dirty="0"/>
          </a:p>
          <a:p>
            <a:pPr marL="118745" indent="0">
              <a:lnSpc>
                <a:spcPct val="120000"/>
              </a:lnSpc>
              <a:buNone/>
            </a:pP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软件的复杂性、易变性</a:t>
            </a:r>
            <a:endParaRPr lang="en-US" dirty="0"/>
          </a:p>
        </p:txBody>
      </p:sp>
      <p:sp>
        <p:nvSpPr>
          <p:cNvPr id="3" name="Content Placeholder 2"/>
          <p:cNvSpPr>
            <a:spLocks noGrp="1"/>
          </p:cNvSpPr>
          <p:nvPr>
            <p:ph idx="1"/>
          </p:nvPr>
        </p:nvSpPr>
        <p:spPr/>
        <p:txBody>
          <a:bodyPr/>
          <a:lstStyle/>
          <a:p>
            <a:r>
              <a:rPr lang="zh-CN" altLang="en-US" dirty="0"/>
              <a:t>复杂性和易变性</a:t>
            </a:r>
            <a:r>
              <a:rPr lang="zh-CN" altLang="en-US" dirty="0" smtClean="0"/>
              <a:t>。</a:t>
            </a:r>
            <a:endParaRPr lang="en-US" altLang="zh-CN" dirty="0" smtClean="0"/>
          </a:p>
          <a:p>
            <a:r>
              <a:rPr lang="zh-CN" altLang="en-US" dirty="0" smtClean="0"/>
              <a:t>程</a:t>
            </a:r>
            <a:r>
              <a:rPr lang="zh-CN" altLang="en-US" dirty="0"/>
              <a:t>序 </a:t>
            </a:r>
            <a:r>
              <a:rPr lang="en-US" altLang="zh-CN" dirty="0"/>
              <a:t>= </a:t>
            </a:r>
            <a:r>
              <a:rPr lang="zh-CN" altLang="en-US" dirty="0"/>
              <a:t>算法 </a:t>
            </a:r>
            <a:r>
              <a:rPr lang="en-US" altLang="zh-CN" dirty="0"/>
              <a:t>+ </a:t>
            </a:r>
            <a:r>
              <a:rPr lang="zh-CN" altLang="en-US" dirty="0"/>
              <a:t>数据结构</a:t>
            </a:r>
            <a:r>
              <a:rPr lang="zh-CN" altLang="en-US" dirty="0" smtClean="0"/>
              <a:t>；</a:t>
            </a:r>
            <a:endParaRPr lang="en-US" altLang="zh-CN" dirty="0" smtClean="0"/>
          </a:p>
          <a:p>
            <a:r>
              <a:rPr lang="zh-CN" altLang="en-US" dirty="0" smtClean="0"/>
              <a:t>软</a:t>
            </a:r>
            <a:r>
              <a:rPr lang="zh-CN" altLang="en-US" dirty="0"/>
              <a:t>件 </a:t>
            </a:r>
            <a:r>
              <a:rPr lang="en-US" altLang="zh-CN" dirty="0"/>
              <a:t>= </a:t>
            </a:r>
            <a:r>
              <a:rPr lang="zh-CN" altLang="en-US" dirty="0"/>
              <a:t>程序 </a:t>
            </a:r>
            <a:r>
              <a:rPr lang="en-US" altLang="zh-CN" dirty="0"/>
              <a:t>+ </a:t>
            </a:r>
            <a:r>
              <a:rPr lang="zh-CN" altLang="en-US" dirty="0"/>
              <a:t>软件工程</a:t>
            </a:r>
            <a:r>
              <a:rPr lang="zh-CN" altLang="en-US" dirty="0" smtClean="0"/>
              <a:t>。</a:t>
            </a:r>
            <a:endParaRPr lang="en-US" altLang="zh-CN" dirty="0" smtClean="0"/>
          </a:p>
          <a:p>
            <a:r>
              <a:rPr lang="zh-CN" altLang="en-US" dirty="0" smtClean="0"/>
              <a:t>软</a:t>
            </a:r>
            <a:r>
              <a:rPr lang="zh-CN" altLang="en-US" dirty="0"/>
              <a:t>件工程的编程作业，不仅仅是程序，而是要加入软件工程的要素（复杂性、易变性和其他），有价值的软件工程的作业必须要触及这两个基本要素！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两个</a:t>
            </a:r>
            <a:r>
              <a:rPr lang="zh-CN" altLang="en-US" dirty="0"/>
              <a:t>原则</a:t>
            </a:r>
            <a:endParaRPr lang="en-US" dirty="0"/>
          </a:p>
        </p:txBody>
      </p:sp>
      <p:sp>
        <p:nvSpPr>
          <p:cNvPr id="3" name="Content Placeholder 2"/>
          <p:cNvSpPr>
            <a:spLocks noGrp="1"/>
          </p:cNvSpPr>
          <p:nvPr>
            <p:ph idx="1"/>
          </p:nvPr>
        </p:nvSpPr>
        <p:spPr/>
        <p:txBody>
          <a:bodyPr>
            <a:normAutofit fontScale="92500" lnSpcReduction="10000"/>
          </a:bodyPr>
          <a:lstStyle/>
          <a:p>
            <a:r>
              <a:rPr lang="zh-CN" altLang="en-US" dirty="0" smtClean="0"/>
              <a:t>单</a:t>
            </a:r>
            <a:r>
              <a:rPr lang="zh-CN" altLang="en-US" dirty="0"/>
              <a:t>一职责原则（</a:t>
            </a:r>
            <a:r>
              <a:rPr lang="en-US" dirty="0"/>
              <a:t>Single Responsibility </a:t>
            </a:r>
            <a:r>
              <a:rPr lang="en-US" dirty="0" smtClean="0"/>
              <a:t>Principle, SRP</a:t>
            </a:r>
            <a:r>
              <a:rPr lang="en-US" dirty="0"/>
              <a:t>）</a:t>
            </a:r>
            <a:r>
              <a:rPr lang="zh-CN" altLang="en-US" dirty="0"/>
              <a:t>指出</a:t>
            </a:r>
            <a:endParaRPr lang="zh-CN" altLang="en-US" dirty="0"/>
          </a:p>
          <a:p>
            <a:pPr lvl="1"/>
            <a:r>
              <a:rPr lang="zh-CN" altLang="en-US" dirty="0"/>
              <a:t>一个模块（类）应该只有一个导致它变化的原因，一个模块应该完全对某个功能负责</a:t>
            </a:r>
            <a:r>
              <a:rPr lang="zh-CN" altLang="en-US" dirty="0" smtClean="0"/>
              <a:t>。</a:t>
            </a:r>
            <a:endParaRPr lang="en-US" altLang="zh-CN" dirty="0" smtClean="0"/>
          </a:p>
          <a:p>
            <a:r>
              <a:rPr lang="zh-CN" altLang="en-US" dirty="0"/>
              <a:t>另一个重要的软件设计原则是开放</a:t>
            </a:r>
            <a:r>
              <a:rPr lang="en-US" altLang="zh-CN" dirty="0"/>
              <a:t>- </a:t>
            </a:r>
            <a:r>
              <a:rPr lang="zh-CN" altLang="en-US" dirty="0"/>
              <a:t>封闭原则（</a:t>
            </a:r>
            <a:r>
              <a:rPr lang="en-US" dirty="0"/>
              <a:t>Open-Close Principle， OCP）: </a:t>
            </a:r>
            <a:endParaRPr lang="en-US" dirty="0"/>
          </a:p>
          <a:p>
            <a:pPr lvl="1"/>
            <a:r>
              <a:rPr lang="zh-CN" altLang="en-US" dirty="0"/>
              <a:t>软件实体应该是可以扩展的，同时是不可修改的。</a:t>
            </a:r>
            <a:endParaRPr lang="zh-CN" altLang="en-US" dirty="0"/>
          </a:p>
          <a:p>
            <a:pPr lvl="2"/>
            <a:r>
              <a:rPr lang="zh-CN" altLang="en-US" dirty="0" smtClean="0"/>
              <a:t>允</a:t>
            </a:r>
            <a:r>
              <a:rPr lang="zh-CN" altLang="en-US" dirty="0"/>
              <a:t>许扩展（</a:t>
            </a:r>
            <a:r>
              <a:rPr lang="en-US" altLang="zh-CN" dirty="0"/>
              <a:t>Open for extension</a:t>
            </a:r>
            <a:r>
              <a:rPr lang="zh-CN" altLang="en-US" dirty="0"/>
              <a:t>）。当应用的需求发生改变时，我们可以对模块进行扩 展，从而改变模块的功能。</a:t>
            </a:r>
            <a:endParaRPr lang="zh-CN" altLang="en-US" dirty="0"/>
          </a:p>
          <a:p>
            <a:pPr lvl="2"/>
            <a:r>
              <a:rPr lang="zh-CN" altLang="en-US" dirty="0" smtClean="0"/>
              <a:t>不</a:t>
            </a:r>
            <a:r>
              <a:rPr lang="zh-CN" altLang="en-US" dirty="0"/>
              <a:t>允许修改（</a:t>
            </a:r>
            <a:r>
              <a:rPr lang="en-US" dirty="0"/>
              <a:t>Closed for modification）。</a:t>
            </a:r>
            <a:r>
              <a:rPr lang="zh-CN" altLang="en-US" dirty="0"/>
              <a:t>对模块行为进行扩展时，不必改变模块的本身。 </a:t>
            </a:r>
            <a:endParaRPr lang="zh-CN" altLang="en-US"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何时需要应用这些原则？</a:t>
            </a:r>
            <a:endParaRPr lang="en-US" dirty="0"/>
          </a:p>
        </p:txBody>
      </p:sp>
      <p:sp>
        <p:nvSpPr>
          <p:cNvPr id="3" name="Content Placeholder 2"/>
          <p:cNvSpPr>
            <a:spLocks noGrp="1"/>
          </p:cNvSpPr>
          <p:nvPr>
            <p:ph idx="1"/>
          </p:nvPr>
        </p:nvSpPr>
        <p:spPr/>
        <p:txBody>
          <a:bodyPr/>
          <a:lstStyle/>
          <a:p>
            <a:r>
              <a:rPr lang="zh-CN" altLang="en-US" dirty="0"/>
              <a:t>在什么情况下使用这些原则呢</a:t>
            </a:r>
            <a:r>
              <a:rPr lang="zh-CN" altLang="en-US" dirty="0" smtClean="0"/>
              <a:t>？ </a:t>
            </a:r>
            <a:endParaRPr lang="zh-CN" altLang="en-US" dirty="0"/>
          </a:p>
          <a:p>
            <a:pPr lvl="1"/>
            <a:r>
              <a:rPr lang="zh-CN" altLang="en-US" dirty="0"/>
              <a:t>变化的轴线仅当变化实际发生时才具有真正的意义。如果没有征兆，那么去应</a:t>
            </a:r>
            <a:r>
              <a:rPr lang="zh-CN" altLang="en-US" dirty="0" smtClean="0"/>
              <a:t>用</a:t>
            </a:r>
            <a:r>
              <a:rPr lang="en-US" altLang="zh-CN" dirty="0" smtClean="0"/>
              <a:t>SRP</a:t>
            </a:r>
            <a:r>
              <a:rPr lang="zh-CN" altLang="en-US" dirty="0" smtClean="0"/>
              <a:t>，</a:t>
            </a:r>
            <a:r>
              <a:rPr lang="zh-CN" altLang="en-US" dirty="0"/>
              <a:t>或者其他原则都是不明智</a:t>
            </a:r>
            <a:r>
              <a:rPr lang="zh-CN" altLang="en-US" dirty="0" smtClean="0"/>
              <a:t>的。</a:t>
            </a:r>
            <a:endParaRPr lang="zh-CN" altLang="en-US" dirty="0"/>
          </a:p>
          <a:p>
            <a:pPr lvl="1"/>
            <a:r>
              <a:rPr lang="zh-CN" altLang="en-US" dirty="0"/>
              <a:t>遵</a:t>
            </a:r>
            <a:r>
              <a:rPr lang="zh-CN" altLang="en-US" dirty="0" smtClean="0"/>
              <a:t>循 </a:t>
            </a:r>
            <a:r>
              <a:rPr lang="en-US" altLang="zh-CN" dirty="0" smtClean="0"/>
              <a:t>OCP </a:t>
            </a:r>
            <a:r>
              <a:rPr lang="zh-CN" altLang="en-US" dirty="0" smtClean="0"/>
              <a:t>的</a:t>
            </a:r>
            <a:r>
              <a:rPr lang="zh-CN" altLang="en-US" dirty="0"/>
              <a:t>代价也是昂贵的</a:t>
            </a:r>
            <a:r>
              <a:rPr lang="en-US" altLang="zh-CN" dirty="0"/>
              <a:t>……</a:t>
            </a:r>
            <a:r>
              <a:rPr lang="zh-CN" altLang="en-US" dirty="0"/>
              <a:t>显然，我们希望</a:t>
            </a:r>
            <a:r>
              <a:rPr lang="zh-CN" altLang="en-US" dirty="0" smtClean="0"/>
              <a:t>把 </a:t>
            </a:r>
            <a:r>
              <a:rPr lang="en-US" altLang="zh-CN" dirty="0" smtClean="0"/>
              <a:t>OCP </a:t>
            </a:r>
            <a:r>
              <a:rPr lang="zh-CN" altLang="en-US" dirty="0" smtClean="0"/>
              <a:t>的</a:t>
            </a:r>
            <a:r>
              <a:rPr lang="zh-CN" altLang="en-US" dirty="0"/>
              <a:t>应用限定在可能会发生的变化上。</a:t>
            </a:r>
            <a:r>
              <a:rPr lang="en-US" altLang="zh-CN" dirty="0"/>
              <a:t>……</a:t>
            </a:r>
            <a:r>
              <a:rPr lang="zh-CN" altLang="en-US" dirty="0"/>
              <a:t>最终，我们会一直等到变化发生时才采取行</a:t>
            </a:r>
            <a:r>
              <a:rPr lang="zh-CN" altLang="en-US" dirty="0" smtClean="0"/>
              <a:t>动。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a:t>
            </a:r>
            <a:r>
              <a:rPr lang="zh-CN" altLang="en-US" b="0" dirty="0" smtClean="0"/>
              <a:t>” </a:t>
            </a:r>
            <a:r>
              <a:rPr lang="en-US" altLang="zh-CN" b="0" dirty="0" smtClean="0"/>
              <a:t>(1)</a:t>
            </a:r>
            <a:endParaRPr lang="en-US"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zh-CN" altLang="en-US" dirty="0"/>
              <a:t>从数据方面扩展： </a:t>
            </a:r>
            <a:endParaRPr lang="zh-CN" altLang="en-US" dirty="0"/>
          </a:p>
          <a:p>
            <a:pPr lvl="1">
              <a:lnSpc>
                <a:spcPct val="120000"/>
              </a:lnSpc>
            </a:pPr>
            <a:r>
              <a:rPr lang="zh-CN" altLang="en-US" dirty="0" smtClean="0"/>
              <a:t>从</a:t>
            </a:r>
            <a:r>
              <a:rPr lang="zh-CN" altLang="en-US" dirty="0"/>
              <a:t>数据本身的属性扩展，例如处理“ 最大子数组的和”的程序，可以扩展到大数（超 过</a:t>
            </a:r>
            <a:r>
              <a:rPr lang="en-US" altLang="zh-CN" dirty="0"/>
              <a:t>64 </a:t>
            </a:r>
            <a:r>
              <a:rPr lang="zh-CN" altLang="en-US" dirty="0"/>
              <a:t>位的数字），这样引入大数的处理。</a:t>
            </a:r>
            <a:endParaRPr lang="zh-CN" altLang="en-US" dirty="0"/>
          </a:p>
          <a:p>
            <a:pPr lvl="1">
              <a:lnSpc>
                <a:spcPct val="120000"/>
              </a:lnSpc>
            </a:pPr>
            <a:r>
              <a:rPr lang="zh-CN" altLang="en-US" dirty="0" smtClean="0"/>
              <a:t>从</a:t>
            </a:r>
            <a:r>
              <a:rPr lang="zh-CN" altLang="en-US" dirty="0"/>
              <a:t>数据的数量扩展，很多老师出题就假设数组只有六七个元素，直接写死在程序中。 如果这个数组有一万个、十万个元素呢？如果元素保存在文件里呢？ </a:t>
            </a:r>
            <a:endParaRPr lang="zh-CN" altLang="en-US" dirty="0"/>
          </a:p>
          <a:p>
            <a:pPr lvl="1">
              <a:lnSpc>
                <a:spcPct val="120000"/>
              </a:lnSpc>
            </a:pPr>
            <a:r>
              <a:rPr lang="zh-CN" altLang="en-US" dirty="0" smtClean="0"/>
              <a:t>从</a:t>
            </a:r>
            <a:r>
              <a:rPr lang="zh-CN" altLang="en-US" dirty="0"/>
              <a:t>数据的维度扩展，如果数据是在多维数组中呢？ </a:t>
            </a:r>
            <a:endParaRPr lang="zh-CN" altLang="en-US" dirty="0"/>
          </a:p>
          <a:p>
            <a:pPr lvl="1">
              <a:lnSpc>
                <a:spcPct val="120000"/>
              </a:lnSpc>
            </a:pPr>
            <a:r>
              <a:rPr lang="zh-CN" altLang="en-US" dirty="0" smtClean="0"/>
              <a:t>从</a:t>
            </a:r>
            <a:r>
              <a:rPr lang="zh-CN" altLang="en-US" dirty="0"/>
              <a:t>数据的其他属性扩展，例如，如果你的程序能处理北京的地铁数据，如何改进你的 程序，让它能动态处理上海或其他城市的数据呢？这样程序就要引入某种抽象来表示“地点”，而不是僵化地假设数据就是北京的。</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smtClean="0"/>
              <a:t>(2)</a:t>
            </a:r>
            <a:endParaRPr lang="en-US" dirty="0"/>
          </a:p>
        </p:txBody>
      </p:sp>
      <p:sp>
        <p:nvSpPr>
          <p:cNvPr id="3" name="Content Placeholder 2"/>
          <p:cNvSpPr>
            <a:spLocks noGrp="1"/>
          </p:cNvSpPr>
          <p:nvPr>
            <p:ph idx="1"/>
          </p:nvPr>
        </p:nvSpPr>
        <p:spPr/>
        <p:txBody>
          <a:bodyPr>
            <a:normAutofit fontScale="55000" lnSpcReduction="20000"/>
          </a:bodyPr>
          <a:lstStyle/>
          <a:p>
            <a:pPr>
              <a:lnSpc>
                <a:spcPct val="120000"/>
              </a:lnSpc>
            </a:pPr>
            <a:r>
              <a:rPr lang="zh-CN" altLang="en-US" dirty="0"/>
              <a:t>从需求方面扩</a:t>
            </a:r>
            <a:r>
              <a:rPr lang="zh-CN" altLang="en-US" dirty="0" smtClean="0"/>
              <a:t>展</a:t>
            </a:r>
            <a:r>
              <a:rPr lang="en-US" altLang="zh-CN" dirty="0" smtClean="0"/>
              <a:t>, </a:t>
            </a:r>
            <a:r>
              <a:rPr lang="zh-CN" altLang="en-US" dirty="0" smtClean="0"/>
              <a:t>很</a:t>
            </a:r>
            <a:r>
              <a:rPr lang="zh-CN" altLang="en-US" dirty="0"/>
              <a:t>多程序的需求都是非常抽象，可以用数学公式描述和验证的，例如：“找出数组中的最大值”，然而实际需求的复杂度往往超过了数学公式的表达能力。请考虑下面几种扩展的方式： </a:t>
            </a:r>
            <a:endParaRPr lang="zh-CN" altLang="en-US" dirty="0"/>
          </a:p>
          <a:p>
            <a:pPr lvl="1">
              <a:lnSpc>
                <a:spcPct val="120000"/>
              </a:lnSpc>
            </a:pPr>
            <a:r>
              <a:rPr lang="zh-CN" altLang="en-US" dirty="0" smtClean="0"/>
              <a:t>不</a:t>
            </a:r>
            <a:r>
              <a:rPr lang="zh-CN" altLang="en-US" dirty="0"/>
              <a:t>是仅仅要求结果，而是要让程序把计算的过程显示出来。请搜索各种“动画显示排 序过程”的资料，然后自己实现一下。</a:t>
            </a:r>
            <a:endParaRPr lang="zh-CN" altLang="en-US" dirty="0"/>
          </a:p>
          <a:p>
            <a:pPr lvl="1">
              <a:lnSpc>
                <a:spcPct val="120000"/>
              </a:lnSpc>
            </a:pPr>
            <a:r>
              <a:rPr lang="zh-CN" altLang="en-US" dirty="0" smtClean="0"/>
              <a:t>从</a:t>
            </a:r>
            <a:r>
              <a:rPr lang="zh-CN" altLang="en-US" dirty="0"/>
              <a:t>需求的维度方面扩展，例如学生写了一个“统计程序有多少行” 的程序，我们可以 进一步要求，能把注释行、空行、只有一个字符的行去掉么？能处理目录里面的多个文件么？ </a:t>
            </a:r>
            <a:endParaRPr lang="zh-CN" altLang="en-US" dirty="0"/>
          </a:p>
          <a:p>
            <a:pPr lvl="1">
              <a:lnSpc>
                <a:spcPct val="120000"/>
              </a:lnSpc>
            </a:pPr>
            <a:r>
              <a:rPr lang="zh-CN" altLang="en-US" dirty="0" smtClean="0"/>
              <a:t>重</a:t>
            </a:r>
            <a:r>
              <a:rPr lang="zh-CN" altLang="en-US" dirty="0"/>
              <a:t>复一个成熟的、学生比较熟悉的需求，这也是可行的，关键是要体现“ 工程”的特 点。 例如做一个文档编辑软件，要求能处理</a:t>
            </a:r>
            <a:r>
              <a:rPr lang="en-US" altLang="zh-CN" dirty="0"/>
              <a:t>10M </a:t>
            </a:r>
            <a:r>
              <a:rPr lang="zh-CN" altLang="en-US" dirty="0"/>
              <a:t>大小的文本文件；做一个图书信</a:t>
            </a:r>
            <a:r>
              <a:rPr lang="zh-CN" altLang="en-US" dirty="0" smtClean="0"/>
              <a:t>息系</a:t>
            </a:r>
            <a:r>
              <a:rPr lang="zh-CN" altLang="en-US" dirty="0"/>
              <a:t>统，要求有</a:t>
            </a:r>
            <a:r>
              <a:rPr lang="en-US" altLang="zh-CN" dirty="0"/>
              <a:t>10 </a:t>
            </a:r>
            <a:r>
              <a:rPr lang="zh-CN" altLang="en-US" dirty="0"/>
              <a:t>万本书，</a:t>
            </a:r>
            <a:r>
              <a:rPr lang="en-US" altLang="zh-CN" dirty="0"/>
              <a:t>100 </a:t>
            </a:r>
            <a:r>
              <a:rPr lang="zh-CN" altLang="en-US" dirty="0"/>
              <a:t>万条借</a:t>
            </a:r>
            <a:r>
              <a:rPr lang="en-US" altLang="zh-CN" dirty="0"/>
              <a:t>/ </a:t>
            </a:r>
            <a:r>
              <a:rPr lang="zh-CN" altLang="en-US" dirty="0"/>
              <a:t>还书记录。很多同学做的图书馆信息系统只有不到</a:t>
            </a:r>
            <a:r>
              <a:rPr lang="en-US" altLang="zh-CN" dirty="0"/>
              <a:t>10 </a:t>
            </a:r>
            <a:r>
              <a:rPr lang="zh-CN" altLang="en-US" dirty="0"/>
              <a:t>本书的记录，这是图书馆么？ </a:t>
            </a:r>
            <a:endParaRPr lang="zh-CN" altLang="en-US" dirty="0"/>
          </a:p>
          <a:p>
            <a:pPr lvl="1">
              <a:lnSpc>
                <a:spcPct val="120000"/>
              </a:lnSpc>
            </a:pPr>
            <a:r>
              <a:rPr lang="zh-CN" altLang="en-US" dirty="0" smtClean="0"/>
              <a:t>在</a:t>
            </a:r>
            <a:r>
              <a:rPr lang="zh-CN" altLang="en-US" dirty="0"/>
              <a:t>已有的需求上增量改进，例如，让文档编辑软件支持 </a:t>
            </a:r>
            <a:r>
              <a:rPr lang="en-US" altLang="zh-CN" dirty="0"/>
              <a:t>markdown </a:t>
            </a:r>
            <a:r>
              <a:rPr lang="zh-CN" altLang="en-US" dirty="0"/>
              <a:t>语法，支持无限的 “后悔”操作；让图书馆信息系统支持手机客户端。如果图形编辑器支持三种图形模板，现在引入五种新的模板，在这种情况下，程序员就会审视自己的设计是否能遵循一些设计原则，来高效率地满足需求。</a:t>
            </a:r>
            <a:endParaRPr lang="zh-CN" altLang="en-US" dirty="0"/>
          </a:p>
          <a:p>
            <a:pPr lvl="1">
              <a:lnSpc>
                <a:spcPct val="120000"/>
              </a:lnSpc>
            </a:pPr>
            <a:r>
              <a:rPr lang="zh-CN" altLang="en-US" dirty="0" smtClean="0"/>
              <a:t>探</a:t>
            </a:r>
            <a:r>
              <a:rPr lang="zh-CN" altLang="en-US" dirty="0"/>
              <a:t>索创新的方式来满足已有的需求，或即将出现的需求。 </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smtClean="0"/>
              <a:t>(3)</a:t>
            </a:r>
            <a:endParaRPr lang="en-US" dirty="0"/>
          </a:p>
        </p:txBody>
      </p:sp>
      <p:sp>
        <p:nvSpPr>
          <p:cNvPr id="3" name="Content Placeholder 2"/>
          <p:cNvSpPr>
            <a:spLocks noGrp="1"/>
          </p:cNvSpPr>
          <p:nvPr>
            <p:ph idx="1"/>
          </p:nvPr>
        </p:nvSpPr>
        <p:spPr/>
        <p:txBody>
          <a:bodyPr>
            <a:normAutofit fontScale="62500" lnSpcReduction="20000"/>
          </a:bodyPr>
          <a:lstStyle/>
          <a:p>
            <a:pPr>
              <a:lnSpc>
                <a:spcPct val="120000"/>
              </a:lnSpc>
            </a:pPr>
            <a:r>
              <a:rPr lang="zh-CN" altLang="en-US" dirty="0"/>
              <a:t>从用户方面扩展：绝大部分大作业都是单机运行，给一个用户（老师）看一次，看完就万事大吉。我们可以考虑下面的扩展方式： </a:t>
            </a:r>
            <a:endParaRPr lang="zh-CN" altLang="en-US" dirty="0"/>
          </a:p>
          <a:p>
            <a:pPr lvl="1">
              <a:lnSpc>
                <a:spcPct val="120000"/>
              </a:lnSpc>
            </a:pPr>
            <a:r>
              <a:rPr lang="zh-CN" altLang="en-US" dirty="0" smtClean="0"/>
              <a:t>单</a:t>
            </a:r>
            <a:r>
              <a:rPr lang="zh-CN" altLang="en-US" dirty="0"/>
              <a:t>用户第二次使用这个软件的时候，能有什么功能，让单用户更喜欢这个软件？（例 如：记住上次的状态，自动展现上次文档最后编辑的地方，等等。） </a:t>
            </a:r>
            <a:endParaRPr lang="zh-CN" altLang="en-US" dirty="0"/>
          </a:p>
          <a:p>
            <a:pPr lvl="1">
              <a:lnSpc>
                <a:spcPct val="120000"/>
              </a:lnSpc>
            </a:pPr>
            <a:r>
              <a:rPr lang="zh-CN" altLang="en-US" dirty="0" smtClean="0"/>
              <a:t>如</a:t>
            </a:r>
            <a:r>
              <a:rPr lang="zh-CN" altLang="en-US" dirty="0"/>
              <a:t>果多用户使用这个系统，会出现什么问题，例如，学生的图书馆信息系统考虑到有 </a:t>
            </a:r>
            <a:r>
              <a:rPr lang="en-US" altLang="zh-CN" dirty="0"/>
              <a:t>100 </a:t>
            </a:r>
            <a:r>
              <a:rPr lang="zh-CN" altLang="en-US" dirty="0"/>
              <a:t>人同时查询的情况么？如何模拟这样的测试？我们在课堂上让几十个学生玩的“黄金点”游戏，如果是全世界的用户都可以编程序玩这个游戏，会出现什么</a:t>
            </a:r>
            <a:r>
              <a:rPr lang="en-US" altLang="zh-CN" dirty="0"/>
              <a:t>9 </a:t>
            </a:r>
            <a:r>
              <a:rPr lang="zh-CN" altLang="en-US" dirty="0"/>
              <a:t>？如何设计游戏的服务？ </a:t>
            </a:r>
            <a:endParaRPr lang="zh-CN" altLang="en-US" dirty="0"/>
          </a:p>
          <a:p>
            <a:pPr lvl="1">
              <a:lnSpc>
                <a:spcPct val="120000"/>
              </a:lnSpc>
            </a:pPr>
            <a:r>
              <a:rPr lang="zh-CN" altLang="en-US" dirty="0" smtClean="0"/>
              <a:t>用</a:t>
            </a:r>
            <a:r>
              <a:rPr lang="zh-CN" altLang="en-US" dirty="0"/>
              <a:t>户从世界各地来，怎么办？你的“程序”能提供多种语言的界面么？ </a:t>
            </a:r>
            <a:endParaRPr lang="zh-CN" altLang="en-US" dirty="0"/>
          </a:p>
          <a:p>
            <a:pPr lvl="1">
              <a:lnSpc>
                <a:spcPct val="120000"/>
              </a:lnSpc>
            </a:pPr>
            <a:r>
              <a:rPr lang="zh-CN" altLang="en-US" dirty="0" smtClean="0"/>
              <a:t>用</a:t>
            </a:r>
            <a:r>
              <a:rPr lang="zh-CN" altLang="en-US" dirty="0"/>
              <a:t>户有善意的和恶意的，如何让你的程序更安全？如何测试安全性？ </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b="0" dirty="0"/>
              <a:t>如何引入“变化的轴线” </a:t>
            </a:r>
            <a:r>
              <a:rPr lang="en-US" altLang="zh-CN" b="0" dirty="0" smtClean="0"/>
              <a:t>(4)</a:t>
            </a:r>
            <a:endParaRPr lang="en-US" dirty="0"/>
          </a:p>
        </p:txBody>
      </p:sp>
      <p:sp>
        <p:nvSpPr>
          <p:cNvPr id="3" name="Content Placeholder 2"/>
          <p:cNvSpPr>
            <a:spLocks noGrp="1"/>
          </p:cNvSpPr>
          <p:nvPr>
            <p:ph idx="1"/>
          </p:nvPr>
        </p:nvSpPr>
        <p:spPr/>
        <p:txBody>
          <a:bodyPr/>
          <a:lstStyle/>
          <a:p>
            <a:r>
              <a:rPr lang="zh-CN" altLang="en-US" dirty="0"/>
              <a:t>从软件构建方面扩展： </a:t>
            </a:r>
            <a:endParaRPr lang="zh-CN" altLang="en-US" dirty="0"/>
          </a:p>
          <a:p>
            <a:pPr lvl="1"/>
            <a:r>
              <a:rPr lang="zh-CN" altLang="en-US" dirty="0" smtClean="0"/>
              <a:t>如</a:t>
            </a:r>
            <a:r>
              <a:rPr lang="zh-CN" altLang="en-US" dirty="0"/>
              <a:t>果是把一个已有的软件从一个平台迁移到另一个平台，怎么办？ </a:t>
            </a:r>
            <a:endParaRPr lang="zh-CN" altLang="en-US" dirty="0"/>
          </a:p>
          <a:p>
            <a:pPr lvl="1"/>
            <a:r>
              <a:rPr lang="zh-CN" altLang="en-US" dirty="0" smtClean="0"/>
              <a:t>大</a:t>
            </a:r>
            <a:r>
              <a:rPr lang="zh-CN" altLang="en-US" dirty="0"/>
              <a:t>多数的“程序”都是用单一的语言写的，如果软件有多个语言写成的不同模块，如 何定义彼此的接口（</a:t>
            </a:r>
            <a:r>
              <a:rPr lang="en-US" altLang="zh-CN" dirty="0"/>
              <a:t>API</a:t>
            </a:r>
            <a:r>
              <a:rPr lang="zh-CN" altLang="en-US" dirty="0"/>
              <a:t>） ？ </a:t>
            </a:r>
            <a:endParaRPr lang="zh-CN" altLang="en-US" dirty="0"/>
          </a:p>
          <a:p>
            <a:pPr lvl="1"/>
            <a:r>
              <a:rPr lang="zh-CN" altLang="en-US" dirty="0" smtClean="0"/>
              <a:t>如</a:t>
            </a:r>
            <a:r>
              <a:rPr lang="zh-CN" altLang="en-US" dirty="0"/>
              <a:t>果软件已经在服务中（例如图书馆信息系统），如何升级部分模块，同时尽量减少 系统下线的时间？ </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smtClean="0"/>
              <a:t>高级工程师 和 初级爱好</a:t>
            </a:r>
            <a:r>
              <a:rPr lang="zh-CN" altLang="en-US" dirty="0" smtClean="0"/>
              <a:t>者</a:t>
            </a:r>
            <a:r>
              <a:rPr lang="zh-CN" altLang="en-US" dirty="0" smtClean="0"/>
              <a:t>的区别</a:t>
            </a:r>
            <a:endParaRPr lang="en-US" dirty="0"/>
          </a:p>
        </p:txBody>
      </p:sp>
      <p:sp>
        <p:nvSpPr>
          <p:cNvPr id="3" name="内容占位符 2"/>
          <p:cNvSpPr>
            <a:spLocks noGrp="1"/>
          </p:cNvSpPr>
          <p:nvPr>
            <p:ph idx="1"/>
          </p:nvPr>
        </p:nvSpPr>
        <p:spPr/>
        <p:txBody>
          <a:bodyPr>
            <a:normAutofit/>
          </a:bodyPr>
          <a:lstStyle/>
          <a:p>
            <a:r>
              <a:rPr lang="zh-CN" altLang="en-US" dirty="0" smtClean="0"/>
              <a:t>能够计划，并按时交付</a:t>
            </a:r>
            <a:endParaRPr lang="en-US" altLang="zh-CN" dirty="0" smtClean="0"/>
          </a:p>
          <a:p>
            <a:r>
              <a:rPr lang="zh-CN" altLang="en-US" dirty="0" smtClean="0"/>
              <a:t>能够通过单元测试等实践来保证质量</a:t>
            </a:r>
            <a:endParaRPr lang="en-US" altLang="zh-CN" dirty="0" smtClean="0"/>
          </a:p>
          <a:p>
            <a:r>
              <a:rPr lang="zh-CN" altLang="en-US" dirty="0" smtClean="0"/>
              <a:t>能够使用工具，做程序的效能分析</a:t>
            </a:r>
            <a:endParaRPr lang="en-US" altLang="zh-CN" dirty="0" smtClean="0"/>
          </a:p>
          <a:p>
            <a:r>
              <a:rPr lang="zh-CN" altLang="en-US" dirty="0" smtClean="0"/>
              <a:t>能“精通”一些领域，在此基础上发挥效率并创新。</a:t>
            </a:r>
            <a:endParaRPr lang="en-US" altLang="zh-CN" dirty="0" smtClean="0"/>
          </a:p>
          <a:p>
            <a:r>
              <a:rPr lang="zh-CN" altLang="en-US" dirty="0"/>
              <a:t>结合中国软件行业的特点，我们可以归纳出在中国</a:t>
            </a:r>
            <a:r>
              <a:rPr lang="en-US" altLang="zh-CN" dirty="0"/>
              <a:t>IT </a:t>
            </a:r>
            <a:r>
              <a:rPr lang="zh-CN" altLang="en-US" dirty="0"/>
              <a:t>行业“好工程师”的要素，并做成一个自我评价清单（</a:t>
            </a:r>
            <a:r>
              <a:rPr lang="en-US" altLang="zh-CN" dirty="0" smtClean="0"/>
              <a:t>Check-list</a:t>
            </a:r>
            <a:r>
              <a:rPr lang="zh-CN" altLang="en-US" dirty="0" smtClean="0"/>
              <a:t>）</a:t>
            </a:r>
            <a:endParaRPr lang="en-US" altLang="zh-CN" dirty="0" smtClean="0"/>
          </a:p>
          <a:p>
            <a:pPr marL="118745" indent="0">
              <a:buNone/>
            </a:pPr>
            <a:r>
              <a:rPr lang="en-US" altLang="zh-CN" dirty="0">
                <a:hlinkClick r:id="rId1"/>
              </a:rPr>
              <a:t>http://</a:t>
            </a:r>
            <a:r>
              <a:rPr lang="en-US" altLang="zh-CN" dirty="0" smtClean="0">
                <a:hlinkClick r:id="rId1"/>
              </a:rPr>
              <a:t>www.cnblogs.com/xinz/p/3852177.html</a:t>
            </a:r>
            <a:r>
              <a:rPr lang="en-US" altLang="zh-CN" dirty="0" smtClean="0"/>
              <a:t>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smtClean="0"/>
              <a:t>Homework</a:t>
            </a:r>
            <a:endParaRPr lang="en-US" dirty="0"/>
          </a:p>
        </p:txBody>
      </p:sp>
      <p:sp>
        <p:nvSpPr>
          <p:cNvPr id="3" name="Content Placeholder 2"/>
          <p:cNvSpPr>
            <a:spLocks noGrp="1"/>
          </p:cNvSpPr>
          <p:nvPr>
            <p:ph idx="1"/>
          </p:nvPr>
        </p:nvSpPr>
        <p:spPr/>
        <p:txBody>
          <a:bodyPr>
            <a:normAutofit fontScale="70000" lnSpcReduction="20000"/>
          </a:bodyPr>
          <a:lstStyle/>
          <a:p>
            <a:r>
              <a:rPr lang="en-US" altLang="zh-CN">
                <a:hlinkClick r:id="rId1"/>
              </a:rPr>
              <a:t>http://</a:t>
            </a:r>
            <a:r>
              <a:rPr lang="en-US" altLang="zh-CN" smtClean="0">
                <a:hlinkClick r:id="rId1"/>
              </a:rPr>
              <a:t>www.cnblogs.com/xinz/p/3803109.html</a:t>
            </a:r>
            <a:endParaRPr lang="en-US" altLang="zh-CN" smtClean="0"/>
          </a:p>
          <a:p>
            <a:endParaRPr lang="en-US" altLang="zh-CN" smtClean="0"/>
          </a:p>
          <a:p>
            <a:r>
              <a:rPr lang="en-US" altLang="zh-CN" dirty="0" smtClean="0"/>
              <a:t>how do you measure the performance of each team member?</a:t>
            </a:r>
            <a:endParaRPr lang="en-US" altLang="zh-CN" dirty="0" smtClean="0"/>
          </a:p>
          <a:p>
            <a:pPr lvl="1"/>
            <a:r>
              <a:rPr lang="zh-CN" altLang="en-US" sz="2200" dirty="0" smtClean="0"/>
              <a:t>一群人把一堆砖头从</a:t>
            </a:r>
            <a:r>
              <a:rPr lang="en-US" altLang="zh-CN" sz="2200" dirty="0" smtClean="0"/>
              <a:t>A</a:t>
            </a:r>
            <a:r>
              <a:rPr lang="zh-CN" altLang="en-US" sz="2200" dirty="0" smtClean="0"/>
              <a:t>地搬到</a:t>
            </a:r>
            <a:r>
              <a:rPr lang="en-US" altLang="zh-CN" sz="2200" dirty="0" smtClean="0"/>
              <a:t>B</a:t>
            </a:r>
            <a:r>
              <a:rPr lang="zh-CN" altLang="en-US" sz="2200" dirty="0" smtClean="0"/>
              <a:t>地</a:t>
            </a:r>
            <a:endParaRPr lang="en-US" altLang="zh-CN" sz="2200" dirty="0" smtClean="0"/>
          </a:p>
          <a:p>
            <a:pPr lvl="1"/>
            <a:r>
              <a:rPr lang="zh-CN" altLang="en-US" sz="2200" dirty="0" smtClean="0"/>
              <a:t>一个剧组排演话剧</a:t>
            </a:r>
            <a:endParaRPr lang="en-US" altLang="zh-CN" sz="2200" dirty="0" smtClean="0"/>
          </a:p>
          <a:p>
            <a:pPr lvl="1"/>
            <a:r>
              <a:rPr lang="zh-CN" altLang="en-US" sz="2200" dirty="0"/>
              <a:t>爵</a:t>
            </a:r>
            <a:r>
              <a:rPr lang="zh-CN" altLang="en-US" sz="2200" dirty="0" smtClean="0"/>
              <a:t>士乐小组的演奏 </a:t>
            </a:r>
            <a:r>
              <a:rPr lang="en-US" altLang="zh-CN" sz="2200" dirty="0" smtClean="0"/>
              <a:t>/ </a:t>
            </a:r>
            <a:r>
              <a:rPr lang="zh-CN" altLang="en-US" sz="2200" dirty="0" smtClean="0"/>
              <a:t>交响乐团成员的演奏</a:t>
            </a:r>
            <a:endParaRPr lang="en-US" altLang="zh-CN" sz="2200" dirty="0" smtClean="0"/>
          </a:p>
          <a:p>
            <a:pPr lvl="2"/>
            <a:r>
              <a:rPr lang="zh-CN" altLang="en-US" dirty="0" smtClean="0"/>
              <a:t>推荐 </a:t>
            </a:r>
            <a:r>
              <a:rPr lang="en-US" altLang="zh-CN" dirty="0" smtClean="0"/>
              <a:t>Miles Davis </a:t>
            </a:r>
            <a:r>
              <a:rPr lang="zh-CN" altLang="en-US" dirty="0" smtClean="0"/>
              <a:t>爵士乐队的演奏</a:t>
            </a:r>
            <a:endParaRPr lang="en-US" altLang="zh-CN" dirty="0" smtClean="0"/>
          </a:p>
          <a:p>
            <a:pPr lvl="1"/>
            <a:r>
              <a:rPr lang="zh-CN" altLang="en-US" sz="2200" dirty="0" smtClean="0"/>
              <a:t>一群队员在职业球队踢球</a:t>
            </a:r>
            <a:endParaRPr lang="en-US" altLang="zh-CN" sz="2200" dirty="0" smtClean="0"/>
          </a:p>
          <a:p>
            <a:pPr lvl="1"/>
            <a:r>
              <a:rPr lang="zh-CN" altLang="en-US" sz="2200" dirty="0" smtClean="0"/>
              <a:t>医生</a:t>
            </a:r>
            <a:r>
              <a:rPr lang="en-US" altLang="zh-CN" sz="2200" dirty="0" smtClean="0"/>
              <a:t>, </a:t>
            </a:r>
            <a:r>
              <a:rPr lang="zh-CN" altLang="en-US" sz="2200" dirty="0" smtClean="0"/>
              <a:t>护士</a:t>
            </a:r>
            <a:r>
              <a:rPr lang="en-US" altLang="zh-CN" sz="2200" dirty="0" smtClean="0"/>
              <a:t>, </a:t>
            </a:r>
            <a:r>
              <a:rPr lang="zh-CN" altLang="en-US" sz="2200" dirty="0" smtClean="0"/>
              <a:t>麻醉师做手术</a:t>
            </a:r>
            <a:endParaRPr lang="en-US" altLang="zh-CN" sz="2200" dirty="0" smtClean="0"/>
          </a:p>
          <a:p>
            <a:pPr lvl="1"/>
            <a:r>
              <a:rPr lang="zh-CN" altLang="en-US" sz="2200" dirty="0"/>
              <a:t>一群画家</a:t>
            </a:r>
            <a:r>
              <a:rPr lang="zh-CN" altLang="en-US" sz="2200" dirty="0" smtClean="0"/>
              <a:t>合作“万里长城</a:t>
            </a:r>
            <a:r>
              <a:rPr lang="en-US" altLang="zh-CN" sz="2200" dirty="0" smtClean="0"/>
              <a:t>” </a:t>
            </a:r>
            <a:r>
              <a:rPr lang="zh-CN" altLang="en-US" sz="2200" dirty="0" smtClean="0"/>
              <a:t>画卷</a:t>
            </a:r>
            <a:endParaRPr lang="en-US" altLang="zh-CN" sz="2200" dirty="0" smtClean="0"/>
          </a:p>
          <a:p>
            <a:pPr lvl="1"/>
            <a:r>
              <a:rPr lang="zh-CN" altLang="en-US" sz="2200" dirty="0" smtClean="0"/>
              <a:t>计算机系的一群老师教课</a:t>
            </a:r>
            <a:endParaRPr lang="en-US" altLang="zh-CN" sz="2200" dirty="0" smtClean="0"/>
          </a:p>
          <a:p>
            <a:pPr lvl="1"/>
            <a:r>
              <a:rPr lang="zh-CN" altLang="en-US" sz="2200" b="1" dirty="0" smtClean="0"/>
              <a:t>一群学生做软工项目 </a:t>
            </a:r>
            <a:r>
              <a:rPr lang="en-US" altLang="zh-CN" sz="2200" b="1" dirty="0" smtClean="0"/>
              <a:t>(</a:t>
            </a:r>
            <a:r>
              <a:rPr lang="en-US" altLang="zh-CN" sz="2000" b="1" dirty="0" smtClean="0"/>
              <a:t>PM, Dev, Test</a:t>
            </a:r>
            <a:r>
              <a:rPr lang="en-US" altLang="zh-CN" sz="2200" b="1" dirty="0" smtClean="0"/>
              <a:t>)</a:t>
            </a:r>
            <a:r>
              <a:rPr lang="zh-CN" altLang="en-US" sz="2200" b="1" dirty="0" smtClean="0"/>
              <a:t> </a:t>
            </a:r>
            <a:r>
              <a:rPr lang="en-US" altLang="zh-CN" sz="2200" b="1" dirty="0" smtClean="0"/>
              <a:t>(this is your focus)</a:t>
            </a:r>
            <a:endParaRPr lang="en-US" altLang="zh-CN" sz="2200" b="1" dirty="0" smtClean="0"/>
          </a:p>
          <a:p>
            <a:pPr>
              <a:buNone/>
            </a:pPr>
            <a:endParaRPr lang="en-US" altLang="zh-CN" sz="2400" dirty="0" smtClean="0"/>
          </a:p>
          <a:p>
            <a:pPr>
              <a:buNone/>
            </a:pPr>
            <a:r>
              <a:rPr lang="zh-CN" altLang="en-US" sz="2400" dirty="0" smtClean="0"/>
              <a:t>如何衡量个人在各自团队的效率和绩效？</a:t>
            </a:r>
            <a:endParaRPr lang="en-US" altLang="zh-CN" sz="2400" dirty="0" smtClean="0"/>
          </a:p>
          <a:p>
            <a:pPr>
              <a:buNone/>
            </a:pPr>
            <a:r>
              <a:rPr lang="zh-CN" altLang="en-US" sz="2400" dirty="0" smtClean="0"/>
              <a:t>团队有 </a:t>
            </a:r>
            <a:r>
              <a:rPr lang="en-US" altLang="zh-CN" sz="2400" dirty="0" smtClean="0"/>
              <a:t>(n </a:t>
            </a:r>
            <a:r>
              <a:rPr lang="zh-CN" altLang="en-US" sz="2400" dirty="0" smtClean="0"/>
              <a:t>* </a:t>
            </a:r>
            <a:r>
              <a:rPr lang="en-US" altLang="zh-CN" sz="2400" dirty="0" smtClean="0"/>
              <a:t>30) </a:t>
            </a:r>
            <a:r>
              <a:rPr lang="zh-CN" altLang="en-US" sz="2400" dirty="0" smtClean="0"/>
              <a:t>分浮动分数，如何分配</a:t>
            </a:r>
            <a:r>
              <a:rPr lang="en-US" altLang="zh-CN" sz="2400" dirty="0" smtClean="0"/>
              <a:t>?</a:t>
            </a:r>
            <a:endParaRPr lang="en-US" altLang="zh-CN" sz="2400" dirty="0" smtClean="0"/>
          </a:p>
          <a:p>
            <a:pPr>
              <a:buNone/>
            </a:pPr>
            <a:r>
              <a:rPr lang="en-US" altLang="zh-CN" sz="2400" dirty="0" smtClean="0"/>
              <a:t>Write a blog </a:t>
            </a:r>
            <a:r>
              <a:rPr lang="en-US" altLang="zh-CN" sz="2400" dirty="0" smtClean="0">
                <a:sym typeface="Wingdings" panose="05000000000000000000" pitchFamily="2" charset="2"/>
              </a:rPr>
              <a:t></a:t>
            </a:r>
            <a:endParaRPr lang="en-US" sz="2000" dirty="0" smtClean="0"/>
          </a:p>
        </p:txBody>
      </p:sp>
    </p:spTree>
  </p:cSld>
  <p:clrMapOvr>
    <a:masterClrMapping/>
  </p:clrMapOvr>
  <p:transition>
    <p:wipe di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 and Answer</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Homework </a:t>
            </a:r>
            <a:endParaRPr lang="en-US" dirty="0"/>
          </a:p>
        </p:txBody>
      </p:sp>
      <p:sp>
        <p:nvSpPr>
          <p:cNvPr id="3" name="Content Placeholder 2"/>
          <p:cNvSpPr>
            <a:spLocks noGrp="1"/>
          </p:cNvSpPr>
          <p:nvPr>
            <p:ph idx="1"/>
          </p:nvPr>
        </p:nvSpPr>
        <p:spPr/>
        <p:txBody>
          <a:bodyPr>
            <a:normAutofit/>
          </a:bodyPr>
          <a:lstStyle/>
          <a:p>
            <a:pPr marL="0" indent="0">
              <a:buNone/>
            </a:pPr>
            <a:r>
              <a:rPr lang="zh-CN" altLang="en-US" dirty="0" smtClean="0"/>
              <a:t>做医生的有希</a:t>
            </a:r>
            <a:r>
              <a:rPr lang="zh-CN" altLang="en-US" dirty="0"/>
              <a:t>波克拉</a:t>
            </a:r>
            <a:r>
              <a:rPr lang="zh-CN" altLang="en-US" dirty="0" smtClean="0"/>
              <a:t>底誓言</a:t>
            </a:r>
            <a:r>
              <a:rPr lang="en-US" altLang="zh-CN" dirty="0" smtClean="0"/>
              <a:t>, </a:t>
            </a:r>
            <a:r>
              <a:rPr lang="zh-CN" altLang="en-US" dirty="0" smtClean="0"/>
              <a:t>做程序员的应该有类似的誓言</a:t>
            </a:r>
            <a:r>
              <a:rPr lang="en-US" altLang="zh-CN" dirty="0" smtClean="0"/>
              <a:t>: </a:t>
            </a:r>
            <a:endParaRPr lang="en-US" altLang="zh-CN" dirty="0" smtClean="0"/>
          </a:p>
          <a:p>
            <a:pPr marL="0" indent="0">
              <a:buNone/>
            </a:pPr>
            <a:endParaRPr lang="en-US" altLang="zh-CN" dirty="0"/>
          </a:p>
          <a:p>
            <a:pPr marL="0" indent="0">
              <a:buNone/>
            </a:pPr>
            <a:r>
              <a:rPr lang="zh-CN" altLang="en-US" dirty="0" smtClean="0"/>
              <a:t>从道德标准中任选一条</a:t>
            </a:r>
            <a:r>
              <a:rPr lang="zh-CN" altLang="en-US" dirty="0"/>
              <a:t>或者</a:t>
            </a:r>
            <a:r>
              <a:rPr lang="zh-CN" altLang="en-US" dirty="0" smtClean="0"/>
              <a:t>几条</a:t>
            </a:r>
            <a:r>
              <a:rPr lang="en-US" altLang="zh-CN" dirty="0" smtClean="0"/>
              <a:t>, </a:t>
            </a:r>
            <a:r>
              <a:rPr lang="zh-CN" altLang="en-US" dirty="0" smtClean="0"/>
              <a:t>举一个实际的例子说明软件公司</a:t>
            </a:r>
            <a:r>
              <a:rPr lang="en-US" altLang="zh-CN" dirty="0" smtClean="0"/>
              <a:t>/</a:t>
            </a:r>
            <a:r>
              <a:rPr lang="zh-CN" altLang="en-US" dirty="0" smtClean="0"/>
              <a:t>个人遵守或违反此标准的例子。 </a:t>
            </a:r>
            <a:r>
              <a:rPr lang="en-US" altLang="zh-CN" dirty="0" smtClean="0"/>
              <a:t> </a:t>
            </a:r>
            <a:r>
              <a:rPr lang="zh-CN" altLang="en-US" dirty="0" smtClean="0"/>
              <a:t> </a:t>
            </a:r>
            <a:endParaRPr lang="en-US" altLang="zh-CN" dirty="0" smtClean="0"/>
          </a:p>
          <a:p>
            <a:pPr marL="0" indent="0">
              <a:buNone/>
            </a:pPr>
            <a:endParaRPr lang="en-US" altLang="zh-CN" dirty="0"/>
          </a:p>
          <a:p>
            <a:pPr marL="0" indent="0">
              <a:buNone/>
            </a:pPr>
            <a:r>
              <a:rPr lang="zh-CN" altLang="en-US" dirty="0"/>
              <a:t>写在小组博客</a:t>
            </a:r>
            <a:r>
              <a:rPr lang="zh-CN" altLang="en-US" dirty="0" smtClean="0"/>
              <a:t>上。</a:t>
            </a:r>
            <a:endParaRPr lang="en-US" altLang="zh-CN" dirty="0" smtClean="0"/>
          </a:p>
          <a:p>
            <a:pPr marL="0" indent="0">
              <a:buNone/>
            </a:pPr>
            <a:endParaRPr lang="en-US" altLang="zh-CN" dirty="0" smtClean="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371182FA640024E8A2815D490E1EF25" ma:contentTypeVersion="0" ma:contentTypeDescription="Create a new document." ma:contentTypeScope="" ma:versionID="3591aab47f172a2900f307f59d422227">
  <xsd:schema xmlns:xsd="http://www.w3.org/2001/XMLSchema" xmlns:xs="http://www.w3.org/2001/XMLSchema" xmlns:p="http://schemas.microsoft.com/office/2006/metadata/properties" targetNamespace="http://schemas.microsoft.com/office/2006/metadata/properties" ma:root="true" ma:fieldsID="1f28ea01430cdfb20a10736313f817e3">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8B0E8-F7C4-4929-B0A1-8ECCA4ABBF95}">
  <ds:schemaRefs/>
</ds:datastoreItem>
</file>

<file path=customXml/itemProps2.xml><?xml version="1.0" encoding="utf-8"?>
<ds:datastoreItem xmlns:ds="http://schemas.openxmlformats.org/officeDocument/2006/customXml" ds:itemID="{AC38B70B-68EE-413F-8243-C962F94ACA64}">
  <ds:schemaRefs/>
</ds:datastoreItem>
</file>

<file path=customXml/itemProps3.xml><?xml version="1.0" encoding="utf-8"?>
<ds:datastoreItem xmlns:ds="http://schemas.openxmlformats.org/officeDocument/2006/customXml" ds:itemID="{B3B0C391-DDE3-4D99-8DB2-DCB9F2C70771}">
  <ds:schemaRefs/>
</ds:datastoreItem>
</file>

<file path=docProps/app.xml><?xml version="1.0" encoding="utf-8"?>
<Properties xmlns="http://schemas.openxmlformats.org/officeDocument/2006/extended-properties" xmlns:vt="http://schemas.openxmlformats.org/officeDocument/2006/docPropsVTypes">
  <TotalTime>0</TotalTime>
  <Words>10313</Words>
  <Application>WPS 演示</Application>
  <PresentationFormat>On-screen Show (4:3)</PresentationFormat>
  <Paragraphs>520</Paragraphs>
  <Slides>43</Slides>
  <Notes>11</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43</vt:i4>
      </vt:variant>
    </vt:vector>
  </HeadingPairs>
  <TitlesOfParts>
    <vt:vector size="58" baseType="lpstr">
      <vt:lpstr>Arial</vt:lpstr>
      <vt:lpstr>宋体</vt:lpstr>
      <vt:lpstr>Wingdings</vt:lpstr>
      <vt:lpstr>Wingdings 2</vt:lpstr>
      <vt:lpstr>Wingdings</vt:lpstr>
      <vt:lpstr>Arial</vt:lpstr>
      <vt:lpstr>Wingdings 3</vt:lpstr>
      <vt:lpstr>Wingdings 2</vt:lpstr>
      <vt:lpstr>Corbel</vt:lpstr>
      <vt:lpstr>华文楷体</vt:lpstr>
      <vt:lpstr>微软雅黑</vt:lpstr>
      <vt:lpstr>Arial Unicode MS</vt:lpstr>
      <vt:lpstr>Calibri</vt:lpstr>
      <vt:lpstr>Wingdings 3</vt:lpstr>
      <vt:lpstr>Module</vt:lpstr>
      <vt:lpstr>个人技术和流程</vt:lpstr>
      <vt:lpstr>Agenda</vt:lpstr>
      <vt:lpstr>What Consists of SE?</vt:lpstr>
      <vt:lpstr>Use Soccer as Example </vt:lpstr>
      <vt:lpstr>Role of “individual”</vt:lpstr>
      <vt:lpstr>How Are You Doing?</vt:lpstr>
      <vt:lpstr>How to “learn” knowledge</vt:lpstr>
      <vt:lpstr>How to Grow Skills – PSP0</vt:lpstr>
      <vt:lpstr>How to Grow Skills – PSP0.1</vt:lpstr>
      <vt:lpstr>PSP1</vt:lpstr>
      <vt:lpstr>PSP2</vt:lpstr>
      <vt:lpstr>PSP Evolution</vt:lpstr>
      <vt:lpstr>PSP Evolution (cont.)</vt:lpstr>
      <vt:lpstr>DATA</vt:lpstr>
      <vt:lpstr>Core Measures:</vt:lpstr>
      <vt:lpstr>Measures</vt:lpstr>
      <vt:lpstr>PSP ISSUES</vt:lpstr>
      <vt:lpstr>PSP data (大三学生 vs. 工作三年的工程师）</vt:lpstr>
      <vt:lpstr>续表</vt:lpstr>
      <vt:lpstr>大三 vs. 研究生毕业+工作三年</vt:lpstr>
      <vt:lpstr>PSP ISSUES (cont.)</vt:lpstr>
      <vt:lpstr>PSP ISSUES (cont.)</vt:lpstr>
      <vt:lpstr>Art vs. Follow the rules</vt:lpstr>
      <vt:lpstr>What is SE</vt:lpstr>
      <vt:lpstr>The Pragmatic Approach</vt:lpstr>
      <vt:lpstr>TPP - Planning</vt:lpstr>
      <vt:lpstr>Standard Deviation</vt:lpstr>
      <vt:lpstr>What is a skill?</vt:lpstr>
      <vt:lpstr>不同层次的问题</vt:lpstr>
      <vt:lpstr>“精通”魔方</vt:lpstr>
      <vt:lpstr>课堂演示</vt:lpstr>
      <vt:lpstr>编程作业 vs. 软件工程作业</vt:lpstr>
      <vt:lpstr>软件的复杂性、易变性</vt:lpstr>
      <vt:lpstr>两个原则</vt:lpstr>
      <vt:lpstr>何时需要应用这些原则？</vt:lpstr>
      <vt:lpstr>如何引入“变化的轴线” (1)</vt:lpstr>
      <vt:lpstr>如何引入“变化的轴线” (2)</vt:lpstr>
      <vt:lpstr>如何引入“变化的轴线” (3)</vt:lpstr>
      <vt:lpstr>如何引入“变化的轴线” (4)</vt:lpstr>
      <vt:lpstr>高级工程师 和 初级爱好者的区别</vt:lpstr>
      <vt:lpstr>Homework</vt:lpstr>
      <vt:lpstr>Questions and Answer</vt:lpstr>
      <vt:lpstr>Homework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XP, and TDD</dc:title>
  <dc:creator>xin zou</dc:creator>
  <cp:lastModifiedBy>李莎</cp:lastModifiedBy>
  <cp:revision>135</cp:revision>
  <dcterms:created xsi:type="dcterms:W3CDTF">2007-10-15T02:17:00Z</dcterms:created>
  <dcterms:modified xsi:type="dcterms:W3CDTF">2026-05-13T07:29:02Z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0x0101006371182FA640024E8A2815D490E1EF25</vt:lpwstr>
  </property>
  <property fmtid="{D5CDD505-2E9C-101B-9397-08002B2CF9AE}" pid="3" name="IsMyDocuments">
    <vt:bool>true</vt:bool>
  </property>
  <property fmtid="{D5CDD505-2E9C-101B-9397-08002B2CF9AE}" pid="4" name="ICV">
    <vt:lpwstr>B67FA70ED07544598BFF4AA59EE66EC9_12</vt:lpwstr>
  </property>
  <property fmtid="{D5CDD505-2E9C-101B-9397-08002B2CF9AE}" pid="5" name="KSOProductBuildVer">
    <vt:lpwstr>2052-12.1.0.25225</vt:lpwstr>
  </property>
</Properties>
</file>